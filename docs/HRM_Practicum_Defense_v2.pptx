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7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4" autoAdjust="0"/>
    <p:restoredTop sz="94660"/>
  </p:normalViewPr>
  <p:slideViewPr>
    <p:cSldViewPr snapToGrid="0" snapToObjects="1">
      <p:cViewPr varScale="1">
        <p:scale>
          <a:sx n="13" d="100"/>
          <a:sy n="13" d="100"/>
        </p:scale>
        <p:origin x="696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jbogard/MediatR" TargetMode="External"/><Relationship Id="rId5" Type="http://schemas.openxmlformats.org/officeDocument/2006/relationships/hyperlink" Target="https://learn.microsoft.com/dotnet/ai/microsoft-extensions-ai" TargetMode="External"/><Relationship Id="rId4" Type="http://schemas.openxmlformats.org/officeDocument/2006/relationships/hyperlink" Target="https://learn.microsoft.com/aspnet/core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52400"/>
            <a:ext cx="609600" cy="533400"/>
          </a:xfrm>
          <a:prstGeom prst="rect">
            <a:avLst/>
          </a:prstGeom>
        </p:spPr>
      </p:pic>
      <p:pic>
        <p:nvPicPr>
          <p:cNvPr id="3" name="Picture 2" descr="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14300"/>
            <a:ext cx="7772400" cy="596900"/>
          </a:xfrm>
          <a:prstGeom prst="rect">
            <a:avLst/>
          </a:prstGeom>
        </p:spPr>
      </p:pic>
      <p:pic>
        <p:nvPicPr>
          <p:cNvPr id="4" name="Picture 3" descr="badge3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0" y="228600"/>
            <a:ext cx="609600" cy="393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660400"/>
            <a:ext cx="508000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>
                <a:solidFill>
                  <a:srgbClr val="000000"/>
                </a:solidFill>
                <a:latin typeface="Arial"/>
              </a:rPr>
              <a:t>1991-2026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774700"/>
            <a:ext cx="6604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1">
                <a:solidFill>
                  <a:srgbClr val="008000"/>
                </a:solidFill>
                <a:latin typeface="Arial"/>
              </a:rPr>
              <a:t>Founded 1991 by Md. Alimullah Miyan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1684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Times New Roman"/>
              </a:rPr>
              <a:t>Human Resource Management (HRM)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22606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sng">
                <a:solidFill>
                  <a:srgbClr val="000000"/>
                </a:solidFill>
                <a:latin typeface="Times New Roman"/>
              </a:rPr>
              <a:t>Course Code: Practicum CSC 490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2819400"/>
            <a:ext cx="66040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000000"/>
                </a:solidFill>
                <a:latin typeface="Times New Roman"/>
              </a:rPr>
              <a:t>Prepared for: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70000" y="33528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Practicum Defense Committee</a:t>
            </a:r>
          </a:p>
        </p:txBody>
      </p:sp>
      <p:pic>
        <p:nvPicPr>
          <p:cNvPr id="11" name="Picture 10" descr="cs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4300" y="3733800"/>
            <a:ext cx="457200" cy="4699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66900" y="3810000"/>
            <a:ext cx="558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Times New Roman"/>
              </a:rPr>
              <a:t>Department of Computer Science and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7752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sng">
                <a:solidFill>
                  <a:srgbClr val="000000"/>
                </a:solidFill>
                <a:latin typeface="Times New Roman"/>
              </a:rPr>
              <a:t>Supervised by: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1300" y="51308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Rubayea Ferdows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1300" y="54737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Assistant Professor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588000" y="4775200"/>
            <a:ext cx="2286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 u="sng">
                <a:solidFill>
                  <a:srgbClr val="000000"/>
                </a:solidFill>
                <a:latin typeface="Times New Roman"/>
              </a:rPr>
              <a:t>Prepared by: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6100" y="51308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Times New Roman"/>
              </a:rPr>
              <a:t>Student Name: </a:t>
            </a:r>
            <a:r>
              <a:rPr lang="en-US" b="0" dirty="0">
                <a:solidFill>
                  <a:srgbClr val="000000"/>
                </a:solidFill>
                <a:latin typeface="Times New Roman"/>
              </a:rPr>
              <a:t>Mashrafe Uddin Tarafder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56100" y="54737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dirty="0">
                <a:solidFill>
                  <a:srgbClr val="000000"/>
                </a:solidFill>
                <a:latin typeface="Times New Roman"/>
              </a:rPr>
              <a:t>Student ID: </a:t>
            </a:r>
            <a:r>
              <a:rPr lang="en-US" sz="1800" i="0" dirty="0">
                <a:solidFill>
                  <a:srgbClr val="000000"/>
                </a:solidFill>
                <a:latin typeface="Times New Roman"/>
              </a:rPr>
              <a:t>22303075</a:t>
            </a:r>
            <a:endParaRPr sz="1800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70000" y="6299200"/>
            <a:ext cx="6604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i="0" dirty="0">
                <a:solidFill>
                  <a:srgbClr val="000000"/>
                </a:solidFill>
                <a:latin typeface="Times New Roman"/>
              </a:rPr>
              <a:t>25</a:t>
            </a:r>
            <a:r>
              <a:rPr lang="en-US" sz="2000" i="0" baseline="30000" dirty="0">
                <a:solidFill>
                  <a:srgbClr val="000000"/>
                </a:solidFill>
                <a:latin typeface="Times New Roman"/>
              </a:rPr>
              <a:t>th</a:t>
            </a:r>
            <a:r>
              <a:rPr lang="en-US" sz="2000" i="0" dirty="0">
                <a:solidFill>
                  <a:srgbClr val="000000"/>
                </a:solidFill>
                <a:latin typeface="Times New Roman"/>
              </a:rPr>
              <a:t> September, 2026</a:t>
            </a:r>
            <a:endParaRPr sz="2000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14400"/>
            <a:ext cx="8128000" cy="55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1.  Introduction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2.  Objectives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3.  Methodology and Process Model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4.  Organization Overview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5.  System Requirements (User &amp; System, Functional, Non-Functional)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6.  Use Case Diagram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7.  Database Design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8.  Implementation (Screenshots)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9.  Testing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10.  Limitations and Future Plan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11.  Conclusion</a:t>
            </a:r>
          </a:p>
          <a:p>
            <a:pPr>
              <a:spcAft>
                <a:spcPts val="400"/>
              </a:spcAft>
            </a:pPr>
            <a:r>
              <a:rPr sz="2200" b="0" i="0">
                <a:solidFill>
                  <a:srgbClr val="000000"/>
                </a:solidFill>
                <a:latin typeface="Calibri"/>
              </a:rPr>
              <a:t>12. 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2/26</a:t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Problem: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small and medium organizations still track attendance on paper or spreadsheets, handle leave by e-mail, and calculate salaries by hand – slow, error-prone and opaque to employees.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Solution: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 web-based, </a:t>
            </a:r>
            <a:r>
              <a:rPr sz="2000" b="1" i="0">
                <a:solidFill>
                  <a:srgbClr val="000000"/>
                </a:solidFill>
                <a:latin typeface="Calibri"/>
              </a:rPr>
              <a:t>multi-company HRM System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that automates attendance, leave and monthly payroll with role-based access.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Roles: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Super Admin (onboards companies), Company Admin (manages own company), Common employee (checks in/out, applies for leave, views own records).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Automation: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 daily job marks absent employees; a monthly job generates the previous month’s payroll.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AI HR Assistant:</a:t>
            </a:r>
            <a:r>
              <a:rPr sz="2000" b="0" i="0">
                <a:solidFill>
                  <a:srgbClr val="000000"/>
                </a:solidFill>
                <a:latin typeface="Calibri"/>
              </a:rPr>
              <a:t> answers HR questions in natural language from the company’s own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000000"/>
                </a:solidFill>
                <a:latin typeface="Times New Roman"/>
              </a:rPr>
              <a:t>3/2</a:t>
            </a:r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6</a:t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2.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Broad objective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Design and develop a secure, web-based, multi-company HRM system that automates attendance, leave and payroll administration.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2000" b="1" i="0">
                <a:solidFill>
                  <a:srgbClr val="000000"/>
                </a:solidFill>
                <a:latin typeface="Calibri"/>
              </a:rPr>
              <a:t>Specific objectives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Role-based access control scoped to the user’s own company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Check-in/check-out with automatic late and early-leave detection; scheduled absent marking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Leave workflow: request → approve/reject → reflected in attendance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Automatic monthly payroll with deduction rules; live payroll projection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Daily, monthly and per-employee attendance analytics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AI assistant using read-only, company-scoped data tools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700" b="0" i="0">
                <a:solidFill>
                  <a:srgbClr val="000000"/>
                </a:solidFill>
                <a:latin typeface="Calibri"/>
              </a:rPr>
              <a:t>JWT authentication, refresh-token rotation, BCrypt password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000000"/>
                </a:solidFill>
                <a:latin typeface="Times New Roman"/>
              </a:rPr>
              <a:t>4/2</a:t>
            </a:r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6</a:t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3. Methodology and Process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Calibri"/>
              </a:rPr>
              <a:t>Process model:</a:t>
            </a:r>
            <a:r>
              <a:rPr sz="1800" b="0" i="0">
                <a:solidFill>
                  <a:srgbClr val="000000"/>
                </a:solidFill>
                <a:latin typeface="Calibri"/>
              </a:rPr>
              <a:t> Agile – iterative and incremental with feedback at the end of every iteration.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Calibri"/>
              </a:rPr>
              <a:t>Iterations (12–13 weeks)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0 – requirements, Clean Architecture skeleton, database schema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1 – JWT authentication, company / role / department management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2 – employee management, pagination, Swagger security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3 – attendance, automatic absent marking, leave workflow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Sprint 4 – payroll job, live payroll status, AI assistant</a:t>
            </a:r>
          </a:p>
          <a:p>
            <a:pPr marL="622300" indent="-342900">
              <a:spcAft>
                <a:spcPts val="2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Final – Angular integration, testing, documentation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Calibri"/>
              </a:rPr>
              <a:t>Why Agile:</a:t>
            </a:r>
            <a:r>
              <a:rPr sz="1800" b="0" i="0">
                <a:solidFill>
                  <a:srgbClr val="000000"/>
                </a:solidFill>
                <a:latin typeface="Calibri"/>
              </a:rPr>
              <a:t> requirements were refined from working software (e.g. the check-in rule after auto-absent marking), modules could be demonstrated early, defects found early.</a:t>
            </a:r>
          </a:p>
          <a:p>
            <a:pPr marL="342900" indent="-342900">
              <a:spcAft>
                <a:spcPts val="400"/>
              </a:spcAft>
              <a:buFont typeface="Arial"/>
              <a:buChar char="•"/>
            </a:pPr>
            <a:r>
              <a:rPr sz="1800" b="1" i="0">
                <a:solidFill>
                  <a:srgbClr val="000000"/>
                </a:solidFill>
                <a:latin typeface="Calibri"/>
              </a:rPr>
              <a:t>Stack:</a:t>
            </a:r>
            <a:r>
              <a:rPr sz="1800" b="0" i="0">
                <a:solidFill>
                  <a:srgbClr val="000000"/>
                </a:solidFill>
                <a:latin typeface="Calibri"/>
              </a:rPr>
              <a:t> Angular · ASP.NET Core Web API (.NET 10) · Clean Architecture + CQRS (MediatR) · EF Core · SQL Server · Microsoft.Extensions.AI.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000000"/>
                </a:solidFill>
                <a:latin typeface="Times New Roman"/>
              </a:rPr>
              <a:t>5/2</a:t>
            </a:r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6</a:t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iubat.jpeg">
            <a:extLst>
              <a:ext uri="{FF2B5EF4-FFF2-40B4-BE49-F238E27FC236}">
                <a16:creationId xmlns:a16="http://schemas.microsoft.com/office/drawing/2014/main" id="{CC578FC9-7AE4-3C71-C0B5-3914E4464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28" name="Picture 27" descr="cse.jpeg">
            <a:extLst>
              <a:ext uri="{FF2B5EF4-FFF2-40B4-BE49-F238E27FC236}">
                <a16:creationId xmlns:a16="http://schemas.microsoft.com/office/drawing/2014/main" id="{C88E8403-370E-068A-38AA-7CAFFD467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0A1C66D3-0BFD-92BD-4945-174FFD1F7397}"/>
              </a:ext>
            </a:extLst>
          </p:cNvPr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Organization Overview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B03407-ACF6-279A-A015-CF5487032211}"/>
              </a:ext>
            </a:extLst>
          </p:cNvPr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E5F965-688B-085A-D46A-A923D99D7D59}"/>
              </a:ext>
            </a:extLst>
          </p:cNvPr>
          <p:cNvSpPr txBox="1"/>
          <p:nvPr/>
        </p:nvSpPr>
        <p:spPr>
          <a:xfrm>
            <a:off x="546100" y="889000"/>
            <a:ext cx="8128000" cy="293926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Organization: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AKIJ iBOS Ltd.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Dhaka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Bangladesh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Services: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latin typeface="Calibri"/>
              </a:rPr>
              <a:t>Provides </a:t>
            </a:r>
            <a:r>
              <a:rPr lang="en-US" sz="2000" dirty="0"/>
              <a:t>AI-driven software, enterprise solutions, and full-stack digital services designed for modern businesses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Vision / Mission: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i="0" dirty="0">
                <a:solidFill>
                  <a:srgbClr val="000000"/>
                </a:solidFill>
                <a:latin typeface="Calibri"/>
              </a:rPr>
              <a:t>Vision </a:t>
            </a:r>
            <a:r>
              <a:rPr lang="en-US" dirty="0"/>
              <a:t>is to build smart systems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My position: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Backend 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Intern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– analysis, design and full-stack development of the HRM System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Organizational supervisor: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Saidur Rahman Akash</a:t>
            </a:r>
            <a:r>
              <a:rPr sz="2000" i="0" dirty="0">
                <a:solidFill>
                  <a:srgbClr val="000000"/>
                </a:solidFill>
                <a:latin typeface="Calibri"/>
              </a:rPr>
              <a:t>, </a:t>
            </a:r>
            <a:r>
              <a:rPr lang="en-US" sz="2000" dirty="0">
                <a:solidFill>
                  <a:srgbClr val="000000"/>
                </a:solidFill>
                <a:latin typeface="Calibri"/>
              </a:rPr>
              <a:t>Software Engineer L-2</a:t>
            </a:r>
            <a:endParaRPr sz="2000" i="0" dirty="0">
              <a:solidFill>
                <a:srgbClr val="000000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1" i="0" dirty="0">
                <a:solidFill>
                  <a:srgbClr val="000000"/>
                </a:solidFill>
                <a:latin typeface="Calibri"/>
              </a:rPr>
              <a:t>Duration: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 12 weeks (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1</a:t>
            </a:r>
            <a:r>
              <a:rPr lang="en-US" sz="2000" i="0" baseline="30000" dirty="0">
                <a:solidFill>
                  <a:srgbClr val="000000"/>
                </a:solidFill>
                <a:latin typeface="Calibri"/>
              </a:rPr>
              <a:t>st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June, 2026 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– 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31</a:t>
            </a:r>
            <a:r>
              <a:rPr lang="en-US" sz="2000" i="0" baseline="30000" dirty="0">
                <a:solidFill>
                  <a:srgbClr val="000000"/>
                </a:solidFill>
                <a:latin typeface="Calibri"/>
              </a:rPr>
              <a:t>st</a:t>
            </a:r>
            <a:r>
              <a:rPr lang="en-US" sz="2000" i="0" dirty="0">
                <a:solidFill>
                  <a:srgbClr val="000000"/>
                </a:solidFill>
                <a:latin typeface="Calibri"/>
              </a:rPr>
              <a:t> August, 2026</a:t>
            </a:r>
            <a:r>
              <a:rPr sz="2000" b="0" i="0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36E37C-4AAA-76E3-47AF-3332CD6372FE}"/>
              </a:ext>
            </a:extLst>
          </p:cNvPr>
          <p:cNvSpPr/>
          <p:nvPr/>
        </p:nvSpPr>
        <p:spPr>
          <a:xfrm>
            <a:off x="2540000" y="4191000"/>
            <a:ext cx="406400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Organization logo / working environment photo]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5DB038E-EE7C-C70A-7624-862A8ED70684}"/>
              </a:ext>
            </a:extLst>
          </p:cNvPr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000000"/>
                </a:solidFill>
                <a:latin typeface="Times New Roman"/>
              </a:rPr>
              <a:t>5/2</a:t>
            </a:r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6</a:t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40" name="Picture 39" descr="AKIJ iBOS | Dhaka">
            <a:extLst>
              <a:ext uri="{FF2B5EF4-FFF2-40B4-BE49-F238E27FC236}">
                <a16:creationId xmlns:a16="http://schemas.microsoft.com/office/drawing/2014/main" id="{917CEFF2-B1A9-BE52-A5EA-CD6B0A50ED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3162" y="4031466"/>
            <a:ext cx="4257675" cy="25344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5. System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762000"/>
            <a:ext cx="8128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Calibri"/>
              </a:rPr>
              <a:t>User &amp; system requirements – each user need with the system requirements derived from it (report §3.1.1).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6100" y="1041400"/>
            <a:ext cx="8128000" cy="558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1. Users need to securely access the system according to their assigned roles.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registered users to log in using their e-mail address and password.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issue a short-lived access token and a refresh token on successful login.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renew the access token silently using the refresh token without asking for the password again.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restrict every API endpoint and every page according to the user’s role.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scope all company data to the company of the logged-in user.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authenticated users to log out and revoke their refresh token.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2. The Super Admin needs to manage the companies that use the platform.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the Super Admin to create and update company profiles (name, e-mail, phone, address, logo, subscription plan).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companies to be activated or deactivated.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list all companies with pagination and view a single company’s details.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3. The Company Admin needs to manage departments.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departments to be created and updated under the admin’s company.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display the number of employees in each department.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list departments with pagination and sorting.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000000"/>
                </a:solidFill>
                <a:latin typeface="Times New Roman"/>
              </a:rPr>
              <a:t>7/2</a:t>
            </a:r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6</a:t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5. System Requirements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38200"/>
            <a:ext cx="8128000" cy="558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4. The Company Admin needs to manage roles and employee profiles.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roles (e.g. Company Admin, Common) to be created and updated.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employee profiles to be created and updated with code, name, contact details, department, role, join date, salary and status.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store passwords only as salted hashes.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employees to be activated or deactivated.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list employees of a company, optionally filtered by department, with pagination.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5. Employees need to record daily attendance.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an employee to check in; the first check-in of the day creates the attendance record.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the same employee to check out later in the day and calculate working hours.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classify a check-in as Present or Late against the configured shift start time and record the minutes late.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record early leave minutes when check-out happens before the shift end.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prevent a second check-out for the same day.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6. The system needs to mark absent employees automatically.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run a scheduled job every working day at a configured time (9:30 AM Bangladesh time) that marks every active employee without an attendance record as Absent.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job needs to skip weekly holidays and employees on approved leave.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If the server was not running at the scheduled time, the job needs to catch up when the server starts.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late employee who checks in after being auto-marked Absent needs to have the record converted to Late rather than being blocked.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000000"/>
                </a:solidFill>
                <a:latin typeface="Times New Roman"/>
              </a:rPr>
              <a:t>8/2</a:t>
            </a:r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6</a:t>
            </a:r>
            <a:endParaRPr sz="1400" b="1" i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5. System Requirements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38200"/>
            <a:ext cx="8128000" cy="558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7. Employees and administrators need to manage leave.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an employee to submit a leave request with type, date range and reason; total days are calculated by the system.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a Company Admin to approve, reject or cancel a leave request and record who approved it and when.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reflect approved leave in attendance as “On Leave” for each working day in the range.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list leave requests by status and show an employee’s leave history.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8. The system needs to generate payroll automatically.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generate the payroll of the previous month for all active employees on the first day of each month.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payroll needs to deduct a fixed penalty for each absence and convert every three late arrivals into one absence.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guarantee that a month’s payroll is generated only once, even if the server restarts.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allow a Company Admin to view the payroll of an employee or of the whole company for a month.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show a live, non-stored projection of the current month’s payroll for an employee.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9. The Company Admin needs attendance analytics.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provide a daily summary (present, late, on leave, absent) for the company.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provide a monthly summary with average attendance rate, late arrivals, perfect attendance, most punctual department and highest absentee(s), reporting all names in case of a tie.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provide per-employee monthly statistics and day-by-day records.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9/27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5. System Requirements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38200"/>
            <a:ext cx="8128000" cy="558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10. HR staff need to ask questions in natural language.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provide an AI assistant endpoint that accepts a question and returns an answer based only on the company’s own attendance, leave and employee data.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assistant needs to be able to resolve an employee’s name to their record before answering employee-specific questions.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assistant needs to answer in the language the question was asked in.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assistant needs to state clearly when a question cannot be answered from the available data.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response needs to include which data tools were used so the answer can be trusted and audited.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11. The system needs to expose a documented API for the frontend.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publish an OpenAPI (Swagger) description of every endpoint with bearer-token support for testing.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return consistent paginated responses (items, page number, page size, total count, total pages).</a:t>
            </a:r>
          </a:p>
          <a:p>
            <a:pPr marL="622300" indent="-342900">
              <a:spcAft>
                <a:spcPts val="0"/>
              </a:spcAft>
              <a:buFont typeface="Arial"/>
              <a:buChar char="–"/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system needs to return meaningful validation errors and HTTP status codes.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10/27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5. 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38200"/>
            <a:ext cx="8128000" cy="5588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FR-01: The system shall allow registered users to log in with e-mail and password, refresh their session and log out securely.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FR-02: The system shall enforce different permissions for Super Admin, Company Admin and Common users on every endpoint.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FR-03: The system shall scope every query and command to the company identified in the caller’s token.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FR-04: The system shall allow the Super Admin to create, update, activate/deactivate and list companies.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FR-05: The system shall allow the Company Admin to create, update and list departments with employee counts.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FR-06: The system shall allow the Company Admin to create, update and list roles.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FR-07: The system shall allow the Company Admin to create, update, activate/deactivate, search and list employees with pagination.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FR-08: The system shall record employee check-in and check-out, computing status, late minutes, early-leave minutes and working hours.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FR-09: The system shall automatically mark absent employees every working day and catch up on missed runs at startup.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11/27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5. Functional Requirements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38200"/>
            <a:ext cx="8128000" cy="1697901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libri"/>
              </a:rPr>
              <a:t>FR-10: The system shall allow employees to submit leave requests and administrators to approve, reject or cancel them.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libri"/>
              </a:rPr>
              <a:t>FR-11: The system shall convert approved leave into “On Leave” attendance records for the affected working days.</a:t>
            </a:r>
          </a:p>
          <a:p>
            <a:pPr marL="342900" indent="-342900">
              <a:spcAft>
                <a:spcPts val="500"/>
              </a:spcAft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libri"/>
              </a:rPr>
              <a:t>FR-12: The system shall generate the previous month’s payroll automatically on the first day of each month, exactly once.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12/27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5. 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838200"/>
            <a:ext cx="8128000" cy="257762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700"/>
              </a:spcAft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libri"/>
              </a:rPr>
              <a:t>NFR-01 (Security): The system shall use JWT authentication with 15-minute access tokens, </a:t>
            </a:r>
            <a:r>
              <a:rPr sz="1600" b="0" i="0" dirty="0" err="1">
                <a:solidFill>
                  <a:srgbClr val="000000"/>
                </a:solidFill>
                <a:latin typeface="Calibri"/>
              </a:rPr>
              <a:t>HttpOnly</a:t>
            </a:r>
            <a:r>
              <a:rPr sz="1600" b="0" i="0" dirty="0">
                <a:solidFill>
                  <a:srgbClr val="000000"/>
                </a:solidFill>
                <a:latin typeface="Calibri"/>
              </a:rPr>
              <a:t>/Secure/</a:t>
            </a:r>
            <a:r>
              <a:rPr sz="1600" b="0" i="0" dirty="0" err="1">
                <a:solidFill>
                  <a:srgbClr val="000000"/>
                </a:solidFill>
                <a:latin typeface="Calibri"/>
              </a:rPr>
              <a:t>SameSite</a:t>
            </a:r>
            <a:r>
              <a:rPr sz="1600" b="0" i="0" dirty="0">
                <a:solidFill>
                  <a:srgbClr val="000000"/>
                </a:solidFill>
                <a:latin typeface="Calibri"/>
              </a:rPr>
              <a:t> refresh-token cookies, </a:t>
            </a:r>
            <a:r>
              <a:rPr sz="1600" b="0" i="0" dirty="0" err="1">
                <a:solidFill>
                  <a:srgbClr val="000000"/>
                </a:solidFill>
                <a:latin typeface="Calibri"/>
              </a:rPr>
              <a:t>BCrypt</a:t>
            </a:r>
            <a:r>
              <a:rPr sz="1600" b="0" i="0" dirty="0">
                <a:solidFill>
                  <a:srgbClr val="000000"/>
                </a:solidFill>
                <a:latin typeface="Calibri"/>
              </a:rPr>
              <a:t> password hashing and role-based authorization on every endpoint.</a:t>
            </a:r>
          </a:p>
          <a:p>
            <a:pPr marL="342900" indent="-342900">
              <a:spcAft>
                <a:spcPts val="700"/>
              </a:spcAft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libri"/>
              </a:rPr>
              <a:t>NFR-02 (Data isolation): No request shall be able to read or modify data of a company other than the caller’s own company.</a:t>
            </a:r>
          </a:p>
          <a:p>
            <a:pPr marL="342900" indent="-342900">
              <a:spcAft>
                <a:spcPts val="700"/>
              </a:spcAft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libri"/>
              </a:rPr>
              <a:t>NFR-03 (Performance): List endpoints shall be paginated (default 50, maximum 100 items) and typical API responses shall be returned within one second; AI answers within ten seconds.</a:t>
            </a:r>
          </a:p>
          <a:p>
            <a:pPr marL="342900" indent="-342900">
              <a:spcAft>
                <a:spcPts val="700"/>
              </a:spcAft>
              <a:buFont typeface="Arial"/>
              <a:buChar char="•"/>
            </a:pPr>
            <a:r>
              <a:rPr sz="1600" b="0" i="0" dirty="0">
                <a:solidFill>
                  <a:srgbClr val="000000"/>
                </a:solidFill>
                <a:latin typeface="Calibri"/>
              </a:rPr>
              <a:t>NFR-04 (Reliability): Scheduled jobs shall be idempotent and shall recover from missed runs when the server restarts.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13/27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6. 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pic>
        <p:nvPicPr>
          <p:cNvPr id="6" name="Picture 5" descr="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38200"/>
            <a:ext cx="7620000" cy="39817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8000" y="5080000"/>
            <a:ext cx="8128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Figure: Use case diagram of the HRM System – Employee and Company Admin generalize User; Scheduler is a secondary «system» actor; Approve Leave «includes» Mark On-Leave Days; Convert Absent to Late «extends» Check In when an Absent row already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 dirty="0">
                <a:solidFill>
                  <a:srgbClr val="000000"/>
                </a:solidFill>
                <a:latin typeface="Times New Roman"/>
              </a:rPr>
              <a:t>1</a:t>
            </a:r>
            <a:r>
              <a:rPr lang="en-US" sz="1400" b="1" i="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sz="1400" b="1" i="0" dirty="0">
                <a:solidFill>
                  <a:srgbClr val="000000"/>
                </a:solidFill>
                <a:latin typeface="Times New Roman"/>
              </a:rPr>
              <a:t>/27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7. Database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38200"/>
            <a:ext cx="4826000" cy="381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Entity Relationship Diagram]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97500" y="838200"/>
          <a:ext cx="3365500" cy="34594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8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000000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Tenant organizations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Department, Role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Company structure, authorization roles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Employee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Users: profile, credentials, salary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Attendance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One row per employee per day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LeaveType, LeaveRequest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Leave workflow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Payroll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Monthly salary with deductions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RefreshToken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Session renewal / revocation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AiConversation, AiAuditLog, AiReport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000000"/>
                          </a:solidFill>
                          <a:latin typeface="Calibri"/>
                        </a:rPr>
                        <a:t>AI usage and audit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4826000"/>
            <a:ext cx="8382000" cy="1524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Calibri"/>
              </a:rPr>
              <a:t>12 normalized tables; every business table carries </a:t>
            </a:r>
            <a:r>
              <a:rPr sz="1500" b="1" i="0">
                <a:solidFill>
                  <a:srgbClr val="000000"/>
                </a:solidFill>
                <a:latin typeface="Calibri"/>
              </a:rPr>
              <a:t>CompanyId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for tenant isolation.</a:t>
            </a:r>
          </a:p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0" i="0">
                <a:solidFill>
                  <a:srgbClr val="000000"/>
                </a:solidFill>
                <a:latin typeface="Calibri"/>
              </a:rPr>
              <a:t>Attendance status: Present / Late / Absent / On Leave; Payroll: Basic − AbsentDeduction − LateDeduction = Net.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16/27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D7C2B1-FEC6-7AD9-896A-64EA37C59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36" y="838200"/>
            <a:ext cx="4830064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8. Implementation – Screenshots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382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Login page]</a:t>
            </a:r>
          </a:p>
        </p:txBody>
      </p:sp>
      <p:sp>
        <p:nvSpPr>
          <p:cNvPr id="7" name="Rectangle 6"/>
          <p:cNvSpPr/>
          <p:nvPr/>
        </p:nvSpPr>
        <p:spPr>
          <a:xfrm>
            <a:off x="4699000" y="8382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Company Admin dashboard]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35560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Employee management (paginated)]</a:t>
            </a:r>
          </a:p>
        </p:txBody>
      </p:sp>
      <p:sp>
        <p:nvSpPr>
          <p:cNvPr id="9" name="Rectangle 8"/>
          <p:cNvSpPr/>
          <p:nvPr/>
        </p:nvSpPr>
        <p:spPr>
          <a:xfrm>
            <a:off x="4699000" y="35560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Check-in / check-out]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172200"/>
            <a:ext cx="838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Angular frontend consuming the Web API; role decides the dashboard after login.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17/27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638F0E-F980-AECA-DEDF-3C86BE508E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752834"/>
            <a:ext cx="4064000" cy="262536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4CF7E4-23B4-A59A-6A1C-A17C573F05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834707"/>
            <a:ext cx="4064000" cy="248348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B146C8-C160-90CB-F6C9-F50DBFBEEF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" y="3539807"/>
            <a:ext cx="4064000" cy="253079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5E5B50-A960-A76D-2078-3A569A0A08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9000" y="3562825"/>
            <a:ext cx="4064000" cy="25331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8. Implementation – Screenshots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81000" y="8382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Leave request and approval]</a:t>
            </a:r>
          </a:p>
        </p:txBody>
      </p:sp>
      <p:sp>
        <p:nvSpPr>
          <p:cNvPr id="7" name="Rectangle 6"/>
          <p:cNvSpPr/>
          <p:nvPr/>
        </p:nvSpPr>
        <p:spPr>
          <a:xfrm>
            <a:off x="4699000" y="8382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Monthly attendance summary]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000" y="35560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Payroll / live payroll status]</a:t>
            </a:r>
          </a:p>
        </p:txBody>
      </p:sp>
      <p:sp>
        <p:nvSpPr>
          <p:cNvPr id="9" name="Rectangle 8"/>
          <p:cNvSpPr/>
          <p:nvPr/>
        </p:nvSpPr>
        <p:spPr>
          <a:xfrm>
            <a:off x="4699000" y="3556000"/>
            <a:ext cx="4064000" cy="2540000"/>
          </a:xfrm>
          <a:prstGeom prst="rect">
            <a:avLst/>
          </a:prstGeom>
          <a:solidFill>
            <a:srgbClr val="FAFAFA"/>
          </a:solidFill>
          <a:ln w="12700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i="1">
                <a:solidFill>
                  <a:srgbClr val="595959"/>
                </a:solidFill>
                <a:latin typeface="Calibri"/>
              </a:rPr>
              <a:t>[Insert image: HR Assistant chat]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6172200"/>
            <a:ext cx="8382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 i="1">
                <a:solidFill>
                  <a:srgbClr val="000000"/>
                </a:solidFill>
                <a:latin typeface="Calibri"/>
              </a:rPr>
              <a:t>Payroll rule: 100 BDT per absence; every 3 late arrivals = 1 absence. AI answers list the data tools used.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18/27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33EB10-44E7-4739-C3B0-B847810FB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600" y="838200"/>
            <a:ext cx="4089400" cy="254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54A707E-C545-3DDA-0A5F-807D692725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000" y="787177"/>
            <a:ext cx="4089400" cy="259102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A5C0E8D-49A9-8B54-2C78-0C6A5BFBC3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09" y="3530600"/>
            <a:ext cx="4181311" cy="254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07911A3-763D-1E3B-E5C3-82E966F96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0520" y="3556000"/>
            <a:ext cx="4089400" cy="2527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9.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12800"/>
            <a:ext cx="8382000" cy="762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600" b="1" i="0">
                <a:solidFill>
                  <a:srgbClr val="000000"/>
                </a:solidFill>
                <a:latin typeface="Calibri"/>
              </a:rPr>
              <a:t>Approach:</a:t>
            </a:r>
            <a:r>
              <a:rPr sz="1600" b="0" i="0">
                <a:solidFill>
                  <a:srgbClr val="000000"/>
                </a:solidFill>
                <a:latin typeface="Calibri"/>
              </a:rPr>
              <a:t> black-box (Swagger + Angular UI), white-box (handlers, branches), grey-box (DB verification); unit → integration → system → acceptance.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1000" y="1651000"/>
          <a:ext cx="8382000" cy="27432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6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Expected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0800" marR="50800" marT="25400" marB="25400"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Login and token refresh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Token with Role &amp; CompanyId; refresh only with valid cookie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Role-based, company-scoped access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401 without token, 403 wrong role, no cross-company data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Check-in after auto-absent marking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Absent row converted to Late, no duplicate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 (after fix)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Payroll idempotency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Exactly one row per employee per month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AI question “Who was late the most?”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Correct name + count; toolsUsed listed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1000" y="4521200"/>
            <a:ext cx="8382000" cy="101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200"/>
              </a:spcAft>
              <a:buFont typeface="Arial"/>
              <a:buChar char="•"/>
            </a:pPr>
            <a:r>
              <a:rPr sz="1500" b="1" i="0">
                <a:solidFill>
                  <a:srgbClr val="000000"/>
                </a:solidFill>
                <a:latin typeface="Calibri"/>
              </a:rPr>
              <a:t>Non-functional:</a:t>
            </a:r>
            <a:r>
              <a:rPr sz="1500" b="0" i="0">
                <a:solidFill>
                  <a:srgbClr val="000000"/>
                </a:solidFill>
                <a:latin typeface="Calibri"/>
              </a:rPr>
              <a:t> 15-min token expiry, cookie flags, pagination limits, AI response time (2–10 s), Windows/Linux portability.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19/27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10. Limitations and Future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3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Limitations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Shift times, holidays and penalty are global constants, not per-company settings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Payroll covers basic salary and deductions only; generated globally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AI assistant: attendance and leave only, no payroll, no conversation memory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No notifications; no dedicated mobile app</a:t>
            </a:r>
          </a:p>
          <a:p>
            <a:pPr marL="342900" indent="-342900">
              <a:spcAft>
                <a:spcPts val="300"/>
              </a:spcAft>
              <a:buFont typeface="Arial"/>
              <a:buChar char="•"/>
            </a:pPr>
            <a:r>
              <a:rPr sz="1900" b="1" i="0">
                <a:solidFill>
                  <a:srgbClr val="000000"/>
                </a:solidFill>
                <a:latin typeface="Calibri"/>
              </a:rPr>
              <a:t>Future plan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Per-company configuration of shifts, holidays, leave balances and deductions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Allowances, tax, bonus and payslip export (PDF/Excel)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AI: payroll tools, memory, proactive monthly reports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E-mail/push notifications; mobile app with location/biometric check-in</a:t>
            </a:r>
          </a:p>
          <a:p>
            <a:pPr marL="622300" indent="-342900">
              <a:spcAft>
                <a:spcPts val="100"/>
              </a:spcAft>
              <a:buFont typeface="Arial"/>
              <a:buChar char="–"/>
            </a:pPr>
            <a:r>
              <a:rPr sz="1600" b="0" i="0">
                <a:solidFill>
                  <a:srgbClr val="000000"/>
                </a:solidFill>
                <a:latin typeface="Calibri"/>
              </a:rPr>
              <a:t>Automated test suites with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20/27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11.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6100" y="965200"/>
            <a:ext cx="8128000" cy="5461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Delivered a working, secure, multi-company HRM System: attendance, leave, payroll, analytics and an AI assistant.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Automation removes manual registers and hand-calculated salaries; company-level isolation is enforced by design.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Applied the full lifecycle – requirements, Clean Architecture/CQRS design, FP estimation, RMMM, testing.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Practicum value: hands-on experience with Angular, .NET 10, EF Core, JWT security, background services and LLM tool-calling, plus documentation and communication skills.</a:t>
            </a:r>
          </a:p>
          <a:p>
            <a:pPr marL="342900" indent="-342900">
              <a:spcAft>
                <a:spcPts val="6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Calibri"/>
              </a:rPr>
              <a:t>The system is a solid base for the per-company configuration and payroll extensions planned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21/27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uba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88900"/>
            <a:ext cx="609600" cy="533400"/>
          </a:xfrm>
          <a:prstGeom prst="rect">
            <a:avLst/>
          </a:prstGeom>
        </p:spPr>
      </p:pic>
      <p:pic>
        <p:nvPicPr>
          <p:cNvPr id="3" name="Picture 2" descr="c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127000"/>
            <a:ext cx="457200" cy="469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77800"/>
            <a:ext cx="762000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i="0">
                <a:solidFill>
                  <a:srgbClr val="0D0D0D"/>
                </a:solidFill>
                <a:latin typeface="Calibri"/>
              </a:rPr>
              <a:t>12.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900" y="66548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Calibri"/>
              </a:rPr>
              <a:t>Human Resource Management (HRM)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812800"/>
            <a:ext cx="8382000" cy="56117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5600" indent="-355600">
              <a:spcAft>
                <a:spcPts val="400"/>
              </a:spcAft>
            </a:pPr>
            <a:r>
              <a:rPr lang="en-US" sz="1400" dirty="0"/>
              <a:t>[1] L. Bass, P. Clements, and R. </a:t>
            </a:r>
            <a:r>
              <a:rPr lang="en-US" sz="1400" dirty="0" err="1"/>
              <a:t>Kazman</a:t>
            </a:r>
            <a:r>
              <a:rPr lang="en-US" sz="1400" dirty="0"/>
              <a:t>, Software Architecture in Practice, 3rd ed. Boston, MA, USA: Addison-Wesley, 2013. 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[2] G. Booch, J. Rumbaugh, and I. Jacobson, The Unified Modeling Language User Guide, 2nd ed. Boston, MA, USA: Addison-Wesley, 2005.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 [3] C. J. Date, An Introduction to Database Systems, 8th ed. New Delhi, India: Pearson Education, 2019.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 [4] M. Fowler, UML Distilled: A Brief Guide to the Standard Object Modeling Language, 3rd ed. Boston, MA, USA: Addison-Wesley, 2004. 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[5] R. C. Martin, Clean Architecture: A Craftsman’s Guide to Software Structure and Design. Boston, MA, USA: Prentice Hall, 2017. 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[6] Microsoft, “ASP.NET Core Documentation,” 2025. [Online]. Available: </a:t>
            </a:r>
            <a:r>
              <a:rPr lang="en-US" sz="1400" dirty="0">
                <a:hlinkClick r:id="rId4"/>
              </a:rPr>
              <a:t>https://learn.microsoft.com/aspnet/core</a:t>
            </a:r>
            <a:endParaRPr lang="en-US" sz="1400" dirty="0"/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[7] Microsoft, “Entity Framework Core Documentation,” 2025. [Online]. Available: https://learn.microsoft.com/ef/core 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[8] Microsoft, “Microsoft.Extensions.AI Libraries,” 2025. [Online]. Available: </a:t>
            </a:r>
            <a:r>
              <a:rPr lang="en-US" sz="1400" dirty="0">
                <a:hlinkClick r:id="rId5"/>
              </a:rPr>
              <a:t>https://learn.microsoft.com/dotnet/ai/microsoft-extensions-ai</a:t>
            </a:r>
            <a:endParaRPr lang="en-US" sz="1400" dirty="0"/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 [9] </a:t>
            </a:r>
            <a:r>
              <a:rPr lang="en-US" sz="1400" dirty="0" err="1"/>
              <a:t>MediatR</a:t>
            </a:r>
            <a:r>
              <a:rPr lang="en-US" sz="1400" dirty="0"/>
              <a:t> Documentation, “Simple mediator implementation in .NET,” 2025. [Online]. Available: </a:t>
            </a:r>
            <a:r>
              <a:rPr lang="en-US" sz="1400" dirty="0">
                <a:hlinkClick r:id="rId6"/>
              </a:rPr>
              <a:t>https://github.com/jbogard/MediatR</a:t>
            </a:r>
            <a:endParaRPr lang="en-US" sz="1400" dirty="0"/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 [10] Angular Documentation, “Angular – The web development framework,” 2025. [Online]. Available: https://angular.dev 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[11] </a:t>
            </a:r>
            <a:r>
              <a:rPr lang="en-US" sz="1400" dirty="0" err="1"/>
              <a:t>Swashbuckle.AspNetCore</a:t>
            </a:r>
            <a:r>
              <a:rPr lang="en-US" sz="1400" dirty="0"/>
              <a:t>, “Swagger tools for ASP.NET Core APIs,” 2025. [Online]. Available: https://github.com/domaindrivendev/Swashbuckle.AspNetCore </a:t>
            </a:r>
          </a:p>
          <a:p>
            <a:pPr marL="355600" indent="-355600">
              <a:spcAft>
                <a:spcPts val="400"/>
              </a:spcAft>
            </a:pPr>
            <a:r>
              <a:rPr lang="en-US" sz="1400" dirty="0"/>
              <a:t>[12] M. Jones, J. Bradley, and N. </a:t>
            </a:r>
            <a:r>
              <a:rPr lang="en-US" sz="1400" dirty="0" err="1"/>
              <a:t>Sakimura</a:t>
            </a:r>
            <a:r>
              <a:rPr lang="en-US" sz="1400" dirty="0"/>
              <a:t>, “JSON Web Token (JWT),” RFC 7519, IETF, 2015. [13] R. S. Pressman and B. R. Maxim, Software Engineering: A Practitioner’s Approach, 9th ed. New York, NY, USA: McGraw-Hill, 2020.</a:t>
            </a:r>
            <a:endParaRPr sz="1300" b="0" i="0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28000" y="6629400"/>
            <a:ext cx="9271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1" i="0">
                <a:solidFill>
                  <a:srgbClr val="000000"/>
                </a:solidFill>
                <a:latin typeface="Times New Roman"/>
              </a:rPr>
              <a:t>22/27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2921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1">
                <a:solidFill>
                  <a:srgbClr val="000000"/>
                </a:solidFill>
                <a:latin typeface="Times New Roman"/>
              </a:rPr>
              <a:t>Any Questions 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3048000"/>
            <a:ext cx="76200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00" b="1" i="1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3250</Words>
  <Application>Microsoft Office PowerPoint</Application>
  <PresentationFormat>On-screen Show (4:3)</PresentationFormat>
  <Paragraphs>274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Mashrafe</dc:creator>
  <cp:keywords/>
  <dc:description>generated using python-pptx</dc:description>
  <cp:lastModifiedBy>Mashrafe Uddin Tarafder</cp:lastModifiedBy>
  <cp:revision>2</cp:revision>
  <dcterms:created xsi:type="dcterms:W3CDTF">2013-01-27T09:14:16Z</dcterms:created>
  <dcterms:modified xsi:type="dcterms:W3CDTF">2026-09-20T08:09:15Z</dcterms:modified>
  <cp:category/>
</cp:coreProperties>
</file>
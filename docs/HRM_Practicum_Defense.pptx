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7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42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52400"/>
            <a:ext cx="609600" cy="5334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" y="114300"/>
            <a:ext cx="7772400" cy="596900"/>
          </a:xfrm>
          <a:prstGeom prst="rect">
            <a:avLst/>
          </a:prstGeom>
        </p:spPr>
      </p:pic>
      <p:pic>
        <p:nvPicPr>
          <p:cNvPr id="4" name="Picture 3" descr="badge35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3600" y="228600"/>
            <a:ext cx="609600" cy="393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34400" y="660400"/>
            <a:ext cx="508000" cy="12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1991-2026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774700"/>
            <a:ext cx="6604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1">
                <a:solidFill>
                  <a:srgbClr val="008000"/>
                </a:solidFill>
                <a:latin typeface="Arial"/>
              </a:rPr>
              <a:t>Founded 1991 by Md. Alimullah Miyan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1684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  <a:latin typeface="Times New Roman"/>
              </a:rPr>
              <a:t>Human Resource Management (HRM)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0000" y="2260600"/>
            <a:ext cx="660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u="sng">
                <a:solidFill>
                  <a:srgbClr val="000000"/>
                </a:solidFill>
                <a:latin typeface="Times New Roman"/>
              </a:rPr>
              <a:t>Course Code: Practicum CSC 490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0000" y="2819400"/>
            <a:ext cx="66040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Times New Roman"/>
              </a:rPr>
              <a:t>Prepared for: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0000" y="3352800"/>
            <a:ext cx="660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  <a:latin typeface="Times New Roman"/>
              </a:rPr>
              <a:t>Practicum Defense Committee</a:t>
            </a:r>
          </a:p>
        </p:txBody>
      </p:sp>
      <p:pic>
        <p:nvPicPr>
          <p:cNvPr id="11" name="Picture 10" descr="cs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4300" y="3733800"/>
            <a:ext cx="457200" cy="4699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66900" y="3810000"/>
            <a:ext cx="5588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Times New Roman"/>
              </a:rPr>
              <a:t>Department of Computer Science and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775200"/>
            <a:ext cx="2286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sng">
                <a:solidFill>
                  <a:srgbClr val="000000"/>
                </a:solidFill>
                <a:latin typeface="Times New Roman"/>
              </a:rPr>
              <a:t>Supervised by: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5137404"/>
            <a:ext cx="381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i="0" dirty="0">
                <a:solidFill>
                  <a:srgbClr val="000000"/>
                </a:solidFill>
                <a:latin typeface="Times New Roman"/>
              </a:rPr>
              <a:t>Rubayea Ferdows</a:t>
            </a:r>
            <a:endParaRPr sz="1800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03808" y="5439648"/>
            <a:ext cx="381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i="0" dirty="0">
                <a:solidFill>
                  <a:srgbClr val="000000"/>
                </a:solidFill>
                <a:latin typeface="Times New Roman"/>
              </a:rPr>
              <a:t>Assistant Professor</a:t>
            </a:r>
            <a:endParaRPr sz="1800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588000" y="4775200"/>
            <a:ext cx="2286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sng">
                <a:solidFill>
                  <a:srgbClr val="000000"/>
                </a:solidFill>
                <a:latin typeface="Times New Roman"/>
              </a:rPr>
              <a:t>Prepared by: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0400" y="5148826"/>
            <a:ext cx="4318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dirty="0">
                <a:solidFill>
                  <a:srgbClr val="000000"/>
                </a:solidFill>
                <a:latin typeface="Times New Roman"/>
              </a:rPr>
              <a:t>Student Name: </a:t>
            </a:r>
            <a:r>
              <a:rPr lang="en-US" sz="1800" i="0" dirty="0">
                <a:solidFill>
                  <a:srgbClr val="000000"/>
                </a:solidFill>
                <a:latin typeface="Times New Roman"/>
              </a:rPr>
              <a:t>Mashrafe Uddin Tarafder</a:t>
            </a:r>
            <a:endParaRPr sz="1800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75200" y="5473700"/>
            <a:ext cx="4318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dirty="0">
                <a:solidFill>
                  <a:srgbClr val="000000"/>
                </a:solidFill>
                <a:latin typeface="Times New Roman"/>
              </a:rPr>
              <a:t>Student ID: </a:t>
            </a:r>
            <a:r>
              <a:rPr lang="en-US" sz="1800" i="0" dirty="0">
                <a:solidFill>
                  <a:srgbClr val="000000"/>
                </a:solidFill>
                <a:latin typeface="Times New Roman"/>
              </a:rPr>
              <a:t>22303075</a:t>
            </a:r>
            <a:endParaRPr sz="1800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70000" y="6299200"/>
            <a:ext cx="660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000" i="0" dirty="0">
                <a:solidFill>
                  <a:srgbClr val="000000"/>
                </a:solidFill>
                <a:latin typeface="Times New Roman"/>
              </a:rPr>
              <a:t>25</a:t>
            </a:r>
            <a:r>
              <a:rPr lang="en-US" sz="2000" i="0" baseline="30000" dirty="0">
                <a:solidFill>
                  <a:srgbClr val="000000"/>
                </a:solidFill>
                <a:latin typeface="Times New Roman"/>
              </a:rPr>
              <a:t>th</a:t>
            </a:r>
            <a:r>
              <a:rPr lang="en-US" sz="2000" i="0" dirty="0">
                <a:solidFill>
                  <a:srgbClr val="000000"/>
                </a:solidFill>
                <a:latin typeface="Times New Roman"/>
              </a:rPr>
              <a:t> September, 2026</a:t>
            </a:r>
            <a:endParaRPr sz="2000" i="0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965200"/>
            <a:ext cx="8128000" cy="5461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Introduction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Objectives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Organization Overview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Methodology and Process Model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System Requirements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Use Case Diagram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System Architecture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Database Design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Project Estimation and Schedule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Risk Management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Implementation (Screenshots)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Testing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Limitations and Future Plan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Conclusion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2/23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965200"/>
            <a:ext cx="8128000" cy="5461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1" i="0">
                <a:solidFill>
                  <a:srgbClr val="000000"/>
                </a:solidFill>
                <a:latin typeface="Calibri"/>
              </a:rPr>
              <a:t>Problem: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small and medium organizations still track attendance on paper or spreadsheets, handle leave by e-mail, and calculate salaries by hand – slow, error-prone and opaque to employees.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1" i="0">
                <a:solidFill>
                  <a:srgbClr val="000000"/>
                </a:solidFill>
                <a:latin typeface="Calibri"/>
              </a:rPr>
              <a:t>Solution: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a web-based, </a:t>
            </a:r>
            <a:r>
              <a:rPr sz="2000" b="1" i="0">
                <a:solidFill>
                  <a:srgbClr val="000000"/>
                </a:solidFill>
                <a:latin typeface="Calibri"/>
              </a:rPr>
              <a:t>multi-company HRM System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that automates attendance, leave and monthly payroll with role-based access.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1" i="0">
                <a:solidFill>
                  <a:srgbClr val="000000"/>
                </a:solidFill>
                <a:latin typeface="Calibri"/>
              </a:rPr>
              <a:t>Roles: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Super Admin (onboards companies), Company Admin (manages own company), Common employee (checks in/out, applies for leave, views own records).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1" i="0">
                <a:solidFill>
                  <a:srgbClr val="000000"/>
                </a:solidFill>
                <a:latin typeface="Calibri"/>
              </a:rPr>
              <a:t>Automation: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a daily job marks absent employees; a monthly job generates the previous month’s payroll.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1" i="0">
                <a:solidFill>
                  <a:srgbClr val="000000"/>
                </a:solidFill>
                <a:latin typeface="Calibri"/>
              </a:rPr>
              <a:t>AI HR Assistant: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answers HR questions in natural language from the company’s own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3/23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965200"/>
            <a:ext cx="8128000" cy="5461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400"/>
              </a:spcAft>
              <a:buFont typeface="Arial"/>
              <a:buChar char="•"/>
            </a:pPr>
            <a:r>
              <a:rPr sz="2000" b="1" i="0">
                <a:solidFill>
                  <a:srgbClr val="000000"/>
                </a:solidFill>
                <a:latin typeface="Calibri"/>
              </a:rPr>
              <a:t>Broad objective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Design and develop a secure, web-based, multi-company HRM system that automates attendance, leave and payroll administration.</a:t>
            </a:r>
          </a:p>
          <a:p>
            <a:pPr marL="342900" indent="-342900">
              <a:spcAft>
                <a:spcPts val="400"/>
              </a:spcAft>
              <a:buFont typeface="Arial"/>
              <a:buChar char="•"/>
            </a:pPr>
            <a:r>
              <a:rPr sz="2000" b="1" i="0">
                <a:solidFill>
                  <a:srgbClr val="000000"/>
                </a:solidFill>
                <a:latin typeface="Calibri"/>
              </a:rPr>
              <a:t>Specific objectives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Role-based access control scoped to the user’s own company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Check-in/check-out with automatic late and early-leave detection; scheduled absent marking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Leave workflow: request → approve/reject → reflected in attendance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Automatic monthly payroll with deduction rules; live payroll projection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Daily, monthly and per-employee attendance analytics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AI assistant using read-only, company-scoped data tools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JWT authentication, refresh-token rotation, BCrypt password hashing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4/23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Organization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889000"/>
            <a:ext cx="8128000" cy="293926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1" i="0" dirty="0">
                <a:solidFill>
                  <a:srgbClr val="000000"/>
                </a:solidFill>
                <a:latin typeface="Calibri"/>
              </a:rPr>
              <a:t>Organization: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 i="0" dirty="0">
                <a:solidFill>
                  <a:srgbClr val="000000"/>
                </a:solidFill>
                <a:latin typeface="Calibri"/>
              </a:rPr>
              <a:t>AKIJ iBOS Ltd.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, </a:t>
            </a:r>
            <a:r>
              <a:rPr lang="en-US" sz="2000" i="0" dirty="0">
                <a:solidFill>
                  <a:srgbClr val="000000"/>
                </a:solidFill>
                <a:latin typeface="Calibri"/>
              </a:rPr>
              <a:t>Dhaka</a:t>
            </a:r>
            <a:r>
              <a:rPr sz="2000" i="0" dirty="0">
                <a:solidFill>
                  <a:srgbClr val="000000"/>
                </a:solidFill>
                <a:latin typeface="Calibri"/>
              </a:rPr>
              <a:t>, </a:t>
            </a:r>
            <a:r>
              <a:rPr lang="en-US" sz="2000" i="0" dirty="0">
                <a:solidFill>
                  <a:srgbClr val="000000"/>
                </a:solidFill>
                <a:latin typeface="Calibri"/>
              </a:rPr>
              <a:t>Bangladesh</a:t>
            </a:r>
            <a:endParaRPr sz="2000" i="0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1" i="0" dirty="0">
                <a:solidFill>
                  <a:srgbClr val="000000"/>
                </a:solidFill>
                <a:latin typeface="Calibri"/>
              </a:rPr>
              <a:t>Services: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 b="0" i="0" dirty="0">
                <a:solidFill>
                  <a:srgbClr val="000000"/>
                </a:solidFill>
                <a:latin typeface="Calibri"/>
              </a:rPr>
              <a:t>Provides </a:t>
            </a:r>
            <a:r>
              <a:rPr lang="en-US" sz="2000" dirty="0"/>
              <a:t>AI-driven software, enterprise solutions, and full-stack digital services designed for modern businesses</a:t>
            </a:r>
            <a:endParaRPr sz="2000" i="0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1" i="0" dirty="0">
                <a:solidFill>
                  <a:srgbClr val="000000"/>
                </a:solidFill>
                <a:latin typeface="Calibri"/>
              </a:rPr>
              <a:t>Vision / Mission: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 b="0" i="0" dirty="0">
                <a:solidFill>
                  <a:srgbClr val="000000"/>
                </a:solidFill>
                <a:latin typeface="Calibri"/>
              </a:rPr>
              <a:t>Vision </a:t>
            </a:r>
            <a:r>
              <a:rPr lang="en-US" dirty="0"/>
              <a:t>is to build smart systems</a:t>
            </a:r>
            <a:endParaRPr sz="2000" i="0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1" i="0" dirty="0">
                <a:solidFill>
                  <a:srgbClr val="000000"/>
                </a:solidFill>
                <a:latin typeface="Calibri"/>
              </a:rPr>
              <a:t>My position: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 i="0" dirty="0">
                <a:solidFill>
                  <a:srgbClr val="000000"/>
                </a:solidFill>
                <a:latin typeface="Calibri"/>
              </a:rPr>
              <a:t>Backend </a:t>
            </a:r>
            <a:r>
              <a:rPr sz="2000" i="0" dirty="0">
                <a:solidFill>
                  <a:srgbClr val="000000"/>
                </a:solidFill>
                <a:latin typeface="Calibri"/>
              </a:rPr>
              <a:t>Intern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 – analysis, design and full-stack development of the HRM System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1" i="0" dirty="0">
                <a:solidFill>
                  <a:srgbClr val="000000"/>
                </a:solidFill>
                <a:latin typeface="Calibri"/>
              </a:rPr>
              <a:t>Organizational supervisor: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 i="0" dirty="0" err="1">
                <a:solidFill>
                  <a:srgbClr val="000000"/>
                </a:solidFill>
                <a:latin typeface="Calibri"/>
              </a:rPr>
              <a:t>Saidur</a:t>
            </a:r>
            <a:r>
              <a:rPr lang="en-US" sz="2000" i="0" dirty="0">
                <a:solidFill>
                  <a:srgbClr val="000000"/>
                </a:solidFill>
                <a:latin typeface="Calibri"/>
              </a:rPr>
              <a:t> Rahman Akash</a:t>
            </a:r>
            <a:r>
              <a:rPr sz="2000" i="0" dirty="0">
                <a:solidFill>
                  <a:srgbClr val="000000"/>
                </a:solidFill>
                <a:latin typeface="Calibri"/>
              </a:rPr>
              <a:t>, 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Software Engineer L-2</a:t>
            </a:r>
            <a:endParaRPr sz="2000" i="0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1" i="0" dirty="0">
                <a:solidFill>
                  <a:srgbClr val="000000"/>
                </a:solidFill>
                <a:latin typeface="Calibri"/>
              </a:rPr>
              <a:t>Duration: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 12 weeks (</a:t>
            </a:r>
            <a:r>
              <a:rPr lang="en-US" sz="2000" i="0" dirty="0">
                <a:solidFill>
                  <a:srgbClr val="000000"/>
                </a:solidFill>
                <a:latin typeface="Calibri"/>
              </a:rPr>
              <a:t>1</a:t>
            </a:r>
            <a:r>
              <a:rPr lang="en-US" sz="2000" i="0" baseline="30000" dirty="0">
                <a:solidFill>
                  <a:srgbClr val="000000"/>
                </a:solidFill>
                <a:latin typeface="Calibri"/>
              </a:rPr>
              <a:t>st</a:t>
            </a:r>
            <a:r>
              <a:rPr lang="en-US" sz="2000" i="0" dirty="0">
                <a:solidFill>
                  <a:srgbClr val="000000"/>
                </a:solidFill>
                <a:latin typeface="Calibri"/>
              </a:rPr>
              <a:t> June, 2026 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– </a:t>
            </a:r>
            <a:r>
              <a:rPr lang="en-US" sz="2000" i="0" dirty="0">
                <a:solidFill>
                  <a:srgbClr val="000000"/>
                </a:solidFill>
                <a:latin typeface="Calibri"/>
              </a:rPr>
              <a:t>31</a:t>
            </a:r>
            <a:r>
              <a:rPr lang="en-US" sz="2000" i="0" baseline="30000" dirty="0">
                <a:solidFill>
                  <a:srgbClr val="000000"/>
                </a:solidFill>
                <a:latin typeface="Calibri"/>
              </a:rPr>
              <a:t>st</a:t>
            </a:r>
            <a:r>
              <a:rPr lang="en-US" sz="2000" i="0" dirty="0">
                <a:solidFill>
                  <a:srgbClr val="000000"/>
                </a:solidFill>
                <a:latin typeface="Calibri"/>
              </a:rPr>
              <a:t> August, 2026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2540000" y="4191000"/>
            <a:ext cx="4064000" cy="2286000"/>
          </a:xfrm>
          <a:prstGeom prst="rect">
            <a:avLst/>
          </a:prstGeom>
          <a:solidFill>
            <a:srgbClr val="FAFAFA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i="1">
                <a:solidFill>
                  <a:srgbClr val="595959"/>
                </a:solidFill>
                <a:latin typeface="Calibri"/>
              </a:rPr>
              <a:t>[Insert image: Organization logo / working environment photo]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5/23</a:t>
            </a:r>
          </a:p>
        </p:txBody>
      </p:sp>
      <p:pic>
        <p:nvPicPr>
          <p:cNvPr id="9" name="Picture 8" descr="AKIJ iBOS | Dhaka">
            <a:extLst>
              <a:ext uri="{FF2B5EF4-FFF2-40B4-BE49-F238E27FC236}">
                <a16:creationId xmlns:a16="http://schemas.microsoft.com/office/drawing/2014/main" id="{E42858B9-1748-B5DD-EBCD-90B35A7360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3162" y="4031466"/>
            <a:ext cx="4257675" cy="25344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Methodology and Process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965200"/>
            <a:ext cx="8128000" cy="5461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400"/>
              </a:spcAft>
              <a:buFont typeface="Arial"/>
              <a:buChar char="•"/>
            </a:pPr>
            <a:r>
              <a:rPr sz="1900" b="1" i="0">
                <a:solidFill>
                  <a:srgbClr val="000000"/>
                </a:solidFill>
                <a:latin typeface="Calibri"/>
              </a:rPr>
              <a:t>Process model:</a:t>
            </a:r>
            <a:r>
              <a:rPr sz="1900" b="0" i="0">
                <a:solidFill>
                  <a:srgbClr val="000000"/>
                </a:solidFill>
                <a:latin typeface="Calibri"/>
              </a:rPr>
              <a:t> Agile – iterative and incremental with feedback at the end of every iteration.</a:t>
            </a:r>
          </a:p>
          <a:p>
            <a:pPr marL="342900" indent="-342900">
              <a:spcAft>
                <a:spcPts val="400"/>
              </a:spcAft>
              <a:buFont typeface="Arial"/>
              <a:buChar char="•"/>
            </a:pPr>
            <a:r>
              <a:rPr sz="1900" b="1" i="0">
                <a:solidFill>
                  <a:srgbClr val="000000"/>
                </a:solidFill>
                <a:latin typeface="Calibri"/>
              </a:rPr>
              <a:t>Iterations (12 weeks)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Sprint 0 – requirements, Clean Architecture skeleton, database schema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Sprint 1 – JWT authentication, company / role / department management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Sprint 2 – employee management, pagination, Swagger security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Sprint 3 – attendance, automatic absent marking, leave workflow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Sprint 4 – payroll job, live payroll status, AI assistant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Final – Angular integration, testing, documentation</a:t>
            </a:r>
          </a:p>
          <a:p>
            <a:pPr marL="342900" indent="-342900">
              <a:spcAft>
                <a:spcPts val="400"/>
              </a:spcAft>
              <a:buFont typeface="Arial"/>
              <a:buChar char="•"/>
            </a:pPr>
            <a:r>
              <a:rPr sz="1900" b="1" i="0">
                <a:solidFill>
                  <a:srgbClr val="000000"/>
                </a:solidFill>
                <a:latin typeface="Calibri"/>
              </a:rPr>
              <a:t>Why Agile:</a:t>
            </a:r>
            <a:r>
              <a:rPr sz="1900" b="0" i="0">
                <a:solidFill>
                  <a:srgbClr val="000000"/>
                </a:solidFill>
                <a:latin typeface="Calibri"/>
              </a:rPr>
              <a:t> requirements were refined from working software (e.g. the check-in rule after auto-absent marking), modules could be demonstrated early, defects found early.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6/23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1000" y="838200"/>
          <a:ext cx="8381999" cy="2402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2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Key functional requirements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Super Admin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Create, update, activate/deactivate and list companies (paginated)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Company Admin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Manage departments (with employee counts), roles and employees; view attendance by date/employee and daily/monthly summaries; approve, reject or cancel leave; view payroll and live projection; ask the AI assistant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Common (Employee)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Log in; check in / check out once per day; submit leave requests; view own attendance, statistics and payroll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System (Scheduler)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Mark absent employees every working day at 09:30 (skip holidays and approved leave, catch up at startup); generate previous month’s payroll on the 1st, exactly once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81000" y="4724400"/>
            <a:ext cx="8382000" cy="1524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000000"/>
                </a:solidFill>
                <a:latin typeface="Calibri"/>
              </a:rPr>
              <a:t>Non-functional: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 JWT security and company-level data isolation; paginated lists (default 50, max 100); idempotent jobs; responsive Angular UI; Clean Architecture + CQRS for maintainability.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7/23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Use Case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6120130"/>
            <a:ext cx="8128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 dirty="0">
                <a:solidFill>
                  <a:srgbClr val="000000"/>
                </a:solidFill>
                <a:latin typeface="Calibri"/>
              </a:rPr>
              <a:t>Figure: Use case diagram of the HRM System (three primary actors, Scheduler as secondary actor; «include» Mark On-Leave Days, «extend» Convert Absent to Late).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8/23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D79738-F06F-E4DE-2B89-05471AFD92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241" y="618940"/>
            <a:ext cx="6554471" cy="5454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889000"/>
            <a:ext cx="7620000" cy="990600"/>
          </a:xfrm>
          <a:prstGeom prst="rect">
            <a:avLst/>
          </a:prstGeom>
          <a:solidFill>
            <a:srgbClr val="DDE9EC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Presentation Tier</a:t>
            </a:r>
          </a:p>
          <a:p>
            <a:pPr algn="ctr"/>
            <a:r>
              <a:rPr sz="1200" b="0" i="0">
                <a:solidFill>
                  <a:srgbClr val="000000"/>
                </a:solidFill>
                <a:latin typeface="Calibri"/>
              </a:rPr>
              <a:t>Angular SPA – login, role-based dashboards, attendance, leave, payroll, HR assistant chat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2209800"/>
            <a:ext cx="7620000" cy="990600"/>
          </a:xfrm>
          <a:prstGeom prst="rect">
            <a:avLst/>
          </a:prstGeom>
          <a:solidFill>
            <a:srgbClr val="E8EEE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Application Tier – ASP.NET Core Web API (.NET 10)</a:t>
            </a:r>
          </a:p>
          <a:p>
            <a:pPr algn="ctr"/>
            <a:r>
              <a:rPr sz="1200" b="0" i="0">
                <a:solidFill>
                  <a:srgbClr val="000000"/>
                </a:solidFill>
                <a:latin typeface="Calibri"/>
              </a:rPr>
              <a:t>Web API (controllers, JWT, Swagger, hosted jobs) → Application (MediatR commands/queries, DTOs, validation) → Domain (entities) ← Infrastructure (EF Core, repositories, token/password services, AI service)</a:t>
            </a:r>
          </a:p>
        </p:txBody>
      </p:sp>
      <p:sp>
        <p:nvSpPr>
          <p:cNvPr id="8" name="Down Arrow 7"/>
          <p:cNvSpPr/>
          <p:nvPr/>
        </p:nvSpPr>
        <p:spPr>
          <a:xfrm>
            <a:off x="4381500" y="1905000"/>
            <a:ext cx="381000" cy="279400"/>
          </a:xfrm>
          <a:prstGeom prst="down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2000" y="3530600"/>
            <a:ext cx="7620000" cy="990600"/>
          </a:xfrm>
          <a:prstGeom prst="rect">
            <a:avLst/>
          </a:prstGeom>
          <a:solidFill>
            <a:srgbClr val="F3EEDC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Data Tier</a:t>
            </a:r>
          </a:p>
          <a:p>
            <a:pPr algn="ctr"/>
            <a:r>
              <a:rPr sz="1200" b="0" i="0">
                <a:solidFill>
                  <a:srgbClr val="000000"/>
                </a:solidFill>
                <a:latin typeface="Calibri"/>
              </a:rPr>
              <a:t>Microsoft SQL Server – 12 tables + stored procedure sp_MarkAbsentEmployees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381500" y="3225800"/>
            <a:ext cx="381000" cy="279400"/>
          </a:xfrm>
          <a:prstGeom prst="down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2000" y="4800600"/>
            <a:ext cx="7620000" cy="508000"/>
          </a:xfrm>
          <a:prstGeom prst="rect">
            <a:avLst/>
          </a:prstGeom>
          <a:solidFill>
            <a:srgbClr val="F5E6DA"/>
          </a:solidFill>
          <a:ln w="127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000000"/>
                </a:solidFill>
                <a:latin typeface="Calibri"/>
              </a:rPr>
              <a:t>External: LLM provider (Groq, OpenAI-compatible API) via Microsoft.Extensions.AI – tool calling over company-scoped repositories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5410200"/>
            <a:ext cx="8128000" cy="1143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1500" b="1" i="0">
                <a:solidFill>
                  <a:srgbClr val="000000"/>
                </a:solidFill>
                <a:latin typeface="Calibri"/>
              </a:rPr>
              <a:t>Pattern: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Three-tier client–server with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Clean Architecture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and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CQRS (MediatR)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– every use case is an isolated command/query handler.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1500" b="1" i="0">
                <a:solidFill>
                  <a:srgbClr val="000000"/>
                </a:solidFill>
                <a:latin typeface="Calibri"/>
              </a:rPr>
              <a:t>Security: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HS256 JWT (15 min) + HttpOnly refresh cookie (7 days); company id read only from the token.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9/23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97500" y="838200"/>
          <a:ext cx="3365500" cy="34594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8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Tenant organizations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Department, Role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Company structure, authorization roles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Employee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Users: profile, credentials, salary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Attendance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One row per employee per day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LeaveType, LeaveRequest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Leave workflow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Payroll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Monthly salary with deductions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RefreshToken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Session renewal / revocation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AiConversation, AiAuditLog, AiReport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AI usage and audit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1000" y="4826000"/>
            <a:ext cx="8382000" cy="1524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Calibri"/>
              </a:rPr>
              <a:t>12 normalized tables; every business table carries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CompanyId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for tenant isolation.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Calibri"/>
              </a:rPr>
              <a:t>Attendance status: Present / Late / Absent / On Leave; Payroll: Basic − AbsentDeduction − LateDeduction = Net.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10/23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0AC713-7E44-10B1-562B-8E4AE783E1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" y="838200"/>
            <a:ext cx="5189220" cy="3459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Project Estimation and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1000" y="838200"/>
          <a:ext cx="5080000" cy="23977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Transactional UFP (14 EI + 7 EO + 11 EQ)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59 + 36 + 41 = 136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Data UFP (12 ILF × 7)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Total UFP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220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VAF = 0.65 + 0.01 × TDI (41)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1.06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Adjusted Function Points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233.2 FP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Actual effort (1 dev × 3 months × 22 days × 8 h)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528 person-hours ≈ 2.26 h/FP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51500" y="838200"/>
          <a:ext cx="3111499" cy="2067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44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Cost item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BDT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Personnel (528 h × 227.27)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120,000.00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Hardware (depreciation)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3,083.33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Other (internet, power, backup)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12,450.00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Software (all open source)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135,533.33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81000" y="3327400"/>
            <a:ext cx="8382000" cy="254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i="1">
                <a:solidFill>
                  <a:srgbClr val="595959"/>
                </a:solidFill>
                <a:latin typeface="Calibri"/>
              </a:rPr>
              <a:t>[Insert image: Gantt chart – 6 sprints over 12–13 weeks]</a:t>
            </a:r>
          </a:p>
          <a:p>
            <a:pPr algn="ctr"/>
            <a:r>
              <a:rPr sz="1100" i="1">
                <a:solidFill>
                  <a:srgbClr val="595959"/>
                </a:solidFill>
                <a:latin typeface="Calibri"/>
              </a:rPr>
              <a:t>Sprint 0 (wk 1–2) · Sprint 1 (3–4) · Sprint 2 (5–6) · Sprint 3 (7–9) · Sprint 4 (10–11) · Final (12–13)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999" y="6375400"/>
            <a:ext cx="8382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000000"/>
                </a:solidFill>
                <a:latin typeface="Calibri"/>
              </a:rPr>
              <a:t>Salary and hardware figures are illustrative assumptions (</a:t>
            </a:r>
            <a:r>
              <a:rPr sz="1200" i="1">
                <a:solidFill>
                  <a:srgbClr val="000000"/>
                </a:solidFill>
                <a:highlight>
                  <a:srgbClr val="FFFF00"/>
                </a:highlight>
                <a:latin typeface="Calibri"/>
              </a:rPr>
              <a:t>BDT 40,000/month</a:t>
            </a:r>
            <a:r>
              <a:rPr sz="1200" b="0" i="1">
                <a:solidFill>
                  <a:srgbClr val="000000"/>
                </a:solidFill>
                <a:latin typeface="Calibri"/>
              </a:rPr>
              <a:t>, </a:t>
            </a:r>
            <a:r>
              <a:rPr sz="1200" i="1">
                <a:solidFill>
                  <a:srgbClr val="000000"/>
                </a:solidFill>
                <a:highlight>
                  <a:srgbClr val="FFFF00"/>
                </a:highlight>
                <a:latin typeface="Calibri"/>
              </a:rPr>
              <a:t>laptop BDT 85,000</a:t>
            </a:r>
            <a:r>
              <a:rPr sz="1200" b="0" i="1">
                <a:solidFill>
                  <a:srgbClr val="000000"/>
                </a:solidFill>
                <a:latin typeface="Calibri"/>
              </a:rPr>
              <a:t>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11/23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5C6DAD-86F1-720F-30A0-E01D8BF35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3175000"/>
            <a:ext cx="8680704" cy="30794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Risk Management (RMMM)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1000" y="838200"/>
          <a:ext cx="8381998" cy="3911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1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1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87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P / I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Contingency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Unauthorized or cross-company access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Mod / Cat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JWT + roles, company id from token, BCrypt, refresh rotation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Revoke tokens, rotate key, fix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Incorrect attendance from auto-absent job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High / Ser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Idempotent SP, holiday calendar, startup catch-up, Absent→Late conversion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Admin corrects; re-run job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Duplicate / wrong payroll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Mod / Cat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Existence check; single formula for generation and projection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Regenerate after fixing data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LLM provider failure or wrong answer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High / Tol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Configurable model; read-only scoped tools; toolsUsed returned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Switch model / disable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Database or server failure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Mod / Ser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Backups, transactions, monitoring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Restore backup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User operation error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Mod / Tol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Validation, confirmations, training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Assisted correction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81000" y="4953000"/>
            <a:ext cx="8382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Calibri"/>
              </a:rPr>
              <a:t>P = probability, I = impact (Tolerable / Serious / Catastrophic). Risks 2 and 4 were actually encountered during development and resolved.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12/23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Implementation –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6172200"/>
            <a:ext cx="8382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000000"/>
                </a:solidFill>
                <a:latin typeface="Calibri"/>
              </a:rPr>
              <a:t>Angular frontend consuming the Web API; role decides the dashboard after login.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13/23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9961BC0-CAEB-5831-38FD-6131E05D65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66457"/>
            <a:ext cx="3886200" cy="24834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D7D49C-C20C-80D9-2A1A-8D3C83C73F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9000" y="945514"/>
            <a:ext cx="4064000" cy="24834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E6909F8-DF9B-6AAA-72B1-35EEB558CA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583622"/>
            <a:ext cx="4064000" cy="24847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A1FF358-1C7C-1ACD-4DB1-9736E928F3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3457733"/>
            <a:ext cx="3886200" cy="26625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Implementation – Screenshots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6172200"/>
            <a:ext cx="8382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000000"/>
                </a:solidFill>
                <a:latin typeface="Calibri"/>
              </a:rPr>
              <a:t>Payroll rule: 100 BDT per absence; every 3 late arrivals = 1 absence. AI answers list the data tools used.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14/23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DD0B9B-BECA-1402-0E41-5C3174C333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" y="1067752"/>
            <a:ext cx="4089400" cy="21062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A514997-B1A8-8FBA-6936-BD3DB0B04C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939355"/>
            <a:ext cx="4216400" cy="24896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9F24E7D-436E-1306-D5B4-5FB35826FD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7481" y="3505200"/>
            <a:ext cx="3985437" cy="241344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373D373-AF26-3D08-0523-09B32785C7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5209" y="3387090"/>
            <a:ext cx="4181311" cy="26835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812800"/>
            <a:ext cx="8382000" cy="76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1600" b="1" i="0">
                <a:solidFill>
                  <a:srgbClr val="000000"/>
                </a:solidFill>
                <a:latin typeface="Calibri"/>
              </a:rPr>
              <a:t>Approach: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 black-box (Swagger + Angular UI), white-box (handlers, branches), grey-box (DB verification); unit → integration → system → acceptance.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1000" y="1651000"/>
          <a:ext cx="8382000" cy="2743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Expected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Login and token refresh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Token with Role &amp; CompanyId; refresh only with valid cookie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Role-based, company-scoped access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401 without token, 403 wrong role, no cross-company data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Check-in after auto-absent marking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Absent row converted to Late, no duplicate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Pass (after fix)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Payroll idempotency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Exactly one row per employee per month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AI question “Who was late the most?”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Correct name + count; toolsUsed listed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1000" y="4521200"/>
            <a:ext cx="8382000" cy="101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1500" b="1" i="0">
                <a:solidFill>
                  <a:srgbClr val="000000"/>
                </a:solidFill>
                <a:latin typeface="Calibri"/>
              </a:rPr>
              <a:t>Non-functional: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15-min token expiry, cookie flags, pagination limits, AI response time (2–10 s), Windows/Linux portability.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15/23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Limitations and Future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965200"/>
            <a:ext cx="8128000" cy="5461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300"/>
              </a:spcAft>
              <a:buFont typeface="Arial"/>
              <a:buChar char="•"/>
            </a:pPr>
            <a:r>
              <a:rPr sz="1900" b="1" i="0">
                <a:solidFill>
                  <a:srgbClr val="000000"/>
                </a:solidFill>
                <a:latin typeface="Calibri"/>
              </a:rPr>
              <a:t>Limitations</a:t>
            </a:r>
          </a:p>
          <a:p>
            <a:pPr marL="622300" indent="-342900">
              <a:spcAft>
                <a:spcPts val="1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Shift times, holidays and penalty are global constants, not per-company settings</a:t>
            </a:r>
          </a:p>
          <a:p>
            <a:pPr marL="622300" indent="-342900">
              <a:spcAft>
                <a:spcPts val="1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Payroll covers basic salary and deductions only; generated globally</a:t>
            </a:r>
          </a:p>
          <a:p>
            <a:pPr marL="622300" indent="-342900">
              <a:spcAft>
                <a:spcPts val="1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AI assistant: attendance and leave only, no payroll, no conversation memory</a:t>
            </a:r>
          </a:p>
          <a:p>
            <a:pPr marL="622300" indent="-342900">
              <a:spcAft>
                <a:spcPts val="1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No notifications; no dedicated mobile app</a:t>
            </a:r>
          </a:p>
          <a:p>
            <a:pPr marL="342900" indent="-342900">
              <a:spcAft>
                <a:spcPts val="300"/>
              </a:spcAft>
              <a:buFont typeface="Arial"/>
              <a:buChar char="•"/>
            </a:pPr>
            <a:r>
              <a:rPr sz="1900" b="1" i="0">
                <a:solidFill>
                  <a:srgbClr val="000000"/>
                </a:solidFill>
                <a:latin typeface="Calibri"/>
              </a:rPr>
              <a:t>Future plan</a:t>
            </a:r>
          </a:p>
          <a:p>
            <a:pPr marL="622300" indent="-342900">
              <a:spcAft>
                <a:spcPts val="1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Per-company configuration of shifts, holidays, leave balances and deductions</a:t>
            </a:r>
          </a:p>
          <a:p>
            <a:pPr marL="622300" indent="-342900">
              <a:spcAft>
                <a:spcPts val="1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Allowances, tax, bonus and payslip export (PDF/Excel)</a:t>
            </a:r>
          </a:p>
          <a:p>
            <a:pPr marL="622300" indent="-342900">
              <a:spcAft>
                <a:spcPts val="1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AI: payroll tools, memory, proactive monthly reports</a:t>
            </a:r>
          </a:p>
          <a:p>
            <a:pPr marL="622300" indent="-342900">
              <a:spcAft>
                <a:spcPts val="1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E-mail/push notifications; mobile app with location/biometric check-in</a:t>
            </a:r>
          </a:p>
          <a:p>
            <a:pPr marL="622300" indent="-342900">
              <a:spcAft>
                <a:spcPts val="1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Automated test suites with CI/CD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16/23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965200"/>
            <a:ext cx="8128000" cy="5461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Delivered a working, secure, multi-company HRM System: attendance, leave, payroll, analytics and an AI assistant.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Automation removes manual registers and hand-calculated salaries; company-level isolation is enforced by design.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Applied the full lifecycle – requirements, Clean Architecture/CQRS design, FP estimation, RMMM, testing.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Practicum value: hands-on experience with Angular, .NET 10, EF Core, JWT security, background services and LLM tool-calling, plus documentation and communication skills.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The system is a solid base for the per-company configuration and payroll extensions planned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17/23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812800"/>
            <a:ext cx="8382000" cy="53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55600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[1] R. S. Pressman and B. R. Maxim, </a:t>
            </a:r>
            <a:r>
              <a:rPr sz="1300" i="1">
                <a:latin typeface="Calibri"/>
              </a:rPr>
              <a:t>Software Engineering: A Practitioner’s Approach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, 9th ed. New York, NY, USA: McGraw-Hill, 2020.</a:t>
            </a:r>
          </a:p>
          <a:p>
            <a:pPr marL="355600" indent="-355600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[2] I. Sommerville, </a:t>
            </a:r>
            <a:r>
              <a:rPr sz="1300" i="1">
                <a:latin typeface="Calibri"/>
              </a:rPr>
              <a:t>Software Engineering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, 10th ed. Harlow, U.K.: Pearson, 2016.</a:t>
            </a:r>
          </a:p>
          <a:p>
            <a:pPr marL="355600" indent="-355600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[3] R. C. Martin, </a:t>
            </a:r>
            <a:r>
              <a:rPr sz="1300" i="1">
                <a:latin typeface="Calibri"/>
              </a:rPr>
              <a:t>Clean Architecture: A Craftsman’s Guide to Software Structure and Design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. Boston, MA, USA: Prentice Hall, 2017.</a:t>
            </a:r>
          </a:p>
          <a:p>
            <a:pPr marL="355600" indent="-355600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[4] Microsoft, “ASP.NET Core documentation.” [Online]. Available: https://learn.microsoft.com/aspnet/core. Accessed: </a:t>
            </a:r>
            <a:r>
              <a:rPr sz="1300" i="0">
                <a:solidFill>
                  <a:srgbClr val="000000"/>
                </a:solidFill>
                <a:highlight>
                  <a:srgbClr val="FFFF00"/>
                </a:highlight>
                <a:latin typeface="Calibri"/>
              </a:rPr>
              <a:t>date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355600" indent="-355600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[5] Microsoft, “Entity Framework Core documentation.” [Online]. Available: https://learn.microsoft.com/ef/core. Accessed: </a:t>
            </a:r>
            <a:r>
              <a:rPr sz="1300" i="0">
                <a:solidFill>
                  <a:srgbClr val="000000"/>
                </a:solidFill>
                <a:highlight>
                  <a:srgbClr val="FFFF00"/>
                </a:highlight>
                <a:latin typeface="Calibri"/>
              </a:rPr>
              <a:t>date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355600" indent="-355600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[6] Microsoft, “Microsoft.Extensions.AI libraries.” [Online]. Available: https://learn.microsoft.com/dotnet/ai/microsoft-extensions-ai. Accessed: </a:t>
            </a:r>
            <a:r>
              <a:rPr sz="1300" i="0">
                <a:solidFill>
                  <a:srgbClr val="000000"/>
                </a:solidFill>
                <a:highlight>
                  <a:srgbClr val="FFFF00"/>
                </a:highlight>
                <a:latin typeface="Calibri"/>
              </a:rPr>
              <a:t>date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355600" indent="-355600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[7] M. Jones, J. Bradley, and N. Sakimura, “JSON Web Token (JWT),” IETF RFC 7519, May 2015.</a:t>
            </a:r>
          </a:p>
          <a:p>
            <a:pPr marL="355600" indent="-355600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[8] D. Longstreet, “Fundamentals of function point analysis,” 2005. [Online]. Available: http://www.softwaremetrics.com/fpafund.html.</a:t>
            </a:r>
          </a:p>
          <a:p>
            <a:pPr marL="355600" indent="-355600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[9] </a:t>
            </a:r>
            <a:r>
              <a:rPr sz="1300" i="1">
                <a:latin typeface="Calibri"/>
              </a:rPr>
              <a:t>Internship Guidelines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, Department of Computer Science and Engineering, IUBAT, Dhaka, Bangladesh, 2026.</a:t>
            </a:r>
          </a:p>
          <a:p>
            <a:pPr marL="355600" indent="-355600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[10] Company website: </a:t>
            </a:r>
            <a:r>
              <a:rPr sz="1300" i="0">
                <a:solidFill>
                  <a:srgbClr val="000000"/>
                </a:solidFill>
                <a:highlight>
                  <a:srgbClr val="FFFF00"/>
                </a:highlight>
                <a:latin typeface="Calibri"/>
              </a:rPr>
              <a:t>Organization Name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. [Online]. Available: </a:t>
            </a:r>
            <a:r>
              <a:rPr sz="1300" i="0">
                <a:solidFill>
                  <a:srgbClr val="000000"/>
                </a:solidFill>
                <a:highlight>
                  <a:srgbClr val="FFFF00"/>
                </a:highlight>
                <a:latin typeface="Calibri"/>
              </a:rPr>
              <a:t>https://www.example.com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. Accessed: </a:t>
            </a:r>
            <a:r>
              <a:rPr sz="1300" i="0">
                <a:solidFill>
                  <a:srgbClr val="000000"/>
                </a:solidFill>
                <a:highlight>
                  <a:srgbClr val="FFFF00"/>
                </a:highlight>
                <a:latin typeface="Calibri"/>
              </a:rPr>
              <a:t>date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6045200"/>
            <a:ext cx="8382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4F6C2F"/>
                </a:solidFill>
                <a:latin typeface="Calibri"/>
              </a:rPr>
              <a:t>NOTE: consult your supervisor before and after preparing the final defense slides.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18/23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2921000"/>
            <a:ext cx="7620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 i="1">
                <a:solidFill>
                  <a:srgbClr val="000000"/>
                </a:solidFill>
                <a:latin typeface="Times New Roman"/>
              </a:rPr>
              <a:t>Any Questions 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3048000"/>
            <a:ext cx="7620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 i="1">
                <a:solidFill>
                  <a:srgbClr val="000000"/>
                </a:solidFill>
                <a:latin typeface="Times New Rom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2141</Words>
  <Application>Microsoft Office PowerPoint</Application>
  <PresentationFormat>On-screen Show (4:3)</PresentationFormat>
  <Paragraphs>261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Mashrafe Uddin Tarafder</cp:lastModifiedBy>
  <cp:revision>3</cp:revision>
  <dcterms:created xsi:type="dcterms:W3CDTF">2013-01-27T09:14:16Z</dcterms:created>
  <dcterms:modified xsi:type="dcterms:W3CDTF">2026-09-18T15:06:53Z</dcterms:modified>
  <cp:category/>
</cp:coreProperties>
</file>
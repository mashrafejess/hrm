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jp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3.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ubat.jpeg"/>
          <p:cNvPicPr>
            <a:picLocks noChangeAspect="1"/>
          </p:cNvPicPr>
          <p:nvPr/>
        </p:nvPicPr>
        <p:blipFill>
          <a:blip r:embed="rId2"/>
          <a:stretch>
            <a:fillRect/>
          </a:stretch>
        </p:blipFill>
        <p:spPr>
          <a:xfrm>
            <a:off x="76200" y="152400"/>
            <a:ext cx="609600" cy="533400"/>
          </a:xfrm>
          <a:prstGeom prst="rect">
            <a:avLst/>
          </a:prstGeom>
        </p:spPr>
      </p:pic>
      <p:pic>
        <p:nvPicPr>
          <p:cNvPr id="3" name="Picture 2" descr="banner.png"/>
          <p:cNvPicPr>
            <a:picLocks noChangeAspect="1"/>
          </p:cNvPicPr>
          <p:nvPr/>
        </p:nvPicPr>
        <p:blipFill>
          <a:blip r:embed="rId3"/>
          <a:stretch>
            <a:fillRect/>
          </a:stretch>
        </p:blipFill>
        <p:spPr>
          <a:xfrm>
            <a:off x="711200" y="114300"/>
            <a:ext cx="7772400" cy="596900"/>
          </a:xfrm>
          <a:prstGeom prst="rect">
            <a:avLst/>
          </a:prstGeom>
        </p:spPr>
      </p:pic>
      <p:pic>
        <p:nvPicPr>
          <p:cNvPr id="4" name="Picture 3" descr="cse.jpeg"/>
          <p:cNvPicPr>
            <a:picLocks noChangeAspect="1"/>
          </p:cNvPicPr>
          <p:nvPr/>
        </p:nvPicPr>
        <p:blipFill>
          <a:blip r:embed="rId4"/>
          <a:stretch>
            <a:fillRect/>
          </a:stretch>
        </p:blipFill>
        <p:spPr>
          <a:xfrm>
            <a:off x="8483600" y="127000"/>
            <a:ext cx="558800" cy="571500"/>
          </a:xfrm>
          <a:prstGeom prst="rect">
            <a:avLst/>
          </a:prstGeom>
        </p:spPr>
      </p:pic>
      <p:sp>
        <p:nvSpPr>
          <p:cNvPr id="5" name="TextBox 4"/>
          <p:cNvSpPr txBox="1"/>
          <p:nvPr/>
        </p:nvSpPr>
        <p:spPr>
          <a:xfrm>
            <a:off x="1270000" y="774700"/>
            <a:ext cx="6604000" cy="177800"/>
          </a:xfrm>
          <a:prstGeom prst="rect">
            <a:avLst/>
          </a:prstGeom>
          <a:noFill/>
        </p:spPr>
        <p:txBody>
          <a:bodyPr wrap="square" lIns="0" rIns="0" tIns="0" bIns="0" anchor="t">
            <a:spAutoFit/>
          </a:bodyPr>
          <a:lstStyle/>
          <a:p>
            <a:pPr algn="ctr"/>
            <a:r>
              <a:rPr b="1" sz="1200" i="1">
                <a:solidFill>
                  <a:srgbClr val="008000"/>
                </a:solidFill>
                <a:latin typeface="Arial"/>
              </a:rPr>
              <a:t>Founded 1991 by Md. Alimullah Miyan</a:t>
            </a:r>
          </a:p>
        </p:txBody>
      </p:sp>
      <p:sp>
        <p:nvSpPr>
          <p:cNvPr id="6" name="TextBox 5"/>
          <p:cNvSpPr txBox="1"/>
          <p:nvPr/>
        </p:nvSpPr>
        <p:spPr>
          <a:xfrm>
            <a:off x="762000" y="1168400"/>
            <a:ext cx="7620000" cy="558800"/>
          </a:xfrm>
          <a:prstGeom prst="rect">
            <a:avLst/>
          </a:prstGeom>
          <a:noFill/>
        </p:spPr>
        <p:txBody>
          <a:bodyPr wrap="square" lIns="0" rIns="0" tIns="0" bIns="0" anchor="t">
            <a:spAutoFit/>
          </a:bodyPr>
          <a:lstStyle/>
          <a:p>
            <a:pPr algn="ctr"/>
            <a:r>
              <a:rPr b="1" sz="3000" i="0">
                <a:solidFill>
                  <a:srgbClr val="000000"/>
                </a:solidFill>
                <a:latin typeface="Times New Roman"/>
              </a:rPr>
              <a:t>Human Resource Management (HRM) System</a:t>
            </a:r>
          </a:p>
        </p:txBody>
      </p:sp>
      <p:sp>
        <p:nvSpPr>
          <p:cNvPr id="7" name="TextBox 6"/>
          <p:cNvSpPr txBox="1"/>
          <p:nvPr/>
        </p:nvSpPr>
        <p:spPr>
          <a:xfrm>
            <a:off x="1270000" y="2260600"/>
            <a:ext cx="6604000" cy="304800"/>
          </a:xfrm>
          <a:prstGeom prst="rect">
            <a:avLst/>
          </a:prstGeom>
          <a:noFill/>
        </p:spPr>
        <p:txBody>
          <a:bodyPr wrap="square" lIns="0" rIns="0" tIns="0" bIns="0" anchor="t">
            <a:spAutoFit/>
          </a:bodyPr>
          <a:lstStyle/>
          <a:p>
            <a:pPr algn="ctr"/>
            <a:r>
              <a:rPr b="1" sz="2000" i="0" u="sng">
                <a:solidFill>
                  <a:srgbClr val="000000"/>
                </a:solidFill>
                <a:latin typeface="Times New Roman"/>
              </a:rPr>
              <a:t>Course Code: Practicum CSC 490</a:t>
            </a:r>
          </a:p>
        </p:txBody>
      </p:sp>
      <p:sp>
        <p:nvSpPr>
          <p:cNvPr id="8" name="TextBox 7"/>
          <p:cNvSpPr txBox="1"/>
          <p:nvPr/>
        </p:nvSpPr>
        <p:spPr>
          <a:xfrm>
            <a:off x="1270000" y="2819400"/>
            <a:ext cx="6604000" cy="355600"/>
          </a:xfrm>
          <a:prstGeom prst="rect">
            <a:avLst/>
          </a:prstGeom>
          <a:noFill/>
        </p:spPr>
        <p:txBody>
          <a:bodyPr wrap="square" lIns="0" rIns="0" tIns="0" bIns="0" anchor="t">
            <a:spAutoFit/>
          </a:bodyPr>
          <a:lstStyle/>
          <a:p>
            <a:pPr algn="ctr"/>
            <a:r>
              <a:rPr b="1" sz="2400" i="0">
                <a:solidFill>
                  <a:srgbClr val="000000"/>
                </a:solidFill>
                <a:latin typeface="Times New Roman"/>
              </a:rPr>
              <a:t>Prepared for:</a:t>
            </a:r>
          </a:p>
        </p:txBody>
      </p:sp>
      <p:sp>
        <p:nvSpPr>
          <p:cNvPr id="9" name="TextBox 8"/>
          <p:cNvSpPr txBox="1"/>
          <p:nvPr/>
        </p:nvSpPr>
        <p:spPr>
          <a:xfrm>
            <a:off x="1270000" y="3302000"/>
            <a:ext cx="6604000" cy="304800"/>
          </a:xfrm>
          <a:prstGeom prst="rect">
            <a:avLst/>
          </a:prstGeom>
          <a:noFill/>
        </p:spPr>
        <p:txBody>
          <a:bodyPr wrap="square" lIns="0" rIns="0" tIns="0" bIns="0" anchor="t">
            <a:spAutoFit/>
          </a:bodyPr>
          <a:lstStyle/>
          <a:p>
            <a:pPr algn="ctr"/>
            <a:r>
              <a:rPr b="1" sz="2000" i="0">
                <a:solidFill>
                  <a:srgbClr val="000000"/>
                </a:solidFill>
                <a:latin typeface="Times New Roman"/>
              </a:rPr>
              <a:t>Practicum Defense Committee</a:t>
            </a:r>
          </a:p>
        </p:txBody>
      </p:sp>
      <p:sp>
        <p:nvSpPr>
          <p:cNvPr id="10" name="TextBox 9"/>
          <p:cNvSpPr txBox="1"/>
          <p:nvPr/>
        </p:nvSpPr>
        <p:spPr>
          <a:xfrm>
            <a:off x="1270000" y="3708400"/>
            <a:ext cx="6604000" cy="304800"/>
          </a:xfrm>
          <a:prstGeom prst="rect">
            <a:avLst/>
          </a:prstGeom>
          <a:noFill/>
        </p:spPr>
        <p:txBody>
          <a:bodyPr wrap="square" lIns="0" rIns="0" tIns="0" bIns="0" anchor="t">
            <a:spAutoFit/>
          </a:bodyPr>
          <a:lstStyle/>
          <a:p>
            <a:pPr algn="ctr"/>
            <a:r>
              <a:rPr b="1" sz="2000" i="0">
                <a:solidFill>
                  <a:srgbClr val="000000"/>
                </a:solidFill>
                <a:latin typeface="Times New Roman"/>
              </a:rPr>
              <a:t>Department of Computer Science and Engineering</a:t>
            </a:r>
          </a:p>
        </p:txBody>
      </p:sp>
      <p:sp>
        <p:nvSpPr>
          <p:cNvPr id="11" name="TextBox 10"/>
          <p:cNvSpPr txBox="1"/>
          <p:nvPr/>
        </p:nvSpPr>
        <p:spPr>
          <a:xfrm>
            <a:off x="508000" y="4699000"/>
            <a:ext cx="3302000" cy="279400"/>
          </a:xfrm>
          <a:prstGeom prst="rect">
            <a:avLst/>
          </a:prstGeom>
          <a:noFill/>
        </p:spPr>
        <p:txBody>
          <a:bodyPr wrap="square" lIns="0" rIns="0" tIns="0" bIns="0" anchor="t">
            <a:spAutoFit/>
          </a:bodyPr>
          <a:lstStyle/>
          <a:p>
            <a:pPr algn="ctr"/>
            <a:r>
              <a:rPr b="1" sz="1800" i="0" u="sng">
                <a:solidFill>
                  <a:srgbClr val="000000"/>
                </a:solidFill>
                <a:latin typeface="Times New Roman"/>
              </a:rPr>
              <a:t>Supervised by:</a:t>
            </a:r>
          </a:p>
        </p:txBody>
      </p:sp>
      <p:sp>
        <p:nvSpPr>
          <p:cNvPr id="12" name="TextBox 11"/>
          <p:cNvSpPr txBox="1"/>
          <p:nvPr/>
        </p:nvSpPr>
        <p:spPr>
          <a:xfrm>
            <a:off x="508000" y="5054600"/>
            <a:ext cx="3302000" cy="279400"/>
          </a:xfrm>
          <a:prstGeom prst="rect">
            <a:avLst/>
          </a:prstGeom>
          <a:noFill/>
        </p:spPr>
        <p:txBody>
          <a:bodyPr wrap="square" lIns="0" rIns="0" tIns="0" bIns="0" anchor="t">
            <a:spAutoFit/>
          </a:bodyPr>
          <a:lstStyle/>
          <a:p>
            <a:pPr algn="ctr"/>
            <a:r>
              <a:rPr sz="1800" i="0">
                <a:solidFill>
                  <a:srgbClr val="000000"/>
                </a:solidFill>
                <a:highlight>
                  <a:srgbClr val="FFFF00"/>
                </a:highlight>
                <a:latin typeface="Times New Roman"/>
              </a:rPr>
              <a:t>Supervisor Name</a:t>
            </a:r>
          </a:p>
        </p:txBody>
      </p:sp>
      <p:sp>
        <p:nvSpPr>
          <p:cNvPr id="13" name="TextBox 12"/>
          <p:cNvSpPr txBox="1"/>
          <p:nvPr/>
        </p:nvSpPr>
        <p:spPr>
          <a:xfrm>
            <a:off x="508000" y="5384800"/>
            <a:ext cx="3302000" cy="279400"/>
          </a:xfrm>
          <a:prstGeom prst="rect">
            <a:avLst/>
          </a:prstGeom>
          <a:noFill/>
        </p:spPr>
        <p:txBody>
          <a:bodyPr wrap="square" lIns="0" rIns="0" tIns="0" bIns="0" anchor="t">
            <a:spAutoFit/>
          </a:bodyPr>
          <a:lstStyle/>
          <a:p>
            <a:pPr algn="ctr"/>
            <a:r>
              <a:rPr sz="1800" i="0">
                <a:solidFill>
                  <a:srgbClr val="000000"/>
                </a:solidFill>
                <a:highlight>
                  <a:srgbClr val="FFFF00"/>
                </a:highlight>
                <a:latin typeface="Times New Roman"/>
              </a:rPr>
              <a:t>Designation</a:t>
            </a:r>
          </a:p>
        </p:txBody>
      </p:sp>
      <p:sp>
        <p:nvSpPr>
          <p:cNvPr id="14" name="TextBox 13"/>
          <p:cNvSpPr txBox="1"/>
          <p:nvPr/>
        </p:nvSpPr>
        <p:spPr>
          <a:xfrm>
            <a:off x="508000" y="5715000"/>
            <a:ext cx="3302000" cy="279400"/>
          </a:xfrm>
          <a:prstGeom prst="rect">
            <a:avLst/>
          </a:prstGeom>
          <a:noFill/>
        </p:spPr>
        <p:txBody>
          <a:bodyPr wrap="square" lIns="0" rIns="0" tIns="0" bIns="0" anchor="t">
            <a:spAutoFit/>
          </a:bodyPr>
          <a:lstStyle/>
          <a:p>
            <a:pPr algn="ctr"/>
            <a:r>
              <a:rPr b="0" sz="1800" i="0">
                <a:solidFill>
                  <a:srgbClr val="000000"/>
                </a:solidFill>
                <a:latin typeface="Times New Roman"/>
              </a:rPr>
              <a:t>Department of CSE, IUBAT</a:t>
            </a:r>
          </a:p>
        </p:txBody>
      </p:sp>
      <p:sp>
        <p:nvSpPr>
          <p:cNvPr id="15" name="TextBox 14"/>
          <p:cNvSpPr txBox="1"/>
          <p:nvPr/>
        </p:nvSpPr>
        <p:spPr>
          <a:xfrm>
            <a:off x="5334000" y="4699000"/>
            <a:ext cx="3302000" cy="279400"/>
          </a:xfrm>
          <a:prstGeom prst="rect">
            <a:avLst/>
          </a:prstGeom>
          <a:noFill/>
        </p:spPr>
        <p:txBody>
          <a:bodyPr wrap="square" lIns="0" rIns="0" tIns="0" bIns="0" anchor="t">
            <a:spAutoFit/>
          </a:bodyPr>
          <a:lstStyle/>
          <a:p>
            <a:pPr algn="ctr"/>
            <a:r>
              <a:rPr b="1" sz="1800" i="0" u="sng">
                <a:solidFill>
                  <a:srgbClr val="000000"/>
                </a:solidFill>
                <a:latin typeface="Times New Roman"/>
              </a:rPr>
              <a:t>Prepared by:</a:t>
            </a:r>
          </a:p>
        </p:txBody>
      </p:sp>
      <p:sp>
        <p:nvSpPr>
          <p:cNvPr id="16" name="TextBox 15"/>
          <p:cNvSpPr txBox="1"/>
          <p:nvPr/>
        </p:nvSpPr>
        <p:spPr>
          <a:xfrm>
            <a:off x="5334000" y="5054600"/>
            <a:ext cx="3302000" cy="279400"/>
          </a:xfrm>
          <a:prstGeom prst="rect">
            <a:avLst/>
          </a:prstGeom>
          <a:noFill/>
        </p:spPr>
        <p:txBody>
          <a:bodyPr wrap="square" lIns="0" rIns="0" tIns="0" bIns="0" anchor="t">
            <a:spAutoFit/>
          </a:bodyPr>
          <a:lstStyle/>
          <a:p>
            <a:pPr algn="ctr"/>
            <a:r>
              <a:rPr sz="1800" i="0">
                <a:solidFill>
                  <a:srgbClr val="000000"/>
                </a:solidFill>
                <a:highlight>
                  <a:srgbClr val="FFFF00"/>
                </a:highlight>
                <a:latin typeface="Times New Roman"/>
              </a:rPr>
              <a:t>Your Full Name</a:t>
            </a:r>
          </a:p>
        </p:txBody>
      </p:sp>
      <p:sp>
        <p:nvSpPr>
          <p:cNvPr id="17" name="TextBox 16"/>
          <p:cNvSpPr txBox="1"/>
          <p:nvPr/>
        </p:nvSpPr>
        <p:spPr>
          <a:xfrm>
            <a:off x="5334000" y="5384800"/>
            <a:ext cx="3302000" cy="279400"/>
          </a:xfrm>
          <a:prstGeom prst="rect">
            <a:avLst/>
          </a:prstGeom>
          <a:noFill/>
        </p:spPr>
        <p:txBody>
          <a:bodyPr wrap="square" lIns="0" rIns="0" tIns="0" bIns="0" anchor="t">
            <a:spAutoFit/>
          </a:bodyPr>
          <a:lstStyle/>
          <a:p>
            <a:pPr algn="ctr"/>
            <a:r>
              <a:rPr sz="1800" i="0">
                <a:solidFill>
                  <a:srgbClr val="000000"/>
                </a:solidFill>
                <a:highlight>
                  <a:srgbClr val="FFFF00"/>
                </a:highlight>
                <a:latin typeface="Times New Roman"/>
              </a:rPr>
              <a:t>Your Student ID</a:t>
            </a:r>
          </a:p>
        </p:txBody>
      </p:sp>
      <p:sp>
        <p:nvSpPr>
          <p:cNvPr id="18" name="TextBox 17"/>
          <p:cNvSpPr txBox="1"/>
          <p:nvPr/>
        </p:nvSpPr>
        <p:spPr>
          <a:xfrm>
            <a:off x="5334000" y="5715000"/>
            <a:ext cx="3302000" cy="279400"/>
          </a:xfrm>
          <a:prstGeom prst="rect">
            <a:avLst/>
          </a:prstGeom>
          <a:noFill/>
        </p:spPr>
        <p:txBody>
          <a:bodyPr wrap="square" lIns="0" rIns="0" tIns="0" bIns="0" anchor="t">
            <a:spAutoFit/>
          </a:bodyPr>
          <a:lstStyle/>
          <a:p>
            <a:pPr algn="ctr"/>
            <a:r>
              <a:rPr b="0" sz="1800" i="0">
                <a:solidFill>
                  <a:srgbClr val="000000"/>
                </a:solidFill>
                <a:latin typeface="Times New Roman"/>
              </a:rPr>
              <a:t>Program: BCSE</a:t>
            </a:r>
          </a:p>
        </p:txBody>
      </p:sp>
      <p:sp>
        <p:nvSpPr>
          <p:cNvPr id="19" name="TextBox 18"/>
          <p:cNvSpPr txBox="1"/>
          <p:nvPr/>
        </p:nvSpPr>
        <p:spPr>
          <a:xfrm>
            <a:off x="1270000" y="6299200"/>
            <a:ext cx="6604000" cy="304800"/>
          </a:xfrm>
          <a:prstGeom prst="rect">
            <a:avLst/>
          </a:prstGeom>
          <a:noFill/>
        </p:spPr>
        <p:txBody>
          <a:bodyPr wrap="square" lIns="0" rIns="0" tIns="0" bIns="0" anchor="t">
            <a:spAutoFit/>
          </a:bodyPr>
          <a:lstStyle/>
          <a:p>
            <a:pPr algn="ctr"/>
            <a:r>
              <a:rPr b="1" sz="1800" i="0">
                <a:solidFill>
                  <a:srgbClr val="000000"/>
                </a:solidFill>
                <a:latin typeface="Times New Roman"/>
              </a:rPr>
              <a:t>Date : </a:t>
            </a:r>
            <a:r>
              <a:rPr sz="1800" i="0">
                <a:solidFill>
                  <a:srgbClr val="000000"/>
                </a:solidFill>
                <a:highlight>
                  <a:srgbClr val="FFFF00"/>
                </a:highlight>
                <a:latin typeface="Times New Roman"/>
              </a:rPr>
              <a:t>dd/mm/yy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ubat.jpeg"/>
          <p:cNvPicPr>
            <a:picLocks noChangeAspect="1"/>
          </p:cNvPicPr>
          <p:nvPr/>
        </p:nvPicPr>
        <p:blipFill>
          <a:blip r:embed="rId2"/>
          <a:stretch>
            <a:fillRect/>
          </a:stretch>
        </p:blipFill>
        <p:spPr>
          <a:xfrm>
            <a:off x="50800" y="88900"/>
            <a:ext cx="609600" cy="533400"/>
          </a:xfrm>
          <a:prstGeom prst="rect">
            <a:avLst/>
          </a:prstGeom>
        </p:spPr>
      </p:pic>
      <p:pic>
        <p:nvPicPr>
          <p:cNvPr id="3" name="Picture 2" descr="cse.jpeg"/>
          <p:cNvPicPr>
            <a:picLocks noChangeAspect="1"/>
          </p:cNvPicPr>
          <p:nvPr/>
        </p:nvPicPr>
        <p:blipFill>
          <a:blip r:embed="rId3"/>
          <a:stretch>
            <a:fillRect/>
          </a:stretch>
        </p:blipFill>
        <p:spPr>
          <a:xfrm>
            <a:off x="8534400" y="127000"/>
            <a:ext cx="457200" cy="469900"/>
          </a:xfrm>
          <a:prstGeom prst="rect">
            <a:avLst/>
          </a:prstGeom>
        </p:spPr>
      </p:pic>
      <p:sp>
        <p:nvSpPr>
          <p:cNvPr id="4" name="TextBox 3"/>
          <p:cNvSpPr txBox="1"/>
          <p:nvPr/>
        </p:nvSpPr>
        <p:spPr>
          <a:xfrm>
            <a:off x="762000" y="152400"/>
            <a:ext cx="7620000" cy="558800"/>
          </a:xfrm>
          <a:prstGeom prst="rect">
            <a:avLst/>
          </a:prstGeom>
          <a:noFill/>
        </p:spPr>
        <p:txBody>
          <a:bodyPr wrap="square" lIns="0" rIns="0" tIns="0" bIns="0" anchor="ctr">
            <a:spAutoFit/>
          </a:bodyPr>
          <a:lstStyle/>
          <a:p>
            <a:pPr algn="ctr"/>
            <a:r>
              <a:rPr b="1" sz="3000" i="0">
                <a:solidFill>
                  <a:srgbClr val="000000"/>
                </a:solidFill>
                <a:latin typeface="Times New Roman"/>
              </a:rPr>
              <a:t>Table of Contents</a:t>
            </a:r>
          </a:p>
        </p:txBody>
      </p:sp>
      <p:sp>
        <p:nvSpPr>
          <p:cNvPr id="5" name="TextBox 4"/>
          <p:cNvSpPr txBox="1"/>
          <p:nvPr/>
        </p:nvSpPr>
        <p:spPr>
          <a:xfrm>
            <a:off x="546100" y="838200"/>
            <a:ext cx="8128000" cy="5461000"/>
          </a:xfrm>
          <a:prstGeom prst="rect">
            <a:avLst/>
          </a:prstGeom>
          <a:noFill/>
        </p:spPr>
        <p:txBody>
          <a:bodyPr wrap="square" lIns="0" rIns="0">
            <a:spAutoFit/>
          </a:bodyPr>
          <a:lstStyle/>
          <a:p>
            <a:pPr marL="342900" indent="-342900">
              <a:spcAft>
                <a:spcPts val="500"/>
              </a:spcAft>
              <a:buFont typeface="Arial"/>
              <a:buChar char="•"/>
            </a:pPr>
            <a:r>
              <a:rPr b="1" sz="1600" i="0">
                <a:solidFill>
                  <a:srgbClr val="000000"/>
                </a:solidFill>
                <a:latin typeface="Calibri"/>
              </a:rPr>
              <a:t>Organization Overview</a:t>
            </a:r>
          </a:p>
          <a:p>
            <a:pPr marL="342900" indent="-342900">
              <a:spcAft>
                <a:spcPts val="500"/>
              </a:spcAft>
              <a:buFont typeface="Arial"/>
              <a:buChar char="•"/>
            </a:pPr>
            <a:r>
              <a:rPr b="1" sz="1600" i="0">
                <a:solidFill>
                  <a:srgbClr val="000000"/>
                </a:solidFill>
                <a:latin typeface="Calibri"/>
              </a:rPr>
              <a:t>Project Overview</a:t>
            </a:r>
          </a:p>
          <a:p>
            <a:pPr marL="342900" indent="-342900">
              <a:spcAft>
                <a:spcPts val="500"/>
              </a:spcAft>
              <a:buFont typeface="Arial"/>
              <a:buChar char="•"/>
            </a:pPr>
            <a:r>
              <a:rPr b="1" sz="1600" i="0">
                <a:solidFill>
                  <a:srgbClr val="000000"/>
                </a:solidFill>
                <a:latin typeface="Calibri"/>
              </a:rPr>
              <a:t>Objectives</a:t>
            </a:r>
          </a:p>
          <a:p>
            <a:pPr marL="342900" indent="-342900">
              <a:spcAft>
                <a:spcPts val="500"/>
              </a:spcAft>
              <a:buFont typeface="Arial"/>
              <a:buChar char="•"/>
            </a:pPr>
            <a:r>
              <a:rPr b="1" sz="1600" i="0">
                <a:solidFill>
                  <a:srgbClr val="000000"/>
                </a:solidFill>
                <a:latin typeface="Calibri"/>
              </a:rPr>
              <a:t>Feasibility Analysis</a:t>
            </a:r>
          </a:p>
          <a:p>
            <a:pPr marL="342900" indent="-342900">
              <a:spcAft>
                <a:spcPts val="500"/>
              </a:spcAft>
              <a:buFont typeface="Arial"/>
              <a:buChar char="•"/>
            </a:pPr>
            <a:r>
              <a:rPr b="1" sz="1600" i="0">
                <a:solidFill>
                  <a:srgbClr val="000000"/>
                </a:solidFill>
                <a:latin typeface="Calibri"/>
              </a:rPr>
              <a:t>Design Requirements &amp; Process Model</a:t>
            </a:r>
          </a:p>
          <a:p>
            <a:pPr marL="342900" indent="-342900">
              <a:spcAft>
                <a:spcPts val="500"/>
              </a:spcAft>
              <a:buFont typeface="Arial"/>
              <a:buChar char="•"/>
            </a:pPr>
            <a:r>
              <a:rPr b="1" sz="1600" i="0">
                <a:solidFill>
                  <a:srgbClr val="000000"/>
                </a:solidFill>
                <a:latin typeface="Calibri"/>
              </a:rPr>
              <a:t>Requirement Engineering</a:t>
            </a:r>
          </a:p>
          <a:p>
            <a:pPr marL="342900" indent="-342900">
              <a:spcAft>
                <a:spcPts val="500"/>
              </a:spcAft>
              <a:buFont typeface="Arial"/>
              <a:buChar char="•"/>
            </a:pPr>
            <a:r>
              <a:rPr b="1" sz="1600" i="0">
                <a:solidFill>
                  <a:srgbClr val="000000"/>
                </a:solidFill>
                <a:latin typeface="Calibri"/>
              </a:rPr>
              <a:t>System Analysis</a:t>
            </a:r>
          </a:p>
          <a:p>
            <a:pPr marL="342900" indent="-342900">
              <a:spcAft>
                <a:spcPts val="500"/>
              </a:spcAft>
              <a:buFont typeface="Arial"/>
              <a:buChar char="•"/>
            </a:pPr>
            <a:r>
              <a:rPr b="1" sz="1600" i="0">
                <a:solidFill>
                  <a:srgbClr val="000000"/>
                </a:solidFill>
                <a:latin typeface="Calibri"/>
              </a:rPr>
              <a:t>Analysis &amp; Design Diagrams</a:t>
            </a:r>
          </a:p>
          <a:p>
            <a:pPr marL="342900" indent="-342900">
              <a:spcAft>
                <a:spcPts val="500"/>
              </a:spcAft>
              <a:buFont typeface="Arial"/>
              <a:buChar char="•"/>
            </a:pPr>
            <a:r>
              <a:rPr b="1" sz="1600" i="0">
                <a:solidFill>
                  <a:srgbClr val="000000"/>
                </a:solidFill>
                <a:latin typeface="Calibri"/>
              </a:rPr>
              <a:t>System Planning &amp; Estimation</a:t>
            </a:r>
          </a:p>
          <a:p>
            <a:pPr marL="342900" indent="-342900">
              <a:spcAft>
                <a:spcPts val="500"/>
              </a:spcAft>
              <a:buFont typeface="Arial"/>
              <a:buChar char="•"/>
            </a:pPr>
            <a:r>
              <a:rPr b="1" sz="1600" i="0">
                <a:solidFill>
                  <a:srgbClr val="000000"/>
                </a:solidFill>
                <a:latin typeface="Calibri"/>
              </a:rPr>
              <a:t>Risk Management</a:t>
            </a:r>
          </a:p>
          <a:p>
            <a:pPr marL="342900" indent="-342900">
              <a:spcAft>
                <a:spcPts val="500"/>
              </a:spcAft>
              <a:buFont typeface="Arial"/>
              <a:buChar char="•"/>
            </a:pPr>
            <a:r>
              <a:rPr b="1" sz="1600" i="0">
                <a:solidFill>
                  <a:srgbClr val="000000"/>
                </a:solidFill>
                <a:latin typeface="Calibri"/>
              </a:rPr>
              <a:t>Testing</a:t>
            </a:r>
          </a:p>
          <a:p>
            <a:pPr marL="342900" indent="-342900">
              <a:spcAft>
                <a:spcPts val="500"/>
              </a:spcAft>
              <a:buFont typeface="Arial"/>
              <a:buChar char="•"/>
            </a:pPr>
            <a:r>
              <a:rPr b="1" sz="1600" i="0">
                <a:solidFill>
                  <a:srgbClr val="000000"/>
                </a:solidFill>
                <a:latin typeface="Calibri"/>
              </a:rPr>
              <a:t>Demonstration</a:t>
            </a:r>
          </a:p>
          <a:p>
            <a:pPr marL="342900" indent="-342900">
              <a:spcAft>
                <a:spcPts val="500"/>
              </a:spcAft>
              <a:buFont typeface="Arial"/>
              <a:buChar char="•"/>
            </a:pPr>
            <a:r>
              <a:rPr b="1" sz="1600" i="0">
                <a:solidFill>
                  <a:srgbClr val="000000"/>
                </a:solidFill>
                <a:latin typeface="Calibri"/>
              </a:rPr>
              <a:t>Limitations &amp; Future Work</a:t>
            </a:r>
          </a:p>
          <a:p>
            <a:pPr marL="342900" indent="-342900">
              <a:spcAft>
                <a:spcPts val="500"/>
              </a:spcAft>
              <a:buFont typeface="Arial"/>
              <a:buChar char="•"/>
            </a:pPr>
            <a:r>
              <a:rPr b="1" sz="1600" i="0">
                <a:solidFill>
                  <a:srgbClr val="000000"/>
                </a:solidFill>
                <a:latin typeface="Calibri"/>
              </a:rPr>
              <a:t>Conclusion</a:t>
            </a:r>
          </a:p>
        </p:txBody>
      </p:sp>
      <p:sp>
        <p:nvSpPr>
          <p:cNvPr id="6" name="TextBox 5"/>
          <p:cNvSpPr txBox="1"/>
          <p:nvPr/>
        </p:nvSpPr>
        <p:spPr>
          <a:xfrm>
            <a:off x="8382000" y="6578600"/>
            <a:ext cx="635000" cy="228600"/>
          </a:xfrm>
          <a:prstGeom prst="rect">
            <a:avLst/>
          </a:prstGeom>
          <a:noFill/>
        </p:spPr>
        <p:txBody>
          <a:bodyPr wrap="square" lIns="0" rIns="0" tIns="0" bIns="0" anchor="t">
            <a:spAutoFit/>
          </a:bodyPr>
          <a:lstStyle/>
          <a:p>
            <a:pPr algn="r"/>
            <a:r>
              <a:rPr b="0" sz="1200" i="0">
                <a:solidFill>
                  <a:srgbClr val="000000"/>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ubat.jpeg"/>
          <p:cNvPicPr>
            <a:picLocks noChangeAspect="1"/>
          </p:cNvPicPr>
          <p:nvPr/>
        </p:nvPicPr>
        <p:blipFill>
          <a:blip r:embed="rId2"/>
          <a:stretch>
            <a:fillRect/>
          </a:stretch>
        </p:blipFill>
        <p:spPr>
          <a:xfrm>
            <a:off x="50800" y="88900"/>
            <a:ext cx="609600" cy="533400"/>
          </a:xfrm>
          <a:prstGeom prst="rect">
            <a:avLst/>
          </a:prstGeom>
        </p:spPr>
      </p:pic>
      <p:pic>
        <p:nvPicPr>
          <p:cNvPr id="3" name="Picture 2" descr="cse.jpeg"/>
          <p:cNvPicPr>
            <a:picLocks noChangeAspect="1"/>
          </p:cNvPicPr>
          <p:nvPr/>
        </p:nvPicPr>
        <p:blipFill>
          <a:blip r:embed="rId3"/>
          <a:stretch>
            <a:fillRect/>
          </a:stretch>
        </p:blipFill>
        <p:spPr>
          <a:xfrm>
            <a:off x="8534400" y="127000"/>
            <a:ext cx="457200" cy="469900"/>
          </a:xfrm>
          <a:prstGeom prst="rect">
            <a:avLst/>
          </a:prstGeom>
        </p:spPr>
      </p:pic>
      <p:sp>
        <p:nvSpPr>
          <p:cNvPr id="4" name="TextBox 3"/>
          <p:cNvSpPr txBox="1"/>
          <p:nvPr/>
        </p:nvSpPr>
        <p:spPr>
          <a:xfrm>
            <a:off x="762000" y="152400"/>
            <a:ext cx="7620000" cy="558800"/>
          </a:xfrm>
          <a:prstGeom prst="rect">
            <a:avLst/>
          </a:prstGeom>
          <a:noFill/>
        </p:spPr>
        <p:txBody>
          <a:bodyPr wrap="square" lIns="0" rIns="0" tIns="0" bIns="0" anchor="ctr">
            <a:spAutoFit/>
          </a:bodyPr>
          <a:lstStyle/>
          <a:p>
            <a:pPr algn="ctr"/>
            <a:r>
              <a:rPr b="1" sz="3000" i="0">
                <a:solidFill>
                  <a:srgbClr val="000000"/>
                </a:solidFill>
                <a:latin typeface="Times New Roman"/>
              </a:rPr>
              <a:t>Organization Overview</a:t>
            </a:r>
          </a:p>
        </p:txBody>
      </p:sp>
      <p:sp>
        <p:nvSpPr>
          <p:cNvPr id="5" name="TextBox 4"/>
          <p:cNvSpPr txBox="1"/>
          <p:nvPr/>
        </p:nvSpPr>
        <p:spPr>
          <a:xfrm>
            <a:off x="546100" y="889000"/>
            <a:ext cx="8128000" cy="5588000"/>
          </a:xfrm>
          <a:prstGeom prst="rect">
            <a:avLst/>
          </a:prstGeom>
          <a:noFill/>
        </p:spPr>
        <p:txBody>
          <a:bodyPr wrap="square">
            <a:spAutoFit/>
          </a:bodyPr>
          <a:lstStyle/>
          <a:p>
            <a:pPr>
              <a:spcAft>
                <a:spcPts val="1400"/>
              </a:spcAft>
            </a:pPr>
            <a:r>
              <a:rPr b="1" sz="1800" i="0">
                <a:solidFill>
                  <a:srgbClr val="000000"/>
                </a:solidFill>
                <a:latin typeface="Times New Roman"/>
              </a:rPr>
              <a:t>Organization:</a:t>
            </a:r>
            <a:r>
              <a:rPr b="0" sz="1800" i="0">
                <a:solidFill>
                  <a:srgbClr val="000000"/>
                </a:solidFill>
                <a:latin typeface="Times New Roman"/>
              </a:rPr>
              <a:t> </a:t>
            </a:r>
            <a:r>
              <a:rPr sz="1800" i="0">
                <a:solidFill>
                  <a:srgbClr val="000000"/>
                </a:solidFill>
                <a:highlight>
                  <a:srgbClr val="FFFF00"/>
                </a:highlight>
                <a:latin typeface="Times New Roman"/>
              </a:rPr>
              <a:t>Organization Name</a:t>
            </a:r>
          </a:p>
          <a:p>
            <a:pPr>
              <a:spcAft>
                <a:spcPts val="1400"/>
              </a:spcAft>
            </a:pPr>
            <a:r>
              <a:rPr b="1" sz="1800" i="0">
                <a:solidFill>
                  <a:srgbClr val="000000"/>
                </a:solidFill>
                <a:latin typeface="Times New Roman"/>
              </a:rPr>
              <a:t>About:</a:t>
            </a:r>
            <a:r>
              <a:rPr b="0" sz="1800" i="0">
                <a:solidFill>
                  <a:srgbClr val="000000"/>
                </a:solidFill>
                <a:latin typeface="Times New Roman"/>
              </a:rPr>
              <a:t> </a:t>
            </a:r>
            <a:r>
              <a:rPr sz="1800" i="0">
                <a:solidFill>
                  <a:srgbClr val="000000"/>
                </a:solidFill>
                <a:highlight>
                  <a:srgbClr val="FFFF00"/>
                </a:highlight>
                <a:latin typeface="Times New Roman"/>
              </a:rPr>
              <a:t>Organization Name</a:t>
            </a:r>
            <a:r>
              <a:rPr b="0" sz="1800" i="0">
                <a:solidFill>
                  <a:srgbClr val="000000"/>
                </a:solidFill>
                <a:latin typeface="Times New Roman"/>
              </a:rPr>
              <a:t> is a Bangladesh-based software development and technology company offering </a:t>
            </a:r>
            <a:r>
              <a:rPr sz="1800" i="0">
                <a:solidFill>
                  <a:srgbClr val="000000"/>
                </a:solidFill>
                <a:highlight>
                  <a:srgbClr val="FFFF00"/>
                </a:highlight>
                <a:latin typeface="Times New Roman"/>
              </a:rPr>
              <a:t>custom software engineering, ERP/HR products and full-stack web development solutions</a:t>
            </a:r>
            <a:r>
              <a:rPr b="0" sz="1800" i="0">
                <a:solidFill>
                  <a:srgbClr val="000000"/>
                </a:solidFill>
                <a:latin typeface="Times New Roman"/>
              </a:rPr>
              <a:t>.</a:t>
            </a:r>
          </a:p>
          <a:p>
            <a:pPr>
              <a:spcAft>
                <a:spcPts val="1400"/>
              </a:spcAft>
            </a:pPr>
            <a:r>
              <a:rPr b="1" sz="1800" i="0">
                <a:solidFill>
                  <a:srgbClr val="000000"/>
                </a:solidFill>
                <a:latin typeface="Times New Roman"/>
              </a:rPr>
              <a:t>Services:</a:t>
            </a:r>
            <a:r>
              <a:rPr b="0" sz="1800" i="0">
                <a:solidFill>
                  <a:srgbClr val="000000"/>
                </a:solidFill>
                <a:latin typeface="Times New Roman"/>
              </a:rPr>
              <a:t> </a:t>
            </a:r>
            <a:r>
              <a:rPr sz="1800" i="0">
                <a:solidFill>
                  <a:srgbClr val="000000"/>
                </a:solidFill>
                <a:highlight>
                  <a:srgbClr val="FFFF00"/>
                </a:highlight>
                <a:latin typeface="Times New Roman"/>
              </a:rPr>
              <a:t>Specializes in enterprise business applications (.NET, Angular, SQL Server), ERP and HR/payroll solutions, web and mobile application development, API integrations and AI-driven automation for growing businesses.</a:t>
            </a:r>
          </a:p>
          <a:p>
            <a:pPr>
              <a:spcAft>
                <a:spcPts val="1400"/>
              </a:spcAft>
            </a:pPr>
            <a:r>
              <a:rPr b="1" sz="1800" i="0">
                <a:solidFill>
                  <a:srgbClr val="000000"/>
                </a:solidFill>
                <a:latin typeface="Times New Roman"/>
              </a:rPr>
              <a:t>Organization Address:</a:t>
            </a:r>
            <a:r>
              <a:rPr b="0" sz="1800" i="0">
                <a:solidFill>
                  <a:srgbClr val="000000"/>
                </a:solidFill>
                <a:latin typeface="Times New Roman"/>
              </a:rPr>
              <a:t> </a:t>
            </a:r>
            <a:r>
              <a:rPr sz="1800" i="0">
                <a:solidFill>
                  <a:srgbClr val="000000"/>
                </a:solidFill>
                <a:highlight>
                  <a:srgbClr val="FFFF00"/>
                </a:highlight>
                <a:latin typeface="Times New Roman"/>
              </a:rPr>
              <a:t>Street address, Area, City-Postcode, Bangladesh</a:t>
            </a:r>
          </a:p>
        </p:txBody>
      </p:sp>
      <p:sp>
        <p:nvSpPr>
          <p:cNvPr id="6" name="TextBox 5"/>
          <p:cNvSpPr txBox="1"/>
          <p:nvPr/>
        </p:nvSpPr>
        <p:spPr>
          <a:xfrm>
            <a:off x="8382000" y="6578600"/>
            <a:ext cx="635000" cy="228600"/>
          </a:xfrm>
          <a:prstGeom prst="rect">
            <a:avLst/>
          </a:prstGeom>
          <a:noFill/>
        </p:spPr>
        <p:txBody>
          <a:bodyPr wrap="square" lIns="0" rIns="0" tIns="0" bIns="0" anchor="t">
            <a:spAutoFit/>
          </a:bodyPr>
          <a:lstStyle/>
          <a:p>
            <a:pPr algn="r"/>
            <a:r>
              <a:rPr b="0" sz="1200" i="0">
                <a:solidFill>
                  <a:srgbClr val="000000"/>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ubat.jpeg"/>
          <p:cNvPicPr>
            <a:picLocks noChangeAspect="1"/>
          </p:cNvPicPr>
          <p:nvPr/>
        </p:nvPicPr>
        <p:blipFill>
          <a:blip r:embed="rId2"/>
          <a:stretch>
            <a:fillRect/>
          </a:stretch>
        </p:blipFill>
        <p:spPr>
          <a:xfrm>
            <a:off x="50800" y="88900"/>
            <a:ext cx="609600" cy="533400"/>
          </a:xfrm>
          <a:prstGeom prst="rect">
            <a:avLst/>
          </a:prstGeom>
        </p:spPr>
      </p:pic>
      <p:pic>
        <p:nvPicPr>
          <p:cNvPr id="3" name="Picture 2" descr="cse.jpeg"/>
          <p:cNvPicPr>
            <a:picLocks noChangeAspect="1"/>
          </p:cNvPicPr>
          <p:nvPr/>
        </p:nvPicPr>
        <p:blipFill>
          <a:blip r:embed="rId3"/>
          <a:stretch>
            <a:fillRect/>
          </a:stretch>
        </p:blipFill>
        <p:spPr>
          <a:xfrm>
            <a:off x="8534400" y="127000"/>
            <a:ext cx="457200" cy="469900"/>
          </a:xfrm>
          <a:prstGeom prst="rect">
            <a:avLst/>
          </a:prstGeom>
        </p:spPr>
      </p:pic>
      <p:sp>
        <p:nvSpPr>
          <p:cNvPr id="4" name="TextBox 3"/>
          <p:cNvSpPr txBox="1"/>
          <p:nvPr/>
        </p:nvSpPr>
        <p:spPr>
          <a:xfrm>
            <a:off x="762000" y="152400"/>
            <a:ext cx="7620000" cy="558800"/>
          </a:xfrm>
          <a:prstGeom prst="rect">
            <a:avLst/>
          </a:prstGeom>
          <a:noFill/>
        </p:spPr>
        <p:txBody>
          <a:bodyPr wrap="square" lIns="0" rIns="0" tIns="0" bIns="0" anchor="ctr">
            <a:spAutoFit/>
          </a:bodyPr>
          <a:lstStyle/>
          <a:p>
            <a:pPr algn="ctr"/>
            <a:r>
              <a:rPr b="1" sz="3000" i="0">
                <a:solidFill>
                  <a:srgbClr val="000000"/>
                </a:solidFill>
                <a:latin typeface="Times New Roman"/>
              </a:rPr>
              <a:t>Certificate</a:t>
            </a:r>
          </a:p>
        </p:txBody>
      </p:sp>
      <p:sp>
        <p:nvSpPr>
          <p:cNvPr id="5" name="Rectangle 4"/>
          <p:cNvSpPr/>
          <p:nvPr/>
        </p:nvSpPr>
        <p:spPr>
          <a:xfrm>
            <a:off x="1143000" y="838200"/>
            <a:ext cx="6858000" cy="5334000"/>
          </a:xfrm>
          <a:prstGeom prst="rect">
            <a:avLst/>
          </a:prstGeom>
          <a:solidFill>
            <a:srgbClr val="FAFAFA"/>
          </a:solidFill>
          <a:ln w="12700">
            <a:solidFill>
              <a:srgbClr val="595959"/>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i="1">
                <a:solidFill>
                  <a:srgbClr val="595959"/>
                </a:solidFill>
                <a:latin typeface="Calibri"/>
                <a:highlight>
                  <a:srgbClr val="FFFF00"/>
                </a:highlight>
              </a:rPr>
              <a:t>[Insert image: Internship certificate (scan)]</a:t>
            </a:r>
          </a:p>
        </p:txBody>
      </p:sp>
      <p:sp>
        <p:nvSpPr>
          <p:cNvPr id="6" name="TextBox 5"/>
          <p:cNvSpPr txBox="1"/>
          <p:nvPr/>
        </p:nvSpPr>
        <p:spPr>
          <a:xfrm>
            <a:off x="8382000" y="6578600"/>
            <a:ext cx="635000" cy="228600"/>
          </a:xfrm>
          <a:prstGeom prst="rect">
            <a:avLst/>
          </a:prstGeom>
          <a:noFill/>
        </p:spPr>
        <p:txBody>
          <a:bodyPr wrap="square" lIns="0" rIns="0" tIns="0" bIns="0" anchor="t">
            <a:spAutoFit/>
          </a:bodyPr>
          <a:lstStyle/>
          <a:p>
            <a:pPr algn="r"/>
            <a:r>
              <a:rPr b="0" sz="1200" i="0">
                <a:solidFill>
                  <a:srgbClr val="000000"/>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ubat.jpeg"/>
          <p:cNvPicPr>
            <a:picLocks noChangeAspect="1"/>
          </p:cNvPicPr>
          <p:nvPr/>
        </p:nvPicPr>
        <p:blipFill>
          <a:blip r:embed="rId2"/>
          <a:stretch>
            <a:fillRect/>
          </a:stretch>
        </p:blipFill>
        <p:spPr>
          <a:xfrm>
            <a:off x="50800" y="88900"/>
            <a:ext cx="609600" cy="533400"/>
          </a:xfrm>
          <a:prstGeom prst="rect">
            <a:avLst/>
          </a:prstGeom>
        </p:spPr>
      </p:pic>
      <p:pic>
        <p:nvPicPr>
          <p:cNvPr id="3" name="Picture 2" descr="cse.jpeg"/>
          <p:cNvPicPr>
            <a:picLocks noChangeAspect="1"/>
          </p:cNvPicPr>
          <p:nvPr/>
        </p:nvPicPr>
        <p:blipFill>
          <a:blip r:embed="rId3"/>
          <a:stretch>
            <a:fillRect/>
          </a:stretch>
        </p:blipFill>
        <p:spPr>
          <a:xfrm>
            <a:off x="8534400" y="127000"/>
            <a:ext cx="457200" cy="469900"/>
          </a:xfrm>
          <a:prstGeom prst="rect">
            <a:avLst/>
          </a:prstGeom>
        </p:spPr>
      </p:pic>
      <p:sp>
        <p:nvSpPr>
          <p:cNvPr id="4" name="TextBox 3"/>
          <p:cNvSpPr txBox="1"/>
          <p:nvPr/>
        </p:nvSpPr>
        <p:spPr>
          <a:xfrm>
            <a:off x="762000" y="152400"/>
            <a:ext cx="7620000" cy="558800"/>
          </a:xfrm>
          <a:prstGeom prst="rect">
            <a:avLst/>
          </a:prstGeom>
          <a:noFill/>
        </p:spPr>
        <p:txBody>
          <a:bodyPr wrap="square" lIns="0" rIns="0" tIns="0" bIns="0" anchor="ctr">
            <a:spAutoFit/>
          </a:bodyPr>
          <a:lstStyle/>
          <a:p>
            <a:pPr algn="ctr"/>
            <a:r>
              <a:rPr b="1" sz="3000" i="0">
                <a:solidFill>
                  <a:srgbClr val="000000"/>
                </a:solidFill>
                <a:latin typeface="Times New Roman"/>
              </a:rPr>
              <a:t>Project Overview</a:t>
            </a:r>
          </a:p>
        </p:txBody>
      </p:sp>
      <p:sp>
        <p:nvSpPr>
          <p:cNvPr id="5" name="TextBox 4"/>
          <p:cNvSpPr txBox="1"/>
          <p:nvPr/>
        </p:nvSpPr>
        <p:spPr>
          <a:xfrm>
            <a:off x="546100" y="812800"/>
            <a:ext cx="8128000" cy="2032000"/>
          </a:xfrm>
          <a:prstGeom prst="rect">
            <a:avLst/>
          </a:prstGeom>
          <a:noFill/>
        </p:spPr>
        <p:txBody>
          <a:bodyPr wrap="square">
            <a:spAutoFit/>
          </a:bodyPr>
          <a:lstStyle/>
          <a:p>
            <a:pPr>
              <a:spcAft>
                <a:spcPts val="800"/>
              </a:spcAft>
            </a:pPr>
            <a:r>
              <a:rPr b="0" sz="1500" i="0">
                <a:solidFill>
                  <a:srgbClr val="000000"/>
                </a:solidFill>
                <a:latin typeface="Times New Roman"/>
              </a:rPr>
              <a:t>The Human Resource Management (HRM) System is a web-based, multi-company application designed to digitize and automate the daily people-operations of an organization: attendance, leave and payroll.</a:t>
            </a:r>
          </a:p>
          <a:p>
            <a:pPr>
              <a:spcAft>
                <a:spcPts val="800"/>
              </a:spcAft>
            </a:pPr>
            <a:r>
              <a:rPr b="1" sz="1500" i="0">
                <a:solidFill>
                  <a:srgbClr val="000000"/>
                </a:solidFill>
                <a:latin typeface="Times New Roman"/>
              </a:rPr>
              <a:t>Problem:</a:t>
            </a:r>
            <a:r>
              <a:rPr b="0" sz="1500" i="0">
                <a:solidFill>
                  <a:srgbClr val="000000"/>
                </a:solidFill>
                <a:latin typeface="Times New Roman"/>
              </a:rPr>
              <a:t> conventional HR administration is manual and opaque – attendance on paper or spreadsheets, leave handled by e-mail, salaries calculated by hand – producing inaccurate records, disputes over late marks and deductions, and no visibility for employees.</a:t>
            </a:r>
          </a:p>
          <a:p>
            <a:pPr>
              <a:spcAft>
                <a:spcPts val="800"/>
              </a:spcAft>
            </a:pPr>
            <a:r>
              <a:rPr b="1" sz="1500" i="0">
                <a:solidFill>
                  <a:srgbClr val="000000"/>
                </a:solidFill>
                <a:latin typeface="Times New Roman"/>
              </a:rPr>
              <a:t>Solution:</a:t>
            </a:r>
            <a:r>
              <a:rPr b="0" sz="1500" i="0">
                <a:solidFill>
                  <a:srgbClr val="000000"/>
                </a:solidFill>
                <a:latin typeface="Times New Roman"/>
              </a:rPr>
              <a:t> a complete, secure, role-based online platform where:</a:t>
            </a:r>
          </a:p>
        </p:txBody>
      </p:sp>
      <p:sp>
        <p:nvSpPr>
          <p:cNvPr id="6" name="TextBox 5"/>
          <p:cNvSpPr txBox="1"/>
          <p:nvPr/>
        </p:nvSpPr>
        <p:spPr>
          <a:xfrm>
            <a:off x="546100" y="2819400"/>
            <a:ext cx="8128000" cy="3556000"/>
          </a:xfrm>
          <a:prstGeom prst="rect">
            <a:avLst/>
          </a:prstGeom>
          <a:noFill/>
        </p:spPr>
        <p:txBody>
          <a:bodyPr wrap="square" lIns="0" rIns="0">
            <a:spAutoFit/>
          </a:bodyPr>
          <a:lstStyle/>
          <a:p>
            <a:pPr marL="342900" indent="-342900">
              <a:spcAft>
                <a:spcPts val="300"/>
              </a:spcAft>
              <a:buFont typeface="Arial"/>
              <a:buChar char="•"/>
            </a:pPr>
            <a:r>
              <a:rPr b="0" sz="1400" i="0">
                <a:solidFill>
                  <a:srgbClr val="000000"/>
                </a:solidFill>
                <a:latin typeface="Calibri"/>
              </a:rPr>
              <a:t>Users log in securely with JWT access tokens and refresh-token cookies</a:t>
            </a:r>
          </a:p>
          <a:p>
            <a:pPr marL="342900" indent="-342900">
              <a:spcAft>
                <a:spcPts val="300"/>
              </a:spcAft>
              <a:buFont typeface="Arial"/>
              <a:buChar char="•"/>
            </a:pPr>
            <a:r>
              <a:rPr b="0" sz="1400" i="0">
                <a:solidFill>
                  <a:srgbClr val="000000"/>
                </a:solidFill>
                <a:latin typeface="Calibri"/>
              </a:rPr>
              <a:t>Super Admin onboards and manages companies; each company’s data is isolated</a:t>
            </a:r>
          </a:p>
          <a:p>
            <a:pPr marL="342900" indent="-342900">
              <a:spcAft>
                <a:spcPts val="300"/>
              </a:spcAft>
              <a:buFont typeface="Arial"/>
              <a:buChar char="•"/>
            </a:pPr>
            <a:r>
              <a:rPr b="0" sz="1400" i="0">
                <a:solidFill>
                  <a:srgbClr val="000000"/>
                </a:solidFill>
                <a:latin typeface="Calibri"/>
              </a:rPr>
              <a:t>Company Admin manages departments, roles, employees, leave and payroll</a:t>
            </a:r>
          </a:p>
          <a:p>
            <a:pPr marL="342900" indent="-342900">
              <a:spcAft>
                <a:spcPts val="300"/>
              </a:spcAft>
              <a:buFont typeface="Arial"/>
              <a:buChar char="•"/>
            </a:pPr>
            <a:r>
              <a:rPr b="0" sz="1400" i="0">
                <a:solidFill>
                  <a:srgbClr val="000000"/>
                </a:solidFill>
                <a:latin typeface="Calibri"/>
              </a:rPr>
              <a:t>Employees check in / check out; late and early-leave minutes are computed automatically</a:t>
            </a:r>
          </a:p>
          <a:p>
            <a:pPr marL="342900" indent="-342900">
              <a:spcAft>
                <a:spcPts val="300"/>
              </a:spcAft>
              <a:buFont typeface="Arial"/>
              <a:buChar char="•"/>
            </a:pPr>
            <a:r>
              <a:rPr b="0" sz="1400" i="0">
                <a:solidFill>
                  <a:srgbClr val="000000"/>
                </a:solidFill>
                <a:latin typeface="Calibri"/>
              </a:rPr>
              <a:t>A scheduled job marks absent employees every working day (with startup catch-up)</a:t>
            </a:r>
          </a:p>
          <a:p>
            <a:pPr marL="342900" indent="-342900">
              <a:spcAft>
                <a:spcPts val="300"/>
              </a:spcAft>
              <a:buFont typeface="Arial"/>
              <a:buChar char="•"/>
            </a:pPr>
            <a:r>
              <a:rPr b="0" sz="1400" i="0">
                <a:solidFill>
                  <a:srgbClr val="000000"/>
                </a:solidFill>
                <a:latin typeface="Calibri"/>
              </a:rPr>
              <a:t>Approved leave is reflected in attendance as “On Leave” days</a:t>
            </a:r>
          </a:p>
          <a:p>
            <a:pPr marL="342900" indent="-342900">
              <a:spcAft>
                <a:spcPts val="300"/>
              </a:spcAft>
              <a:buFont typeface="Arial"/>
              <a:buChar char="•"/>
            </a:pPr>
            <a:r>
              <a:rPr b="0" sz="1400" i="0">
                <a:solidFill>
                  <a:srgbClr val="000000"/>
                </a:solidFill>
                <a:latin typeface="Calibri"/>
              </a:rPr>
              <a:t>Monthly payroll is generated automatically with absence and late deductions; live projection available</a:t>
            </a:r>
          </a:p>
          <a:p>
            <a:pPr marL="342900" indent="-342900">
              <a:spcAft>
                <a:spcPts val="300"/>
              </a:spcAft>
              <a:buFont typeface="Arial"/>
              <a:buChar char="•"/>
            </a:pPr>
            <a:r>
              <a:rPr b="0" sz="1400" i="0">
                <a:solidFill>
                  <a:srgbClr val="000000"/>
                </a:solidFill>
                <a:latin typeface="Calibri"/>
              </a:rPr>
              <a:t>An AI HR assistant answers questions from the company’s own attendance and leave data</a:t>
            </a:r>
          </a:p>
        </p:txBody>
      </p:sp>
      <p:sp>
        <p:nvSpPr>
          <p:cNvPr id="7" name="TextBox 6"/>
          <p:cNvSpPr txBox="1"/>
          <p:nvPr/>
        </p:nvSpPr>
        <p:spPr>
          <a:xfrm>
            <a:off x="8382000" y="6578600"/>
            <a:ext cx="635000" cy="228600"/>
          </a:xfrm>
          <a:prstGeom prst="rect">
            <a:avLst/>
          </a:prstGeom>
          <a:noFill/>
        </p:spPr>
        <p:txBody>
          <a:bodyPr wrap="square" lIns="0" rIns="0" tIns="0" bIns="0" anchor="t">
            <a:spAutoFit/>
          </a:bodyPr>
          <a:lstStyle/>
          <a:p>
            <a:pPr algn="r"/>
            <a:r>
              <a:rPr b="0" sz="1200" i="0">
                <a:solidFill>
                  <a:srgbClr val="000000"/>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ubat.jpeg"/>
          <p:cNvPicPr>
            <a:picLocks noChangeAspect="1"/>
          </p:cNvPicPr>
          <p:nvPr/>
        </p:nvPicPr>
        <p:blipFill>
          <a:blip r:embed="rId2"/>
          <a:stretch>
            <a:fillRect/>
          </a:stretch>
        </p:blipFill>
        <p:spPr>
          <a:xfrm>
            <a:off x="50800" y="88900"/>
            <a:ext cx="609600" cy="533400"/>
          </a:xfrm>
          <a:prstGeom prst="rect">
            <a:avLst/>
          </a:prstGeom>
        </p:spPr>
      </p:pic>
      <p:pic>
        <p:nvPicPr>
          <p:cNvPr id="3" name="Picture 2" descr="cse.jpeg"/>
          <p:cNvPicPr>
            <a:picLocks noChangeAspect="1"/>
          </p:cNvPicPr>
          <p:nvPr/>
        </p:nvPicPr>
        <p:blipFill>
          <a:blip r:embed="rId3"/>
          <a:stretch>
            <a:fillRect/>
          </a:stretch>
        </p:blipFill>
        <p:spPr>
          <a:xfrm>
            <a:off x="8534400" y="127000"/>
            <a:ext cx="457200" cy="469900"/>
          </a:xfrm>
          <a:prstGeom prst="rect">
            <a:avLst/>
          </a:prstGeom>
        </p:spPr>
      </p:pic>
      <p:sp>
        <p:nvSpPr>
          <p:cNvPr id="4" name="TextBox 3"/>
          <p:cNvSpPr txBox="1"/>
          <p:nvPr/>
        </p:nvSpPr>
        <p:spPr>
          <a:xfrm>
            <a:off x="762000" y="152400"/>
            <a:ext cx="7620000" cy="558800"/>
          </a:xfrm>
          <a:prstGeom prst="rect">
            <a:avLst/>
          </a:prstGeom>
          <a:noFill/>
        </p:spPr>
        <p:txBody>
          <a:bodyPr wrap="square" lIns="0" rIns="0" tIns="0" bIns="0" anchor="ctr">
            <a:spAutoFit/>
          </a:bodyPr>
          <a:lstStyle/>
          <a:p>
            <a:pPr algn="ctr"/>
            <a:r>
              <a:rPr b="1" sz="3000" i="0">
                <a:solidFill>
                  <a:srgbClr val="000000"/>
                </a:solidFill>
                <a:latin typeface="Times New Roman"/>
              </a:rPr>
              <a:t>Objectives</a:t>
            </a:r>
          </a:p>
        </p:txBody>
      </p:sp>
      <p:sp>
        <p:nvSpPr>
          <p:cNvPr id="5" name="TextBox 4"/>
          <p:cNvSpPr txBox="1"/>
          <p:nvPr/>
        </p:nvSpPr>
        <p:spPr>
          <a:xfrm>
            <a:off x="546100" y="812800"/>
            <a:ext cx="8128000" cy="2032000"/>
          </a:xfrm>
          <a:prstGeom prst="rect">
            <a:avLst/>
          </a:prstGeom>
          <a:noFill/>
        </p:spPr>
        <p:txBody>
          <a:bodyPr wrap="square">
            <a:spAutoFit/>
          </a:bodyPr>
          <a:lstStyle/>
          <a:p>
            <a:pPr>
              <a:spcAft>
                <a:spcPts val="600"/>
              </a:spcAft>
            </a:pPr>
            <a:r>
              <a:rPr b="1" sz="1700" i="0">
                <a:solidFill>
                  <a:srgbClr val="000000"/>
                </a:solidFill>
                <a:latin typeface="Times New Roman"/>
              </a:rPr>
              <a:t>Broad Objective:</a:t>
            </a:r>
          </a:p>
          <a:p>
            <a:pPr>
              <a:spcAft>
                <a:spcPts val="600"/>
              </a:spcAft>
            </a:pPr>
            <a:r>
              <a:rPr b="0" sz="1700" i="0">
                <a:solidFill>
                  <a:srgbClr val="000000"/>
                </a:solidFill>
                <a:latin typeface="Times New Roman"/>
              </a:rPr>
              <a:t>To design and develop a secure, web-based, multi-company HRM system that automates attendance, leave and payroll administration and supports HR staff with an AI assistant.</a:t>
            </a:r>
          </a:p>
          <a:p>
            <a:pPr>
              <a:spcAft>
                <a:spcPts val="600"/>
              </a:spcAft>
            </a:pPr>
            <a:r>
              <a:rPr b="1" sz="1700" i="0">
                <a:solidFill>
                  <a:srgbClr val="000000"/>
                </a:solidFill>
                <a:latin typeface="Times New Roman"/>
              </a:rPr>
              <a:t>Specific Objectives</a:t>
            </a:r>
          </a:p>
        </p:txBody>
      </p:sp>
      <p:sp>
        <p:nvSpPr>
          <p:cNvPr id="6" name="TextBox 5"/>
          <p:cNvSpPr txBox="1"/>
          <p:nvPr/>
        </p:nvSpPr>
        <p:spPr>
          <a:xfrm>
            <a:off x="546100" y="2870200"/>
            <a:ext cx="8128000" cy="3556000"/>
          </a:xfrm>
          <a:prstGeom prst="rect">
            <a:avLst/>
          </a:prstGeom>
          <a:noFill/>
        </p:spPr>
        <p:txBody>
          <a:bodyPr wrap="square" lIns="0" rIns="0">
            <a:spAutoFit/>
          </a:bodyPr>
          <a:lstStyle/>
          <a:p>
            <a:pPr marL="342900" indent="-342900">
              <a:spcAft>
                <a:spcPts val="500"/>
              </a:spcAft>
              <a:buFont typeface="Arial"/>
              <a:buChar char="•"/>
            </a:pPr>
            <a:r>
              <a:rPr b="0" sz="1600" i="0">
                <a:solidFill>
                  <a:srgbClr val="000000"/>
                </a:solidFill>
                <a:latin typeface="Calibri"/>
              </a:rPr>
              <a:t>Build a role-based system for Super Admin, Company Admin and Common employee, scoped to the user’s own company.</a:t>
            </a:r>
          </a:p>
          <a:p>
            <a:pPr marL="342900" indent="-342900">
              <a:spcAft>
                <a:spcPts val="500"/>
              </a:spcAft>
              <a:buFont typeface="Arial"/>
              <a:buChar char="•"/>
            </a:pPr>
            <a:r>
              <a:rPr b="0" sz="1600" i="0">
                <a:solidFill>
                  <a:srgbClr val="000000"/>
                </a:solidFill>
                <a:latin typeface="Calibri"/>
              </a:rPr>
              <a:t>Develop attendance check-in/check-out with automatic late detection and scheduled absent marking.</a:t>
            </a:r>
          </a:p>
          <a:p>
            <a:pPr marL="342900" indent="-342900">
              <a:spcAft>
                <a:spcPts val="500"/>
              </a:spcAft>
              <a:buFont typeface="Arial"/>
              <a:buChar char="•"/>
            </a:pPr>
            <a:r>
              <a:rPr b="0" sz="1600" i="0">
                <a:solidFill>
                  <a:srgbClr val="000000"/>
                </a:solidFill>
                <a:latin typeface="Calibri"/>
              </a:rPr>
              <a:t>Implement a leave workflow (request → approve/reject) that updates attendance automatically.</a:t>
            </a:r>
          </a:p>
          <a:p>
            <a:pPr marL="342900" indent="-342900">
              <a:spcAft>
                <a:spcPts val="500"/>
              </a:spcAft>
              <a:buFont typeface="Arial"/>
              <a:buChar char="•"/>
            </a:pPr>
            <a:r>
              <a:rPr b="0" sz="1600" i="0">
                <a:solidFill>
                  <a:srgbClr val="000000"/>
                </a:solidFill>
                <a:latin typeface="Calibri"/>
              </a:rPr>
              <a:t>Generate monthly payroll automatically with configurable deduction rules and a live projection.</a:t>
            </a:r>
          </a:p>
          <a:p>
            <a:pPr marL="342900" indent="-342900">
              <a:spcAft>
                <a:spcPts val="500"/>
              </a:spcAft>
              <a:buFont typeface="Arial"/>
              <a:buChar char="•"/>
            </a:pPr>
            <a:r>
              <a:rPr b="0" sz="1600" i="0">
                <a:solidFill>
                  <a:srgbClr val="000000"/>
                </a:solidFill>
                <a:latin typeface="Calibri"/>
              </a:rPr>
              <a:t>Integrate an AI assistant that answers HR questions using read-only, company-scoped data tools.</a:t>
            </a:r>
          </a:p>
          <a:p>
            <a:pPr marL="342900" indent="-342900">
              <a:spcAft>
                <a:spcPts val="500"/>
              </a:spcAft>
              <a:buFont typeface="Arial"/>
              <a:buChar char="•"/>
            </a:pPr>
            <a:r>
              <a:rPr b="0" sz="1600" i="0">
                <a:solidFill>
                  <a:srgbClr val="000000"/>
                </a:solidFill>
                <a:latin typeface="Calibri"/>
              </a:rPr>
              <a:t>Apply software engineering principles to analyze, design, implement and test the system.</a:t>
            </a:r>
          </a:p>
        </p:txBody>
      </p:sp>
      <p:sp>
        <p:nvSpPr>
          <p:cNvPr id="7" name="TextBox 6"/>
          <p:cNvSpPr txBox="1"/>
          <p:nvPr/>
        </p:nvSpPr>
        <p:spPr>
          <a:xfrm>
            <a:off x="8382000" y="6578600"/>
            <a:ext cx="635000" cy="228600"/>
          </a:xfrm>
          <a:prstGeom prst="rect">
            <a:avLst/>
          </a:prstGeom>
          <a:noFill/>
        </p:spPr>
        <p:txBody>
          <a:bodyPr wrap="square" lIns="0" rIns="0" tIns="0" bIns="0" anchor="t">
            <a:spAutoFit/>
          </a:bodyPr>
          <a:lstStyle/>
          <a:p>
            <a:pPr algn="r"/>
            <a:r>
              <a:rPr b="0" sz="1200" i="0">
                <a:solidFill>
                  <a:srgbClr val="000000"/>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ubat.jpeg"/>
          <p:cNvPicPr>
            <a:picLocks noChangeAspect="1"/>
          </p:cNvPicPr>
          <p:nvPr/>
        </p:nvPicPr>
        <p:blipFill>
          <a:blip r:embed="rId2"/>
          <a:stretch>
            <a:fillRect/>
          </a:stretch>
        </p:blipFill>
        <p:spPr>
          <a:xfrm>
            <a:off x="50800" y="88900"/>
            <a:ext cx="609600" cy="533400"/>
          </a:xfrm>
          <a:prstGeom prst="rect">
            <a:avLst/>
          </a:prstGeom>
        </p:spPr>
      </p:pic>
      <p:pic>
        <p:nvPicPr>
          <p:cNvPr id="3" name="Picture 2" descr="cse.jpeg"/>
          <p:cNvPicPr>
            <a:picLocks noChangeAspect="1"/>
          </p:cNvPicPr>
          <p:nvPr/>
        </p:nvPicPr>
        <p:blipFill>
          <a:blip r:embed="rId3"/>
          <a:stretch>
            <a:fillRect/>
          </a:stretch>
        </p:blipFill>
        <p:spPr>
          <a:xfrm>
            <a:off x="8534400" y="127000"/>
            <a:ext cx="457200" cy="469900"/>
          </a:xfrm>
          <a:prstGeom prst="rect">
            <a:avLst/>
          </a:prstGeom>
        </p:spPr>
      </p:pic>
      <p:sp>
        <p:nvSpPr>
          <p:cNvPr id="4" name="TextBox 3"/>
          <p:cNvSpPr txBox="1"/>
          <p:nvPr/>
        </p:nvSpPr>
        <p:spPr>
          <a:xfrm>
            <a:off x="762000" y="152400"/>
            <a:ext cx="7620000" cy="558800"/>
          </a:xfrm>
          <a:prstGeom prst="rect">
            <a:avLst/>
          </a:prstGeom>
          <a:noFill/>
        </p:spPr>
        <p:txBody>
          <a:bodyPr wrap="square" lIns="0" rIns="0" tIns="0" bIns="0" anchor="ctr">
            <a:spAutoFit/>
          </a:bodyPr>
          <a:lstStyle/>
          <a:p>
            <a:pPr algn="ctr"/>
            <a:r>
              <a:rPr b="1" sz="3000" i="0">
                <a:solidFill>
                  <a:srgbClr val="000000"/>
                </a:solidFill>
                <a:latin typeface="Times New Roman"/>
              </a:rPr>
              <a:t>Feasibility Analysis</a:t>
            </a:r>
          </a:p>
        </p:txBody>
      </p:sp>
      <p:sp>
        <p:nvSpPr>
          <p:cNvPr id="5" name="TextBox 4"/>
          <p:cNvSpPr txBox="1"/>
          <p:nvPr/>
        </p:nvSpPr>
        <p:spPr>
          <a:xfrm>
            <a:off x="546100" y="889000"/>
            <a:ext cx="8128000" cy="5588000"/>
          </a:xfrm>
          <a:prstGeom prst="rect">
            <a:avLst/>
          </a:prstGeom>
          <a:noFill/>
        </p:spPr>
        <p:txBody>
          <a:bodyPr wrap="square">
            <a:spAutoFit/>
          </a:bodyPr>
          <a:lstStyle/>
          <a:p>
            <a:pPr>
              <a:spcAft>
                <a:spcPts val="1200"/>
              </a:spcAft>
            </a:pPr>
            <a:r>
              <a:rPr b="0" sz="1600" i="0">
                <a:solidFill>
                  <a:srgbClr val="000000"/>
                </a:solidFill>
                <a:latin typeface="Times New Roman"/>
              </a:rPr>
              <a:t>A study was done to check if the project is practical and possible to build.</a:t>
            </a:r>
          </a:p>
          <a:p>
            <a:pPr>
              <a:spcAft>
                <a:spcPts val="1200"/>
              </a:spcAft>
            </a:pPr>
            <a:r>
              <a:rPr b="1" sz="1600" i="0">
                <a:solidFill>
                  <a:srgbClr val="000000"/>
                </a:solidFill>
                <a:latin typeface="Times New Roman"/>
              </a:rPr>
              <a:t>Technical Feasibility:</a:t>
            </a:r>
            <a:r>
              <a:rPr b="0" sz="1600" i="0">
                <a:solidFill>
                  <a:srgbClr val="000000"/>
                </a:solidFill>
                <a:latin typeface="Times New Roman"/>
              </a:rPr>
              <a:t> the system is built with modern, reliable technologies – Angular for the frontend, ASP.NET Core Web API (.NET 10) with Clean Architecture and CQRS (MediatR) for the backend, Entity Framework Core with Microsoft SQL Server for the database, hosted background services for scheduled jobs and Microsoft.Extensions.AI for the LLM integration. These tools are widely used, well-supported and scalable.</a:t>
            </a:r>
          </a:p>
          <a:p>
            <a:pPr>
              <a:spcAft>
                <a:spcPts val="1200"/>
              </a:spcAft>
            </a:pPr>
            <a:r>
              <a:rPr b="1" sz="1600" i="0">
                <a:solidFill>
                  <a:srgbClr val="000000"/>
                </a:solidFill>
                <a:latin typeface="Times New Roman"/>
              </a:rPr>
              <a:t>Economic Feasibility:</a:t>
            </a:r>
            <a:r>
              <a:rPr b="0" sz="1600" i="0">
                <a:solidFill>
                  <a:srgbClr val="000000"/>
                </a:solidFill>
                <a:latin typeface="Times New Roman"/>
              </a:rPr>
              <a:t> the project is low-cost since it uses free and open-source tools (Angular, .NET, EF Core, SQL Server Express) and the free tier of the language-model provider. Automating attendance, leave and payroll removes repetitive manual work and salary disputes.</a:t>
            </a:r>
          </a:p>
          <a:p>
            <a:pPr>
              <a:spcAft>
                <a:spcPts val="1200"/>
              </a:spcAft>
            </a:pPr>
            <a:r>
              <a:rPr b="1" sz="1600" i="0">
                <a:solidFill>
                  <a:srgbClr val="000000"/>
                </a:solidFill>
                <a:latin typeface="Times New Roman"/>
              </a:rPr>
              <a:t>Operational Feasibility:</a:t>
            </a:r>
            <a:r>
              <a:rPr b="0" sz="1600" i="0">
                <a:solidFill>
                  <a:srgbClr val="000000"/>
                </a:solidFill>
                <a:latin typeface="Times New Roman"/>
              </a:rPr>
              <a:t> the system has a simple, role-appropriate interface for all three user types, and the scheduled jobs recover from missed runs automatically, so Super Admins, Company Admins and employees can use it with minimal training.</a:t>
            </a:r>
          </a:p>
        </p:txBody>
      </p:sp>
      <p:sp>
        <p:nvSpPr>
          <p:cNvPr id="6" name="TextBox 5"/>
          <p:cNvSpPr txBox="1"/>
          <p:nvPr/>
        </p:nvSpPr>
        <p:spPr>
          <a:xfrm>
            <a:off x="8382000" y="6578600"/>
            <a:ext cx="635000" cy="228600"/>
          </a:xfrm>
          <a:prstGeom prst="rect">
            <a:avLst/>
          </a:prstGeom>
          <a:noFill/>
        </p:spPr>
        <p:txBody>
          <a:bodyPr wrap="square" lIns="0" rIns="0" tIns="0" bIns="0" anchor="t">
            <a:spAutoFit/>
          </a:bodyPr>
          <a:lstStyle/>
          <a:p>
            <a:pPr algn="r"/>
            <a:r>
              <a:rPr b="0" sz="1200" i="0">
                <a:solidFill>
                  <a:srgbClr val="000000"/>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ubat.jpeg"/>
          <p:cNvPicPr>
            <a:picLocks noChangeAspect="1"/>
          </p:cNvPicPr>
          <p:nvPr/>
        </p:nvPicPr>
        <p:blipFill>
          <a:blip r:embed="rId2"/>
          <a:stretch>
            <a:fillRect/>
          </a:stretch>
        </p:blipFill>
        <p:spPr>
          <a:xfrm>
            <a:off x="50800" y="88900"/>
            <a:ext cx="609600" cy="533400"/>
          </a:xfrm>
          <a:prstGeom prst="rect">
            <a:avLst/>
          </a:prstGeom>
        </p:spPr>
      </p:pic>
      <p:pic>
        <p:nvPicPr>
          <p:cNvPr id="3" name="Picture 2" descr="cse.jpeg"/>
          <p:cNvPicPr>
            <a:picLocks noChangeAspect="1"/>
          </p:cNvPicPr>
          <p:nvPr/>
        </p:nvPicPr>
        <p:blipFill>
          <a:blip r:embed="rId3"/>
          <a:stretch>
            <a:fillRect/>
          </a:stretch>
        </p:blipFill>
        <p:spPr>
          <a:xfrm>
            <a:off x="8534400" y="127000"/>
            <a:ext cx="457200" cy="469900"/>
          </a:xfrm>
          <a:prstGeom prst="rect">
            <a:avLst/>
          </a:prstGeom>
        </p:spPr>
      </p:pic>
      <p:sp>
        <p:nvSpPr>
          <p:cNvPr id="4" name="TextBox 3"/>
          <p:cNvSpPr txBox="1"/>
          <p:nvPr/>
        </p:nvSpPr>
        <p:spPr>
          <a:xfrm>
            <a:off x="762000" y="152400"/>
            <a:ext cx="7620000" cy="558800"/>
          </a:xfrm>
          <a:prstGeom prst="rect">
            <a:avLst/>
          </a:prstGeom>
          <a:noFill/>
        </p:spPr>
        <p:txBody>
          <a:bodyPr wrap="square" lIns="0" rIns="0" tIns="0" bIns="0" anchor="ctr">
            <a:spAutoFit/>
          </a:bodyPr>
          <a:lstStyle/>
          <a:p>
            <a:pPr algn="ctr"/>
            <a:r>
              <a:rPr b="1" sz="3000" i="0">
                <a:solidFill>
                  <a:srgbClr val="000000"/>
                </a:solidFill>
                <a:latin typeface="Times New Roman"/>
              </a:rPr>
              <a:t>Design Requirements &amp; Process Model</a:t>
            </a:r>
          </a:p>
        </p:txBody>
      </p:sp>
      <p:sp>
        <p:nvSpPr>
          <p:cNvPr id="5" name="TextBox 4"/>
          <p:cNvSpPr txBox="1"/>
          <p:nvPr/>
        </p:nvSpPr>
        <p:spPr>
          <a:xfrm>
            <a:off x="546100" y="812800"/>
            <a:ext cx="8128000" cy="1778000"/>
          </a:xfrm>
          <a:prstGeom prst="rect">
            <a:avLst/>
          </a:prstGeom>
          <a:noFill/>
        </p:spPr>
        <p:txBody>
          <a:bodyPr wrap="square">
            <a:spAutoFit/>
          </a:bodyPr>
          <a:lstStyle/>
          <a:p>
            <a:pPr>
              <a:spcAft>
                <a:spcPts val="800"/>
              </a:spcAft>
            </a:pPr>
            <a:r>
              <a:rPr b="0" sz="1700" i="0">
                <a:solidFill>
                  <a:srgbClr val="000000"/>
                </a:solidFill>
                <a:latin typeface="Times New Roman"/>
              </a:rPr>
              <a:t>This project follows the </a:t>
            </a:r>
            <a:r>
              <a:rPr b="1" sz="1700" i="0">
                <a:solidFill>
                  <a:srgbClr val="000000"/>
                </a:solidFill>
                <a:latin typeface="Times New Roman"/>
              </a:rPr>
              <a:t>Agile Process Model</a:t>
            </a:r>
            <a:r>
              <a:rPr b="0" sz="1700" i="0">
                <a:solidFill>
                  <a:srgbClr val="000000"/>
                </a:solidFill>
                <a:latin typeface="Times New Roman"/>
              </a:rPr>
              <a:t>, an iterative and incremental approach with frequent feedback and improvement, suitable for web-based applications where requirements like attendance rules, payroll deductions and AI-assistant behaviour evolve based on testing and feedback.</a:t>
            </a:r>
          </a:p>
          <a:p>
            <a:pPr>
              <a:spcAft>
                <a:spcPts val="800"/>
              </a:spcAft>
            </a:pPr>
            <a:r>
              <a:rPr b="1" sz="1700" i="0">
                <a:solidFill>
                  <a:srgbClr val="000000"/>
                </a:solidFill>
                <a:latin typeface="Times New Roman"/>
              </a:rPr>
              <a:t>Technology Stack :</a:t>
            </a:r>
          </a:p>
        </p:txBody>
      </p:sp>
      <p:sp>
        <p:nvSpPr>
          <p:cNvPr id="6" name="TextBox 5"/>
          <p:cNvSpPr txBox="1"/>
          <p:nvPr/>
        </p:nvSpPr>
        <p:spPr>
          <a:xfrm>
            <a:off x="762000" y="2667000"/>
            <a:ext cx="4572000" cy="2794000"/>
          </a:xfrm>
          <a:prstGeom prst="rect">
            <a:avLst/>
          </a:prstGeom>
          <a:noFill/>
        </p:spPr>
        <p:txBody>
          <a:bodyPr wrap="square">
            <a:spAutoFit/>
          </a:bodyPr>
          <a:lstStyle/>
          <a:p>
            <a:pPr>
              <a:spcAft>
                <a:spcPts val="800"/>
              </a:spcAft>
            </a:pPr>
            <a:r>
              <a:rPr b="1" sz="1500" i="0">
                <a:solidFill>
                  <a:srgbClr val="000000"/>
                </a:solidFill>
                <a:latin typeface="Times New Roman"/>
              </a:rPr>
              <a:t>Backend:</a:t>
            </a:r>
            <a:r>
              <a:rPr b="0" sz="1500" i="0">
                <a:solidFill>
                  <a:srgbClr val="000000"/>
                </a:solidFill>
                <a:latin typeface="Times New Roman"/>
              </a:rPr>
              <a:t> ASP.NET Core Web API (.NET 10), MediatR (CQRS), FluentValidation</a:t>
            </a:r>
          </a:p>
          <a:p>
            <a:pPr>
              <a:spcAft>
                <a:spcPts val="800"/>
              </a:spcAft>
            </a:pPr>
            <a:r>
              <a:rPr b="1" sz="1500" i="0">
                <a:solidFill>
                  <a:srgbClr val="000000"/>
                </a:solidFill>
                <a:latin typeface="Times New Roman"/>
              </a:rPr>
              <a:t>Database:</a:t>
            </a:r>
            <a:r>
              <a:rPr b="0" sz="1500" i="0">
                <a:solidFill>
                  <a:srgbClr val="000000"/>
                </a:solidFill>
                <a:latin typeface="Times New Roman"/>
              </a:rPr>
              <a:t> Microsoft SQL Server, Entity Framework Core</a:t>
            </a:r>
          </a:p>
          <a:p>
            <a:pPr>
              <a:spcAft>
                <a:spcPts val="800"/>
              </a:spcAft>
            </a:pPr>
            <a:r>
              <a:rPr b="1" sz="1500" i="0">
                <a:solidFill>
                  <a:srgbClr val="000000"/>
                </a:solidFill>
                <a:latin typeface="Times New Roman"/>
              </a:rPr>
              <a:t>Frontend:</a:t>
            </a:r>
            <a:r>
              <a:rPr b="0" sz="1500" i="0">
                <a:solidFill>
                  <a:srgbClr val="000000"/>
                </a:solidFill>
                <a:latin typeface="Times New Roman"/>
              </a:rPr>
              <a:t> Angular, TypeScript</a:t>
            </a:r>
          </a:p>
          <a:p>
            <a:pPr>
              <a:spcAft>
                <a:spcPts val="800"/>
              </a:spcAft>
            </a:pPr>
            <a:r>
              <a:rPr b="1" sz="1500" i="0">
                <a:solidFill>
                  <a:srgbClr val="000000"/>
                </a:solidFill>
                <a:latin typeface="Times New Roman"/>
              </a:rPr>
              <a:t>AI:</a:t>
            </a:r>
            <a:r>
              <a:rPr b="0" sz="1500" i="0">
                <a:solidFill>
                  <a:srgbClr val="000000"/>
                </a:solidFill>
                <a:latin typeface="Times New Roman"/>
              </a:rPr>
              <a:t> Microsoft.Extensions.AI, OpenAI-compatible LLM (Groq)</a:t>
            </a:r>
          </a:p>
          <a:p>
            <a:pPr>
              <a:spcAft>
                <a:spcPts val="800"/>
              </a:spcAft>
            </a:pPr>
            <a:r>
              <a:rPr b="1" sz="1500" i="0">
                <a:solidFill>
                  <a:srgbClr val="000000"/>
                </a:solidFill>
                <a:latin typeface="Times New Roman"/>
              </a:rPr>
              <a:t>Development Tools:</a:t>
            </a:r>
            <a:r>
              <a:rPr b="0" sz="1500" i="0">
                <a:solidFill>
                  <a:srgbClr val="000000"/>
                </a:solidFill>
                <a:latin typeface="Times New Roman"/>
              </a:rPr>
              <a:t> JetBrains Rider / Visual Studio, Git, Swagger</a:t>
            </a:r>
          </a:p>
        </p:txBody>
      </p:sp>
      <p:sp>
        <p:nvSpPr>
          <p:cNvPr id="7" name="Rectangle 6"/>
          <p:cNvSpPr/>
          <p:nvPr/>
        </p:nvSpPr>
        <p:spPr>
          <a:xfrm>
            <a:off x="5461000" y="2667000"/>
            <a:ext cx="3175000" cy="2159000"/>
          </a:xfrm>
          <a:prstGeom prst="rect">
            <a:avLst/>
          </a:prstGeom>
          <a:solidFill>
            <a:srgbClr val="FAFAFA"/>
          </a:solidFill>
          <a:ln w="12700">
            <a:solidFill>
              <a:srgbClr val="595959"/>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i="1">
                <a:solidFill>
                  <a:srgbClr val="595959"/>
                </a:solidFill>
                <a:latin typeface="Calibri"/>
                <a:highlight>
                  <a:srgbClr val="FFFF00"/>
                </a:highlight>
              </a:rPr>
              <a:t>[Insert image: Agile model diagram]</a:t>
            </a:r>
          </a:p>
        </p:txBody>
      </p:sp>
      <p:sp>
        <p:nvSpPr>
          <p:cNvPr id="8" name="TextBox 7"/>
          <p:cNvSpPr txBox="1"/>
          <p:nvPr/>
        </p:nvSpPr>
        <p:spPr>
          <a:xfrm>
            <a:off x="546100" y="5588000"/>
            <a:ext cx="8128000" cy="508000"/>
          </a:xfrm>
          <a:prstGeom prst="rect">
            <a:avLst/>
          </a:prstGeom>
          <a:noFill/>
        </p:spPr>
        <p:txBody>
          <a:bodyPr wrap="square">
            <a:spAutoFit/>
          </a:bodyPr>
          <a:lstStyle/>
          <a:p>
            <a:pPr>
              <a:spcAft>
                <a:spcPts val="800"/>
              </a:spcAft>
            </a:pPr>
            <a:r>
              <a:rPr b="0" sz="1600" i="0">
                <a:solidFill>
                  <a:srgbClr val="000000"/>
                </a:solidFill>
                <a:latin typeface="Times New Roman"/>
              </a:rPr>
              <a:t>This combination ensures a fast, secure and scalable web application.</a:t>
            </a:r>
          </a:p>
        </p:txBody>
      </p:sp>
      <p:sp>
        <p:nvSpPr>
          <p:cNvPr id="9" name="TextBox 8"/>
          <p:cNvSpPr txBox="1"/>
          <p:nvPr/>
        </p:nvSpPr>
        <p:spPr>
          <a:xfrm>
            <a:off x="8382000" y="6578600"/>
            <a:ext cx="635000" cy="228600"/>
          </a:xfrm>
          <a:prstGeom prst="rect">
            <a:avLst/>
          </a:prstGeom>
          <a:noFill/>
        </p:spPr>
        <p:txBody>
          <a:bodyPr wrap="square" lIns="0" rIns="0" tIns="0" bIns="0" anchor="t">
            <a:spAutoFit/>
          </a:bodyPr>
          <a:lstStyle/>
          <a:p>
            <a:pPr algn="r"/>
            <a:r>
              <a:rPr b="0" sz="1200" i="0">
                <a:solidFill>
                  <a:srgbClr val="000000"/>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ubat.jpeg"/>
          <p:cNvPicPr>
            <a:picLocks noChangeAspect="1"/>
          </p:cNvPicPr>
          <p:nvPr/>
        </p:nvPicPr>
        <p:blipFill>
          <a:blip r:embed="rId2"/>
          <a:stretch>
            <a:fillRect/>
          </a:stretch>
        </p:blipFill>
        <p:spPr>
          <a:xfrm>
            <a:off x="50800" y="88900"/>
            <a:ext cx="609600" cy="533400"/>
          </a:xfrm>
          <a:prstGeom prst="rect">
            <a:avLst/>
          </a:prstGeom>
        </p:spPr>
      </p:pic>
      <p:pic>
        <p:nvPicPr>
          <p:cNvPr id="3" name="Picture 2" descr="cse.jpeg"/>
          <p:cNvPicPr>
            <a:picLocks noChangeAspect="1"/>
          </p:cNvPicPr>
          <p:nvPr/>
        </p:nvPicPr>
        <p:blipFill>
          <a:blip r:embed="rId3"/>
          <a:stretch>
            <a:fillRect/>
          </a:stretch>
        </p:blipFill>
        <p:spPr>
          <a:xfrm>
            <a:off x="8534400" y="127000"/>
            <a:ext cx="457200" cy="469900"/>
          </a:xfrm>
          <a:prstGeom prst="rect">
            <a:avLst/>
          </a:prstGeom>
        </p:spPr>
      </p:pic>
      <p:sp>
        <p:nvSpPr>
          <p:cNvPr id="4" name="TextBox 3"/>
          <p:cNvSpPr txBox="1"/>
          <p:nvPr/>
        </p:nvSpPr>
        <p:spPr>
          <a:xfrm>
            <a:off x="762000" y="152400"/>
            <a:ext cx="7620000" cy="558800"/>
          </a:xfrm>
          <a:prstGeom prst="rect">
            <a:avLst/>
          </a:prstGeom>
          <a:noFill/>
        </p:spPr>
        <p:txBody>
          <a:bodyPr wrap="square" lIns="0" rIns="0" tIns="0" bIns="0" anchor="ctr">
            <a:spAutoFit/>
          </a:bodyPr>
          <a:lstStyle/>
          <a:p>
            <a:pPr algn="ctr"/>
            <a:r>
              <a:rPr b="1" sz="3000" i="0">
                <a:solidFill>
                  <a:srgbClr val="000000"/>
                </a:solidFill>
                <a:latin typeface="Times New Roman"/>
              </a:rPr>
              <a:t>Requirement Engineering</a:t>
            </a:r>
          </a:p>
        </p:txBody>
      </p:sp>
      <p:sp>
        <p:nvSpPr>
          <p:cNvPr id="5" name="TextBox 4"/>
          <p:cNvSpPr txBox="1"/>
          <p:nvPr/>
        </p:nvSpPr>
        <p:spPr>
          <a:xfrm>
            <a:off x="546100" y="1016000"/>
            <a:ext cx="8128000" cy="508000"/>
          </a:xfrm>
          <a:prstGeom prst="rect">
            <a:avLst/>
          </a:prstGeom>
          <a:noFill/>
        </p:spPr>
        <p:txBody>
          <a:bodyPr wrap="square">
            <a:spAutoFit/>
          </a:bodyPr>
          <a:lstStyle/>
          <a:p>
            <a:pPr>
              <a:spcAft>
                <a:spcPts val="800"/>
              </a:spcAft>
            </a:pPr>
            <a:r>
              <a:rPr b="0" sz="1800" i="0">
                <a:solidFill>
                  <a:srgbClr val="000000"/>
                </a:solidFill>
                <a:latin typeface="Times New Roman"/>
              </a:rPr>
              <a:t>This project follows four main types of requirements:</a:t>
            </a:r>
          </a:p>
        </p:txBody>
      </p:sp>
      <p:sp>
        <p:nvSpPr>
          <p:cNvPr id="6" name="TextBox 5"/>
          <p:cNvSpPr txBox="1"/>
          <p:nvPr/>
        </p:nvSpPr>
        <p:spPr>
          <a:xfrm>
            <a:off x="889000" y="1651000"/>
            <a:ext cx="4572000" cy="2794000"/>
          </a:xfrm>
          <a:prstGeom prst="rect">
            <a:avLst/>
          </a:prstGeom>
          <a:noFill/>
        </p:spPr>
        <p:txBody>
          <a:bodyPr wrap="none">
            <a:spAutoFit/>
          </a:bodyPr>
          <a:lstStyle/>
          <a:p>
            <a:pPr>
              <a:spcAft>
                <a:spcPts val="1200"/>
              </a:spcAft>
            </a:pPr>
            <a:r>
              <a:rPr b="0" sz="2000" i="0">
                <a:solidFill>
                  <a:srgbClr val="000000"/>
                </a:solidFill>
                <a:latin typeface="Times New Roman"/>
              </a:rPr>
              <a:t>1.   User Requirement</a:t>
            </a:r>
          </a:p>
          <a:p>
            <a:pPr>
              <a:spcAft>
                <a:spcPts val="1200"/>
              </a:spcAft>
            </a:pPr>
            <a:r>
              <a:rPr b="0" sz="2000" i="0">
                <a:solidFill>
                  <a:srgbClr val="000000"/>
                </a:solidFill>
                <a:latin typeface="Times New Roman"/>
              </a:rPr>
              <a:t>2.   System Requirement</a:t>
            </a:r>
          </a:p>
          <a:p>
            <a:pPr>
              <a:spcAft>
                <a:spcPts val="1200"/>
              </a:spcAft>
            </a:pPr>
            <a:r>
              <a:rPr b="0" sz="2000" i="0">
                <a:solidFill>
                  <a:srgbClr val="000000"/>
                </a:solidFill>
                <a:latin typeface="Times New Roman"/>
              </a:rPr>
              <a:t>3.   Functional Requirement</a:t>
            </a:r>
          </a:p>
          <a:p>
            <a:pPr>
              <a:spcAft>
                <a:spcPts val="1200"/>
              </a:spcAft>
            </a:pPr>
            <a:r>
              <a:rPr b="0" sz="2000" i="0">
                <a:solidFill>
                  <a:srgbClr val="000000"/>
                </a:solidFill>
                <a:latin typeface="Times New Roman"/>
              </a:rPr>
              <a:t>4.   Non-Functional Requirement</a:t>
            </a:r>
          </a:p>
        </p:txBody>
      </p:sp>
      <p:sp>
        <p:nvSpPr>
          <p:cNvPr id="7" name="Rectangle 6"/>
          <p:cNvSpPr/>
          <p:nvPr/>
        </p:nvSpPr>
        <p:spPr>
          <a:xfrm>
            <a:off x="5588000" y="1397000"/>
            <a:ext cx="3048000" cy="2794000"/>
          </a:xfrm>
          <a:prstGeom prst="rect">
            <a:avLst/>
          </a:prstGeom>
          <a:solidFill>
            <a:srgbClr val="FAFAFA"/>
          </a:solidFill>
          <a:ln w="12700">
            <a:solidFill>
              <a:srgbClr val="595959"/>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i="1">
                <a:solidFill>
                  <a:srgbClr val="595959"/>
                </a:solidFill>
                <a:latin typeface="Calibri"/>
                <a:highlight>
                  <a:srgbClr val="FFFF00"/>
                </a:highlight>
              </a:rPr>
              <a:t>[Insert image: Requirements illustration (optional)]</a:t>
            </a:r>
          </a:p>
        </p:txBody>
      </p:sp>
      <p:sp>
        <p:nvSpPr>
          <p:cNvPr id="8" name="TextBox 7"/>
          <p:cNvSpPr txBox="1"/>
          <p:nvPr/>
        </p:nvSpPr>
        <p:spPr>
          <a:xfrm>
            <a:off x="8382000" y="6578600"/>
            <a:ext cx="635000" cy="228600"/>
          </a:xfrm>
          <a:prstGeom prst="rect">
            <a:avLst/>
          </a:prstGeom>
          <a:noFill/>
        </p:spPr>
        <p:txBody>
          <a:bodyPr wrap="square" lIns="0" rIns="0" tIns="0" bIns="0" anchor="t">
            <a:spAutoFit/>
          </a:bodyPr>
          <a:lstStyle/>
          <a:p>
            <a:pPr algn="r"/>
            <a:r>
              <a:rPr b="0" sz="1200" i="0">
                <a:solidFill>
                  <a:srgbClr val="000000"/>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ubat.jpeg"/>
          <p:cNvPicPr>
            <a:picLocks noChangeAspect="1"/>
          </p:cNvPicPr>
          <p:nvPr/>
        </p:nvPicPr>
        <p:blipFill>
          <a:blip r:embed="rId2"/>
          <a:stretch>
            <a:fillRect/>
          </a:stretch>
        </p:blipFill>
        <p:spPr>
          <a:xfrm>
            <a:off x="50800" y="88900"/>
            <a:ext cx="609600" cy="533400"/>
          </a:xfrm>
          <a:prstGeom prst="rect">
            <a:avLst/>
          </a:prstGeom>
        </p:spPr>
      </p:pic>
      <p:pic>
        <p:nvPicPr>
          <p:cNvPr id="3" name="Picture 2" descr="cse.jpeg"/>
          <p:cNvPicPr>
            <a:picLocks noChangeAspect="1"/>
          </p:cNvPicPr>
          <p:nvPr/>
        </p:nvPicPr>
        <p:blipFill>
          <a:blip r:embed="rId3"/>
          <a:stretch>
            <a:fillRect/>
          </a:stretch>
        </p:blipFill>
        <p:spPr>
          <a:xfrm>
            <a:off x="8534400" y="127000"/>
            <a:ext cx="457200" cy="469900"/>
          </a:xfrm>
          <a:prstGeom prst="rect">
            <a:avLst/>
          </a:prstGeom>
        </p:spPr>
      </p:pic>
      <p:sp>
        <p:nvSpPr>
          <p:cNvPr id="4" name="TextBox 3"/>
          <p:cNvSpPr txBox="1"/>
          <p:nvPr/>
        </p:nvSpPr>
        <p:spPr>
          <a:xfrm>
            <a:off x="762000" y="152400"/>
            <a:ext cx="7620000" cy="558800"/>
          </a:xfrm>
          <a:prstGeom prst="rect">
            <a:avLst/>
          </a:prstGeom>
          <a:noFill/>
        </p:spPr>
        <p:txBody>
          <a:bodyPr wrap="square" lIns="0" rIns="0" tIns="0" bIns="0" anchor="ctr">
            <a:spAutoFit/>
          </a:bodyPr>
          <a:lstStyle/>
          <a:p>
            <a:pPr algn="ctr"/>
            <a:r>
              <a:rPr b="1" sz="3000" i="0">
                <a:solidFill>
                  <a:srgbClr val="000000"/>
                </a:solidFill>
                <a:latin typeface="Times New Roman"/>
              </a:rPr>
              <a:t>User Requirement</a:t>
            </a:r>
          </a:p>
        </p:txBody>
      </p:sp>
      <p:sp>
        <p:nvSpPr>
          <p:cNvPr id="5" name="TextBox 4"/>
          <p:cNvSpPr txBox="1"/>
          <p:nvPr/>
        </p:nvSpPr>
        <p:spPr>
          <a:xfrm>
            <a:off x="546100" y="812800"/>
            <a:ext cx="8128000" cy="5461000"/>
          </a:xfrm>
          <a:prstGeom prst="rect">
            <a:avLst/>
          </a:prstGeom>
          <a:noFill/>
        </p:spPr>
        <p:txBody>
          <a:bodyPr wrap="square" lIns="0" rIns="0">
            <a:spAutoFit/>
          </a:bodyPr>
          <a:lstStyle/>
          <a:p>
            <a:pPr marL="342900" indent="-342900">
              <a:spcAft>
                <a:spcPts val="400"/>
              </a:spcAft>
              <a:buFont typeface="Arial"/>
              <a:buChar char="•"/>
            </a:pPr>
            <a:r>
              <a:rPr b="0" sz="1700" i="0">
                <a:solidFill>
                  <a:srgbClr val="000000"/>
                </a:solidFill>
                <a:latin typeface="Calibri"/>
              </a:rPr>
              <a:t>Users can register (by an admin) and log in to the system securely.</a:t>
            </a:r>
          </a:p>
          <a:p>
            <a:pPr marL="342900" indent="-342900">
              <a:spcAft>
                <a:spcPts val="400"/>
              </a:spcAft>
              <a:buFont typeface="Arial"/>
              <a:buChar char="•"/>
            </a:pPr>
            <a:r>
              <a:rPr b="0" sz="1700" i="0">
                <a:solidFill>
                  <a:srgbClr val="000000"/>
                </a:solidFill>
                <a:latin typeface="Calibri"/>
              </a:rPr>
              <a:t>Super Admin can create, update, activate/deactivate and list companies.</a:t>
            </a:r>
          </a:p>
          <a:p>
            <a:pPr marL="342900" indent="-342900">
              <a:spcAft>
                <a:spcPts val="400"/>
              </a:spcAft>
              <a:buFont typeface="Arial"/>
              <a:buChar char="•"/>
            </a:pPr>
            <a:r>
              <a:rPr b="0" sz="1700" i="0">
                <a:solidFill>
                  <a:srgbClr val="000000"/>
                </a:solidFill>
                <a:latin typeface="Calibri"/>
              </a:rPr>
              <a:t>Company Admin can manage departments (with employee counts), roles and employee profiles.</a:t>
            </a:r>
          </a:p>
          <a:p>
            <a:pPr marL="342900" indent="-342900">
              <a:spcAft>
                <a:spcPts val="400"/>
              </a:spcAft>
              <a:buFont typeface="Arial"/>
              <a:buChar char="•"/>
            </a:pPr>
            <a:r>
              <a:rPr b="0" sz="1700" i="0">
                <a:solidFill>
                  <a:srgbClr val="000000"/>
                </a:solidFill>
                <a:latin typeface="Calibri"/>
              </a:rPr>
              <a:t>Company Admin can view attendance by date and by employee, and daily/monthly summaries.</a:t>
            </a:r>
          </a:p>
          <a:p>
            <a:pPr marL="342900" indent="-342900">
              <a:spcAft>
                <a:spcPts val="400"/>
              </a:spcAft>
              <a:buFont typeface="Arial"/>
              <a:buChar char="•"/>
            </a:pPr>
            <a:r>
              <a:rPr b="0" sz="1700" i="0">
                <a:solidFill>
                  <a:srgbClr val="000000"/>
                </a:solidFill>
                <a:latin typeface="Calibri"/>
              </a:rPr>
              <a:t>Company Admin can approve, reject or cancel leave requests.</a:t>
            </a:r>
          </a:p>
          <a:p>
            <a:pPr marL="342900" indent="-342900">
              <a:spcAft>
                <a:spcPts val="400"/>
              </a:spcAft>
              <a:buFont typeface="Arial"/>
              <a:buChar char="•"/>
            </a:pPr>
            <a:r>
              <a:rPr b="0" sz="1700" i="0">
                <a:solidFill>
                  <a:srgbClr val="000000"/>
                </a:solidFill>
                <a:latin typeface="Calibri"/>
              </a:rPr>
              <a:t>Company Admin can view generated payroll and the live payroll projection.</a:t>
            </a:r>
          </a:p>
          <a:p>
            <a:pPr marL="342900" indent="-342900">
              <a:spcAft>
                <a:spcPts val="400"/>
              </a:spcAft>
              <a:buFont typeface="Arial"/>
              <a:buChar char="•"/>
            </a:pPr>
            <a:r>
              <a:rPr b="0" sz="1700" i="0">
                <a:solidFill>
                  <a:srgbClr val="000000"/>
                </a:solidFill>
                <a:latin typeface="Calibri"/>
              </a:rPr>
              <a:t>Company Admin can ask the AI assistant HR questions in natural language.</a:t>
            </a:r>
          </a:p>
          <a:p>
            <a:pPr marL="342900" indent="-342900">
              <a:spcAft>
                <a:spcPts val="400"/>
              </a:spcAft>
              <a:buFont typeface="Arial"/>
              <a:buChar char="•"/>
            </a:pPr>
            <a:r>
              <a:rPr b="0" sz="1700" i="0">
                <a:solidFill>
                  <a:srgbClr val="000000"/>
                </a:solidFill>
                <a:latin typeface="Calibri"/>
              </a:rPr>
              <a:t>Employee can check in and check out once per day.</a:t>
            </a:r>
          </a:p>
          <a:p>
            <a:pPr marL="342900" indent="-342900">
              <a:spcAft>
                <a:spcPts val="400"/>
              </a:spcAft>
              <a:buFont typeface="Arial"/>
              <a:buChar char="•"/>
            </a:pPr>
            <a:r>
              <a:rPr b="0" sz="1700" i="0">
                <a:solidFill>
                  <a:srgbClr val="000000"/>
                </a:solidFill>
                <a:latin typeface="Calibri"/>
              </a:rPr>
              <a:t>Employee can submit leave requests and track their status.</a:t>
            </a:r>
          </a:p>
          <a:p>
            <a:pPr marL="342900" indent="-342900">
              <a:spcAft>
                <a:spcPts val="400"/>
              </a:spcAft>
              <a:buFont typeface="Arial"/>
              <a:buChar char="•"/>
            </a:pPr>
            <a:r>
              <a:rPr b="0" sz="1700" i="0">
                <a:solidFill>
                  <a:srgbClr val="000000"/>
                </a:solidFill>
                <a:latin typeface="Calibri"/>
              </a:rPr>
              <a:t>Employee can view own attendance records, statistics and payroll.</a:t>
            </a:r>
          </a:p>
          <a:p>
            <a:pPr marL="342900" indent="-342900">
              <a:spcAft>
                <a:spcPts val="400"/>
              </a:spcAft>
              <a:buFont typeface="Arial"/>
              <a:buChar char="•"/>
            </a:pPr>
            <a:r>
              <a:rPr b="0" sz="1700" i="0">
                <a:solidFill>
                  <a:srgbClr val="000000"/>
                </a:solidFill>
                <a:latin typeface="Calibri"/>
              </a:rPr>
              <a:t>The system marks absent employees automatically and generates payroll monthly.</a:t>
            </a:r>
          </a:p>
        </p:txBody>
      </p:sp>
      <p:sp>
        <p:nvSpPr>
          <p:cNvPr id="6" name="TextBox 5"/>
          <p:cNvSpPr txBox="1"/>
          <p:nvPr/>
        </p:nvSpPr>
        <p:spPr>
          <a:xfrm>
            <a:off x="8382000" y="6578600"/>
            <a:ext cx="635000" cy="228600"/>
          </a:xfrm>
          <a:prstGeom prst="rect">
            <a:avLst/>
          </a:prstGeom>
          <a:noFill/>
        </p:spPr>
        <p:txBody>
          <a:bodyPr wrap="square" lIns="0" rIns="0" tIns="0" bIns="0" anchor="t">
            <a:spAutoFit/>
          </a:bodyPr>
          <a:lstStyle/>
          <a:p>
            <a:pPr algn="r"/>
            <a:r>
              <a:rPr b="0" sz="1200" i="0">
                <a:solidFill>
                  <a:srgbClr val="000000"/>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ubat.jpeg"/>
          <p:cNvPicPr>
            <a:picLocks noChangeAspect="1"/>
          </p:cNvPicPr>
          <p:nvPr/>
        </p:nvPicPr>
        <p:blipFill>
          <a:blip r:embed="rId2"/>
          <a:stretch>
            <a:fillRect/>
          </a:stretch>
        </p:blipFill>
        <p:spPr>
          <a:xfrm>
            <a:off x="50800" y="88900"/>
            <a:ext cx="609600" cy="533400"/>
          </a:xfrm>
          <a:prstGeom prst="rect">
            <a:avLst/>
          </a:prstGeom>
        </p:spPr>
      </p:pic>
      <p:pic>
        <p:nvPicPr>
          <p:cNvPr id="3" name="Picture 2" descr="cse.jpeg"/>
          <p:cNvPicPr>
            <a:picLocks noChangeAspect="1"/>
          </p:cNvPicPr>
          <p:nvPr/>
        </p:nvPicPr>
        <p:blipFill>
          <a:blip r:embed="rId3"/>
          <a:stretch>
            <a:fillRect/>
          </a:stretch>
        </p:blipFill>
        <p:spPr>
          <a:xfrm>
            <a:off x="8534400" y="127000"/>
            <a:ext cx="457200" cy="469900"/>
          </a:xfrm>
          <a:prstGeom prst="rect">
            <a:avLst/>
          </a:prstGeom>
        </p:spPr>
      </p:pic>
      <p:sp>
        <p:nvSpPr>
          <p:cNvPr id="4" name="TextBox 3"/>
          <p:cNvSpPr txBox="1"/>
          <p:nvPr/>
        </p:nvSpPr>
        <p:spPr>
          <a:xfrm>
            <a:off x="762000" y="152400"/>
            <a:ext cx="7620000" cy="558800"/>
          </a:xfrm>
          <a:prstGeom prst="rect">
            <a:avLst/>
          </a:prstGeom>
          <a:noFill/>
        </p:spPr>
        <p:txBody>
          <a:bodyPr wrap="square" lIns="0" rIns="0" tIns="0" bIns="0" anchor="ctr">
            <a:spAutoFit/>
          </a:bodyPr>
          <a:lstStyle/>
          <a:p>
            <a:pPr algn="ctr"/>
            <a:r>
              <a:rPr b="1" sz="3000" i="0">
                <a:solidFill>
                  <a:srgbClr val="000000"/>
                </a:solidFill>
                <a:latin typeface="Times New Roman"/>
              </a:rPr>
              <a:t>System Requirement</a:t>
            </a:r>
          </a:p>
        </p:txBody>
      </p:sp>
      <p:sp>
        <p:nvSpPr>
          <p:cNvPr id="5" name="TextBox 4"/>
          <p:cNvSpPr txBox="1"/>
          <p:nvPr/>
        </p:nvSpPr>
        <p:spPr>
          <a:xfrm>
            <a:off x="457200" y="812800"/>
            <a:ext cx="4064000" cy="304800"/>
          </a:xfrm>
          <a:prstGeom prst="rect">
            <a:avLst/>
          </a:prstGeom>
          <a:noFill/>
        </p:spPr>
        <p:txBody>
          <a:bodyPr wrap="square">
            <a:spAutoFit/>
          </a:bodyPr>
          <a:lstStyle/>
          <a:p>
            <a:pPr>
              <a:spcAft>
                <a:spcPts val="800"/>
              </a:spcAft>
            </a:pPr>
            <a:r>
              <a:rPr b="1" sz="1600" i="0">
                <a:solidFill>
                  <a:srgbClr val="000000"/>
                </a:solidFill>
                <a:latin typeface="Times New Roman"/>
              </a:rPr>
              <a:t>User Side (Employee)</a:t>
            </a:r>
          </a:p>
        </p:txBody>
      </p:sp>
      <p:sp>
        <p:nvSpPr>
          <p:cNvPr id="6" name="TextBox 5"/>
          <p:cNvSpPr txBox="1"/>
          <p:nvPr/>
        </p:nvSpPr>
        <p:spPr>
          <a:xfrm>
            <a:off x="457200" y="1143000"/>
            <a:ext cx="4064000" cy="5334000"/>
          </a:xfrm>
          <a:prstGeom prst="rect">
            <a:avLst/>
          </a:prstGeom>
          <a:noFill/>
        </p:spPr>
        <p:txBody>
          <a:bodyPr wrap="square" lIns="0" rIns="0">
            <a:spAutoFit/>
          </a:bodyPr>
          <a:lstStyle/>
          <a:p>
            <a:pPr marL="342900" indent="-342900">
              <a:spcAft>
                <a:spcPts val="300"/>
              </a:spcAft>
              <a:buFont typeface="Arial"/>
              <a:buChar char="•"/>
            </a:pPr>
            <a:r>
              <a:rPr b="0" sz="1300" i="0">
                <a:solidFill>
                  <a:srgbClr val="000000"/>
                </a:solidFill>
                <a:latin typeface="Calibri"/>
              </a:rPr>
              <a:t>Log in with e-mail and password; JWT access token + refresh-token cookie</a:t>
            </a:r>
          </a:p>
          <a:p>
            <a:pPr marL="342900" indent="-342900">
              <a:spcAft>
                <a:spcPts val="300"/>
              </a:spcAft>
              <a:buFont typeface="Arial"/>
              <a:buChar char="•"/>
            </a:pPr>
            <a:r>
              <a:rPr b="0" sz="1300" i="0">
                <a:solidFill>
                  <a:srgbClr val="000000"/>
                </a:solidFill>
                <a:latin typeface="Calibri"/>
              </a:rPr>
              <a:t>Check in: first action of the day creates a Present/Late record with late minutes</a:t>
            </a:r>
          </a:p>
          <a:p>
            <a:pPr marL="342900" indent="-342900">
              <a:spcAft>
                <a:spcPts val="300"/>
              </a:spcAft>
              <a:buFont typeface="Arial"/>
              <a:buChar char="•"/>
            </a:pPr>
            <a:r>
              <a:rPr b="0" sz="1300" i="0">
                <a:solidFill>
                  <a:srgbClr val="000000"/>
                </a:solidFill>
                <a:latin typeface="Calibri"/>
              </a:rPr>
              <a:t>Check out: records early-leave minutes and working hours; third action rejected</a:t>
            </a:r>
          </a:p>
          <a:p>
            <a:pPr marL="342900" indent="-342900">
              <a:spcAft>
                <a:spcPts val="300"/>
              </a:spcAft>
              <a:buFont typeface="Arial"/>
              <a:buChar char="•"/>
            </a:pPr>
            <a:r>
              <a:rPr b="0" sz="1300" i="0">
                <a:solidFill>
                  <a:srgbClr val="000000"/>
                </a:solidFill>
                <a:latin typeface="Calibri"/>
              </a:rPr>
              <a:t>Auto-marked Absent record converted to Late on a late check-in</a:t>
            </a:r>
          </a:p>
          <a:p>
            <a:pPr marL="342900" indent="-342900">
              <a:spcAft>
                <a:spcPts val="300"/>
              </a:spcAft>
              <a:buFont typeface="Arial"/>
              <a:buChar char="•"/>
            </a:pPr>
            <a:r>
              <a:rPr b="0" sz="1300" i="0">
                <a:solidFill>
                  <a:srgbClr val="000000"/>
                </a:solidFill>
                <a:latin typeface="Calibri"/>
              </a:rPr>
              <a:t>Submit leave request with type, date range and reason; total days computed</a:t>
            </a:r>
          </a:p>
          <a:p>
            <a:pPr marL="342900" indent="-342900">
              <a:spcAft>
                <a:spcPts val="300"/>
              </a:spcAft>
              <a:buFont typeface="Arial"/>
              <a:buChar char="•"/>
            </a:pPr>
            <a:r>
              <a:rPr b="0" sz="1300" i="0">
                <a:solidFill>
                  <a:srgbClr val="000000"/>
                </a:solidFill>
                <a:latin typeface="Calibri"/>
              </a:rPr>
              <a:t>View own attendance records, monthly statistics and payroll</a:t>
            </a:r>
          </a:p>
        </p:txBody>
      </p:sp>
      <p:sp>
        <p:nvSpPr>
          <p:cNvPr id="7" name="TextBox 6"/>
          <p:cNvSpPr txBox="1"/>
          <p:nvPr/>
        </p:nvSpPr>
        <p:spPr>
          <a:xfrm>
            <a:off x="4724400" y="812800"/>
            <a:ext cx="4064000" cy="304800"/>
          </a:xfrm>
          <a:prstGeom prst="rect">
            <a:avLst/>
          </a:prstGeom>
          <a:noFill/>
        </p:spPr>
        <p:txBody>
          <a:bodyPr wrap="square">
            <a:spAutoFit/>
          </a:bodyPr>
          <a:lstStyle/>
          <a:p>
            <a:pPr>
              <a:spcAft>
                <a:spcPts val="800"/>
              </a:spcAft>
            </a:pPr>
            <a:r>
              <a:rPr b="1" sz="1500" i="0">
                <a:solidFill>
                  <a:srgbClr val="000000"/>
                </a:solidFill>
                <a:latin typeface="Times New Roman"/>
              </a:rPr>
              <a:t>Admin Side (Super / Company Admin)</a:t>
            </a:r>
          </a:p>
        </p:txBody>
      </p:sp>
      <p:sp>
        <p:nvSpPr>
          <p:cNvPr id="8" name="TextBox 7"/>
          <p:cNvSpPr txBox="1"/>
          <p:nvPr/>
        </p:nvSpPr>
        <p:spPr>
          <a:xfrm>
            <a:off x="4724400" y="1143000"/>
            <a:ext cx="4064000" cy="5334000"/>
          </a:xfrm>
          <a:prstGeom prst="rect">
            <a:avLst/>
          </a:prstGeom>
          <a:noFill/>
        </p:spPr>
        <p:txBody>
          <a:bodyPr wrap="square" lIns="0" rIns="0">
            <a:spAutoFit/>
          </a:bodyPr>
          <a:lstStyle/>
          <a:p>
            <a:pPr marL="342900" indent="-342900">
              <a:spcAft>
                <a:spcPts val="300"/>
              </a:spcAft>
              <a:buFont typeface="Arial"/>
              <a:buChar char="•"/>
            </a:pPr>
            <a:r>
              <a:rPr b="0" sz="1300" i="0">
                <a:solidFill>
                  <a:srgbClr val="000000"/>
                </a:solidFill>
                <a:latin typeface="Calibri"/>
              </a:rPr>
              <a:t>Login with secure, role-restricted access; company id taken from the token</a:t>
            </a:r>
          </a:p>
          <a:p>
            <a:pPr marL="342900" indent="-342900">
              <a:spcAft>
                <a:spcPts val="300"/>
              </a:spcAft>
              <a:buFont typeface="Arial"/>
              <a:buChar char="•"/>
            </a:pPr>
            <a:r>
              <a:rPr b="0" sz="1300" i="0">
                <a:solidFill>
                  <a:srgbClr val="000000"/>
                </a:solidFill>
                <a:latin typeface="Calibri"/>
              </a:rPr>
              <a:t>Super Admin: create/update/deactivate companies, paginated list</a:t>
            </a:r>
          </a:p>
          <a:p>
            <a:pPr marL="342900" indent="-342900">
              <a:spcAft>
                <a:spcPts val="300"/>
              </a:spcAft>
              <a:buFont typeface="Arial"/>
              <a:buChar char="•"/>
            </a:pPr>
            <a:r>
              <a:rPr b="0" sz="1300" i="0">
                <a:solidFill>
                  <a:srgbClr val="000000"/>
                </a:solidFill>
                <a:latin typeface="Calibri"/>
              </a:rPr>
              <a:t>Create/update departments, roles and employees (BCrypt-hashed passwords)</a:t>
            </a:r>
          </a:p>
          <a:p>
            <a:pPr marL="342900" indent="-342900">
              <a:spcAft>
                <a:spcPts val="300"/>
              </a:spcAft>
              <a:buFont typeface="Arial"/>
              <a:buChar char="•"/>
            </a:pPr>
            <a:r>
              <a:rPr b="0" sz="1300" i="0">
                <a:solidFill>
                  <a:srgbClr val="000000"/>
                </a:solidFill>
                <a:latin typeface="Calibri"/>
              </a:rPr>
              <a:t>Approve/reject/cancel leave; approved days written as On Leave</a:t>
            </a:r>
          </a:p>
          <a:p>
            <a:pPr marL="342900" indent="-342900">
              <a:spcAft>
                <a:spcPts val="300"/>
              </a:spcAft>
              <a:buFont typeface="Arial"/>
              <a:buChar char="•"/>
            </a:pPr>
            <a:r>
              <a:rPr b="0" sz="1300" i="0">
                <a:solidFill>
                  <a:srgbClr val="000000"/>
                </a:solidFill>
                <a:latin typeface="Calibri"/>
              </a:rPr>
              <a:t>View daily and monthly attendance summaries (tie-aware highest absentee)</a:t>
            </a:r>
          </a:p>
          <a:p>
            <a:pPr marL="342900" indent="-342900">
              <a:spcAft>
                <a:spcPts val="300"/>
              </a:spcAft>
              <a:buFont typeface="Arial"/>
              <a:buChar char="•"/>
            </a:pPr>
            <a:r>
              <a:rPr b="0" sz="1300" i="0">
                <a:solidFill>
                  <a:srgbClr val="000000"/>
                </a:solidFill>
                <a:latin typeface="Calibri"/>
              </a:rPr>
              <a:t>View payroll per employee/company and live projection; ask the AI assistant</a:t>
            </a:r>
          </a:p>
          <a:p>
            <a:pPr marL="342900" indent="-342900">
              <a:spcAft>
                <a:spcPts val="300"/>
              </a:spcAft>
              <a:buFont typeface="Arial"/>
              <a:buChar char="•"/>
            </a:pPr>
            <a:r>
              <a:rPr b="0" sz="1300" i="0">
                <a:solidFill>
                  <a:srgbClr val="000000"/>
                </a:solidFill>
                <a:latin typeface="Calibri"/>
              </a:rPr>
              <a:t>System: absent-marking job at 09:30 (holiday/leave aware, catch-up); payroll job on the 1st, exactly once</a:t>
            </a:r>
          </a:p>
        </p:txBody>
      </p:sp>
      <p:sp>
        <p:nvSpPr>
          <p:cNvPr id="9" name="TextBox 8"/>
          <p:cNvSpPr txBox="1"/>
          <p:nvPr/>
        </p:nvSpPr>
        <p:spPr>
          <a:xfrm>
            <a:off x="8382000" y="6578600"/>
            <a:ext cx="635000" cy="228600"/>
          </a:xfrm>
          <a:prstGeom prst="rect">
            <a:avLst/>
          </a:prstGeom>
          <a:noFill/>
        </p:spPr>
        <p:txBody>
          <a:bodyPr wrap="square" lIns="0" rIns="0" tIns="0" bIns="0" anchor="t">
            <a:spAutoFit/>
          </a:bodyPr>
          <a:lstStyle/>
          <a:p>
            <a:pPr algn="r"/>
            <a:r>
              <a:rPr b="0" sz="1200" i="0">
                <a:solidFill>
                  <a:srgbClr val="000000"/>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ubat.jpeg"/>
          <p:cNvPicPr>
            <a:picLocks noChangeAspect="1"/>
          </p:cNvPicPr>
          <p:nvPr/>
        </p:nvPicPr>
        <p:blipFill>
          <a:blip r:embed="rId2"/>
          <a:stretch>
            <a:fillRect/>
          </a:stretch>
        </p:blipFill>
        <p:spPr>
          <a:xfrm>
            <a:off x="50800" y="88900"/>
            <a:ext cx="609600" cy="533400"/>
          </a:xfrm>
          <a:prstGeom prst="rect">
            <a:avLst/>
          </a:prstGeom>
        </p:spPr>
      </p:pic>
      <p:pic>
        <p:nvPicPr>
          <p:cNvPr id="3" name="Picture 2" descr="cse.jpeg"/>
          <p:cNvPicPr>
            <a:picLocks noChangeAspect="1"/>
          </p:cNvPicPr>
          <p:nvPr/>
        </p:nvPicPr>
        <p:blipFill>
          <a:blip r:embed="rId3"/>
          <a:stretch>
            <a:fillRect/>
          </a:stretch>
        </p:blipFill>
        <p:spPr>
          <a:xfrm>
            <a:off x="8534400" y="127000"/>
            <a:ext cx="457200" cy="469900"/>
          </a:xfrm>
          <a:prstGeom prst="rect">
            <a:avLst/>
          </a:prstGeom>
        </p:spPr>
      </p:pic>
      <p:sp>
        <p:nvSpPr>
          <p:cNvPr id="4" name="TextBox 3"/>
          <p:cNvSpPr txBox="1"/>
          <p:nvPr/>
        </p:nvSpPr>
        <p:spPr>
          <a:xfrm>
            <a:off x="762000" y="152400"/>
            <a:ext cx="7620000" cy="558800"/>
          </a:xfrm>
          <a:prstGeom prst="rect">
            <a:avLst/>
          </a:prstGeom>
          <a:noFill/>
        </p:spPr>
        <p:txBody>
          <a:bodyPr wrap="square" lIns="0" rIns="0" tIns="0" bIns="0" anchor="ctr">
            <a:spAutoFit/>
          </a:bodyPr>
          <a:lstStyle/>
          <a:p>
            <a:pPr algn="ctr"/>
            <a:r>
              <a:rPr b="1" sz="3000" i="0">
                <a:solidFill>
                  <a:srgbClr val="000000"/>
                </a:solidFill>
                <a:latin typeface="Times New Roman"/>
              </a:rPr>
              <a:t>Functional Requirement</a:t>
            </a:r>
          </a:p>
        </p:txBody>
      </p:sp>
      <p:sp>
        <p:nvSpPr>
          <p:cNvPr id="5" name="TextBox 4"/>
          <p:cNvSpPr txBox="1"/>
          <p:nvPr/>
        </p:nvSpPr>
        <p:spPr>
          <a:xfrm>
            <a:off x="546100" y="812800"/>
            <a:ext cx="8128000" cy="5715000"/>
          </a:xfrm>
          <a:prstGeom prst="rect">
            <a:avLst/>
          </a:prstGeom>
          <a:noFill/>
        </p:spPr>
        <p:txBody>
          <a:bodyPr wrap="square">
            <a:spAutoFit/>
          </a:bodyPr>
          <a:lstStyle/>
          <a:p>
            <a:pPr>
              <a:spcAft>
                <a:spcPts val="700"/>
              </a:spcAft>
            </a:pPr>
            <a:r>
              <a:rPr b="0" sz="1400" i="0">
                <a:solidFill>
                  <a:srgbClr val="000000"/>
                </a:solidFill>
                <a:latin typeface="Times New Roman"/>
              </a:rPr>
              <a:t>FR-01: The system shall allow registered users to log in with e-mail and password, refresh their session and log out securely.</a:t>
            </a:r>
          </a:p>
          <a:p>
            <a:pPr>
              <a:spcAft>
                <a:spcPts val="700"/>
              </a:spcAft>
            </a:pPr>
            <a:r>
              <a:rPr b="0" sz="1400" i="0">
                <a:solidFill>
                  <a:srgbClr val="000000"/>
                </a:solidFill>
                <a:latin typeface="Times New Roman"/>
              </a:rPr>
              <a:t>FR-02: The system shall enforce different permissions for Super Admin, Company Admin and Common users on every endpoint.</a:t>
            </a:r>
          </a:p>
          <a:p>
            <a:pPr>
              <a:spcAft>
                <a:spcPts val="700"/>
              </a:spcAft>
            </a:pPr>
            <a:r>
              <a:rPr b="0" sz="1400" i="0">
                <a:solidFill>
                  <a:srgbClr val="000000"/>
                </a:solidFill>
                <a:latin typeface="Times New Roman"/>
              </a:rPr>
              <a:t>FR-03: The system shall scope every query and command to the company identified in the caller’s token.</a:t>
            </a:r>
          </a:p>
          <a:p>
            <a:pPr>
              <a:spcAft>
                <a:spcPts val="700"/>
              </a:spcAft>
            </a:pPr>
            <a:r>
              <a:rPr b="0" sz="1400" i="0">
                <a:solidFill>
                  <a:srgbClr val="000000"/>
                </a:solidFill>
                <a:latin typeface="Times New Roman"/>
              </a:rPr>
              <a:t>FR-04: The system shall allow the Super Admin to create, update, activate/deactivate and list companies.</a:t>
            </a:r>
          </a:p>
          <a:p>
            <a:pPr>
              <a:spcAft>
                <a:spcPts val="700"/>
              </a:spcAft>
            </a:pPr>
            <a:r>
              <a:rPr b="0" sz="1400" i="0">
                <a:solidFill>
                  <a:srgbClr val="000000"/>
                </a:solidFill>
                <a:latin typeface="Times New Roman"/>
              </a:rPr>
              <a:t>FR-05: The system shall allow the Company Admin to create, update and list departments with employee counts.</a:t>
            </a:r>
          </a:p>
          <a:p>
            <a:pPr>
              <a:spcAft>
                <a:spcPts val="700"/>
              </a:spcAft>
            </a:pPr>
            <a:r>
              <a:rPr b="0" sz="1400" i="0">
                <a:solidFill>
                  <a:srgbClr val="000000"/>
                </a:solidFill>
                <a:latin typeface="Times New Roman"/>
              </a:rPr>
              <a:t>FR-06: The system shall allow the Company Admin to create, update and list roles.</a:t>
            </a:r>
          </a:p>
          <a:p>
            <a:pPr>
              <a:spcAft>
                <a:spcPts val="700"/>
              </a:spcAft>
            </a:pPr>
            <a:r>
              <a:rPr b="0" sz="1400" i="0">
                <a:solidFill>
                  <a:srgbClr val="000000"/>
                </a:solidFill>
                <a:latin typeface="Times New Roman"/>
              </a:rPr>
              <a:t>FR-07: The system shall allow the Company Admin to create, update, activate/deactivate, search and list employees with pagination.</a:t>
            </a:r>
          </a:p>
          <a:p>
            <a:pPr>
              <a:spcAft>
                <a:spcPts val="700"/>
              </a:spcAft>
            </a:pPr>
            <a:r>
              <a:rPr b="0" sz="1400" i="0">
                <a:solidFill>
                  <a:srgbClr val="000000"/>
                </a:solidFill>
                <a:latin typeface="Times New Roman"/>
              </a:rPr>
              <a:t>FR-08: The system shall record employee check-in and check-out, computing status, late minutes, early-leave minutes and working hours.</a:t>
            </a:r>
          </a:p>
          <a:p>
            <a:pPr>
              <a:spcAft>
                <a:spcPts val="700"/>
              </a:spcAft>
            </a:pPr>
            <a:r>
              <a:rPr b="0" sz="1400" i="0">
                <a:solidFill>
                  <a:srgbClr val="000000"/>
                </a:solidFill>
                <a:latin typeface="Times New Roman"/>
              </a:rPr>
              <a:t>FR-09: The system shall automatically mark absent employees every working day and catch up on missed runs at startup.</a:t>
            </a:r>
          </a:p>
        </p:txBody>
      </p:sp>
      <p:sp>
        <p:nvSpPr>
          <p:cNvPr id="6" name="TextBox 5"/>
          <p:cNvSpPr txBox="1"/>
          <p:nvPr/>
        </p:nvSpPr>
        <p:spPr>
          <a:xfrm>
            <a:off x="8382000" y="6578600"/>
            <a:ext cx="635000" cy="228600"/>
          </a:xfrm>
          <a:prstGeom prst="rect">
            <a:avLst/>
          </a:prstGeom>
          <a:noFill/>
        </p:spPr>
        <p:txBody>
          <a:bodyPr wrap="square" lIns="0" rIns="0" tIns="0" bIns="0" anchor="t">
            <a:spAutoFit/>
          </a:bodyPr>
          <a:lstStyle/>
          <a:p>
            <a:pPr algn="r"/>
            <a:r>
              <a:rPr b="0" sz="1200" i="0">
                <a:solidFill>
                  <a:srgbClr val="000000"/>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ubat.jpeg"/>
          <p:cNvPicPr>
            <a:picLocks noChangeAspect="1"/>
          </p:cNvPicPr>
          <p:nvPr/>
        </p:nvPicPr>
        <p:blipFill>
          <a:blip r:embed="rId2"/>
          <a:stretch>
            <a:fillRect/>
          </a:stretch>
        </p:blipFill>
        <p:spPr>
          <a:xfrm>
            <a:off x="50800" y="88900"/>
            <a:ext cx="609600" cy="533400"/>
          </a:xfrm>
          <a:prstGeom prst="rect">
            <a:avLst/>
          </a:prstGeom>
        </p:spPr>
      </p:pic>
      <p:pic>
        <p:nvPicPr>
          <p:cNvPr id="3" name="Picture 2" descr="cse.jpeg"/>
          <p:cNvPicPr>
            <a:picLocks noChangeAspect="1"/>
          </p:cNvPicPr>
          <p:nvPr/>
        </p:nvPicPr>
        <p:blipFill>
          <a:blip r:embed="rId3"/>
          <a:stretch>
            <a:fillRect/>
          </a:stretch>
        </p:blipFill>
        <p:spPr>
          <a:xfrm>
            <a:off x="8534400" y="127000"/>
            <a:ext cx="457200" cy="469900"/>
          </a:xfrm>
          <a:prstGeom prst="rect">
            <a:avLst/>
          </a:prstGeom>
        </p:spPr>
      </p:pic>
      <p:sp>
        <p:nvSpPr>
          <p:cNvPr id="4" name="TextBox 3"/>
          <p:cNvSpPr txBox="1"/>
          <p:nvPr/>
        </p:nvSpPr>
        <p:spPr>
          <a:xfrm>
            <a:off x="762000" y="152400"/>
            <a:ext cx="7620000" cy="558800"/>
          </a:xfrm>
          <a:prstGeom prst="rect">
            <a:avLst/>
          </a:prstGeom>
          <a:noFill/>
        </p:spPr>
        <p:txBody>
          <a:bodyPr wrap="square" lIns="0" rIns="0" tIns="0" bIns="0" anchor="ctr">
            <a:spAutoFit/>
          </a:bodyPr>
          <a:lstStyle/>
          <a:p>
            <a:pPr algn="ctr"/>
            <a:r>
              <a:rPr b="1" sz="3000" i="0">
                <a:solidFill>
                  <a:srgbClr val="000000"/>
                </a:solidFill>
                <a:latin typeface="Times New Roman"/>
              </a:rPr>
              <a:t>Functional Requirement (Cont.)</a:t>
            </a:r>
          </a:p>
        </p:txBody>
      </p:sp>
      <p:sp>
        <p:nvSpPr>
          <p:cNvPr id="5" name="TextBox 4"/>
          <p:cNvSpPr txBox="1"/>
          <p:nvPr/>
        </p:nvSpPr>
        <p:spPr>
          <a:xfrm>
            <a:off x="546100" y="812800"/>
            <a:ext cx="8128000" cy="5715000"/>
          </a:xfrm>
          <a:prstGeom prst="rect">
            <a:avLst/>
          </a:prstGeom>
          <a:noFill/>
        </p:spPr>
        <p:txBody>
          <a:bodyPr wrap="square">
            <a:spAutoFit/>
          </a:bodyPr>
          <a:lstStyle/>
          <a:p>
            <a:pPr>
              <a:spcAft>
                <a:spcPts val="700"/>
              </a:spcAft>
            </a:pPr>
            <a:r>
              <a:rPr b="0" sz="1400" i="0">
                <a:solidFill>
                  <a:srgbClr val="000000"/>
                </a:solidFill>
                <a:latin typeface="Times New Roman"/>
              </a:rPr>
              <a:t>FR-10: The system shall allow employees to submit leave requests and administrators to approve, reject or cancel them.</a:t>
            </a:r>
          </a:p>
          <a:p>
            <a:pPr>
              <a:spcAft>
                <a:spcPts val="700"/>
              </a:spcAft>
            </a:pPr>
            <a:r>
              <a:rPr b="0" sz="1400" i="0">
                <a:solidFill>
                  <a:srgbClr val="000000"/>
                </a:solidFill>
                <a:latin typeface="Times New Roman"/>
              </a:rPr>
              <a:t>FR-11: The system shall convert approved leave into “On Leave” attendance records for the affected working days.</a:t>
            </a:r>
          </a:p>
          <a:p>
            <a:pPr>
              <a:spcAft>
                <a:spcPts val="700"/>
              </a:spcAft>
            </a:pPr>
            <a:r>
              <a:rPr b="0" sz="1400" i="0">
                <a:solidFill>
                  <a:srgbClr val="000000"/>
                </a:solidFill>
                <a:latin typeface="Times New Roman"/>
              </a:rPr>
              <a:t>FR-12: The system shall generate the previous month’s payroll automatically on the first day of each month, exactly once.</a:t>
            </a:r>
          </a:p>
          <a:p>
            <a:pPr>
              <a:spcAft>
                <a:spcPts val="700"/>
              </a:spcAft>
            </a:pPr>
            <a:r>
              <a:rPr b="0" sz="1400" i="0">
                <a:solidFill>
                  <a:srgbClr val="000000"/>
                </a:solidFill>
                <a:latin typeface="Times New Roman"/>
              </a:rPr>
              <a:t>FR-13: The system shall calculate net salary by applying absence and late-arrival deduction rules.</a:t>
            </a:r>
          </a:p>
          <a:p>
            <a:pPr>
              <a:spcAft>
                <a:spcPts val="700"/>
              </a:spcAft>
            </a:pPr>
            <a:r>
              <a:rPr b="0" sz="1400" i="0">
                <a:solidFill>
                  <a:srgbClr val="000000"/>
                </a:solidFill>
                <a:latin typeface="Times New Roman"/>
              </a:rPr>
              <a:t>FR-14: The system shall provide payroll views per employee and per company, and a live payroll projection for the current month.</a:t>
            </a:r>
          </a:p>
          <a:p>
            <a:pPr>
              <a:spcAft>
                <a:spcPts val="700"/>
              </a:spcAft>
            </a:pPr>
            <a:r>
              <a:rPr b="0" sz="1400" i="0">
                <a:solidFill>
                  <a:srgbClr val="000000"/>
                </a:solidFill>
                <a:latin typeface="Times New Roman"/>
              </a:rPr>
              <a:t>FR-15: The system shall provide daily, monthly and per-employee attendance summaries and statistics.</a:t>
            </a:r>
          </a:p>
          <a:p>
            <a:pPr>
              <a:spcAft>
                <a:spcPts val="700"/>
              </a:spcAft>
            </a:pPr>
            <a:r>
              <a:rPr b="0" sz="1400" i="0">
                <a:solidFill>
                  <a:srgbClr val="000000"/>
                </a:solidFill>
                <a:latin typeface="Times New Roman"/>
              </a:rPr>
              <a:t>FR-16: The system shall provide an AI assistant that answers HR questions using read-only data tools and reports the tools used.</a:t>
            </a:r>
          </a:p>
          <a:p>
            <a:pPr>
              <a:spcAft>
                <a:spcPts val="700"/>
              </a:spcAft>
            </a:pPr>
            <a:r>
              <a:rPr b="0" sz="1400" i="0">
                <a:solidFill>
                  <a:srgbClr val="000000"/>
                </a:solidFill>
                <a:latin typeface="Times New Roman"/>
              </a:rPr>
              <a:t>FR-17: The system shall provide an OpenAPI/Swagger description of the API with bearer authentication.</a:t>
            </a:r>
          </a:p>
          <a:p>
            <a:pPr>
              <a:spcAft>
                <a:spcPts val="700"/>
              </a:spcAft>
            </a:pPr>
            <a:r>
              <a:rPr b="0" sz="1400" i="0">
                <a:solidFill>
                  <a:srgbClr val="000000"/>
                </a:solidFill>
                <a:latin typeface="Times New Roman"/>
              </a:rPr>
              <a:t>FR-18: The system shall return paginated results for all list endpoints with a default and maximum page size.</a:t>
            </a:r>
          </a:p>
        </p:txBody>
      </p:sp>
      <p:sp>
        <p:nvSpPr>
          <p:cNvPr id="6" name="TextBox 5"/>
          <p:cNvSpPr txBox="1"/>
          <p:nvPr/>
        </p:nvSpPr>
        <p:spPr>
          <a:xfrm>
            <a:off x="8382000" y="6578600"/>
            <a:ext cx="635000" cy="228600"/>
          </a:xfrm>
          <a:prstGeom prst="rect">
            <a:avLst/>
          </a:prstGeom>
          <a:noFill/>
        </p:spPr>
        <p:txBody>
          <a:bodyPr wrap="square" lIns="0" rIns="0" tIns="0" bIns="0" anchor="t">
            <a:spAutoFit/>
          </a:bodyPr>
          <a:lstStyle/>
          <a:p>
            <a:pPr algn="r"/>
            <a:r>
              <a:rPr b="0" sz="1200" i="0">
                <a:solidFill>
                  <a:srgbClr val="000000"/>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ubat.jpeg"/>
          <p:cNvPicPr>
            <a:picLocks noChangeAspect="1"/>
          </p:cNvPicPr>
          <p:nvPr/>
        </p:nvPicPr>
        <p:blipFill>
          <a:blip r:embed="rId2"/>
          <a:stretch>
            <a:fillRect/>
          </a:stretch>
        </p:blipFill>
        <p:spPr>
          <a:xfrm>
            <a:off x="50800" y="88900"/>
            <a:ext cx="609600" cy="533400"/>
          </a:xfrm>
          <a:prstGeom prst="rect">
            <a:avLst/>
          </a:prstGeom>
        </p:spPr>
      </p:pic>
      <p:pic>
        <p:nvPicPr>
          <p:cNvPr id="3" name="Picture 2" descr="cse.jpeg"/>
          <p:cNvPicPr>
            <a:picLocks noChangeAspect="1"/>
          </p:cNvPicPr>
          <p:nvPr/>
        </p:nvPicPr>
        <p:blipFill>
          <a:blip r:embed="rId3"/>
          <a:stretch>
            <a:fillRect/>
          </a:stretch>
        </p:blipFill>
        <p:spPr>
          <a:xfrm>
            <a:off x="8534400" y="127000"/>
            <a:ext cx="457200" cy="469900"/>
          </a:xfrm>
          <a:prstGeom prst="rect">
            <a:avLst/>
          </a:prstGeom>
        </p:spPr>
      </p:pic>
      <p:sp>
        <p:nvSpPr>
          <p:cNvPr id="4" name="TextBox 3"/>
          <p:cNvSpPr txBox="1"/>
          <p:nvPr/>
        </p:nvSpPr>
        <p:spPr>
          <a:xfrm>
            <a:off x="762000" y="152400"/>
            <a:ext cx="7620000" cy="558800"/>
          </a:xfrm>
          <a:prstGeom prst="rect">
            <a:avLst/>
          </a:prstGeom>
          <a:noFill/>
        </p:spPr>
        <p:txBody>
          <a:bodyPr wrap="square" lIns="0" rIns="0" tIns="0" bIns="0" anchor="ctr">
            <a:spAutoFit/>
          </a:bodyPr>
          <a:lstStyle/>
          <a:p>
            <a:pPr algn="ctr"/>
            <a:r>
              <a:rPr b="1" sz="3000" i="0">
                <a:solidFill>
                  <a:srgbClr val="000000"/>
                </a:solidFill>
                <a:latin typeface="Times New Roman"/>
              </a:rPr>
              <a:t>Non-Functional Requirement</a:t>
            </a:r>
          </a:p>
        </p:txBody>
      </p:sp>
      <p:sp>
        <p:nvSpPr>
          <p:cNvPr id="5" name="TextBox 4"/>
          <p:cNvSpPr txBox="1"/>
          <p:nvPr/>
        </p:nvSpPr>
        <p:spPr>
          <a:xfrm>
            <a:off x="457200" y="812800"/>
            <a:ext cx="4064000" cy="304800"/>
          </a:xfrm>
          <a:prstGeom prst="rect">
            <a:avLst/>
          </a:prstGeom>
          <a:noFill/>
        </p:spPr>
        <p:txBody>
          <a:bodyPr wrap="square">
            <a:spAutoFit/>
          </a:bodyPr>
          <a:lstStyle/>
          <a:p>
            <a:pPr>
              <a:spcAft>
                <a:spcPts val="800"/>
              </a:spcAft>
            </a:pPr>
            <a:r>
              <a:rPr b="1" sz="1600" i="0">
                <a:solidFill>
                  <a:srgbClr val="000000"/>
                </a:solidFill>
                <a:latin typeface="Times New Roman"/>
              </a:rPr>
              <a:t>Security Requirements:</a:t>
            </a:r>
          </a:p>
        </p:txBody>
      </p:sp>
      <p:sp>
        <p:nvSpPr>
          <p:cNvPr id="6" name="TextBox 5"/>
          <p:cNvSpPr txBox="1"/>
          <p:nvPr/>
        </p:nvSpPr>
        <p:spPr>
          <a:xfrm>
            <a:off x="457200" y="1143000"/>
            <a:ext cx="4064000" cy="2540000"/>
          </a:xfrm>
          <a:prstGeom prst="rect">
            <a:avLst/>
          </a:prstGeom>
          <a:noFill/>
        </p:spPr>
        <p:txBody>
          <a:bodyPr wrap="square" lIns="0" rIns="0">
            <a:spAutoFit/>
          </a:bodyPr>
          <a:lstStyle/>
          <a:p>
            <a:pPr marL="342900" indent="-342900">
              <a:spcAft>
                <a:spcPts val="300"/>
              </a:spcAft>
              <a:buFont typeface="Arial"/>
              <a:buChar char="•"/>
            </a:pPr>
            <a:r>
              <a:rPr b="0" sz="1300" i="0">
                <a:solidFill>
                  <a:srgbClr val="000000"/>
                </a:solidFill>
                <a:latin typeface="Calibri"/>
              </a:rPr>
              <a:t>JWT authentication with 15-minute access tokens and HttpOnly/Secure refresh cookies</a:t>
            </a:r>
          </a:p>
          <a:p>
            <a:pPr marL="342900" indent="-342900">
              <a:spcAft>
                <a:spcPts val="300"/>
              </a:spcAft>
              <a:buFont typeface="Arial"/>
              <a:buChar char="•"/>
            </a:pPr>
            <a:r>
              <a:rPr b="0" sz="1300" i="0">
                <a:solidFill>
                  <a:srgbClr val="000000"/>
                </a:solidFill>
                <a:latin typeface="Calibri"/>
              </a:rPr>
              <a:t>Passwords hashed with BCrypt; role-based authorization on every endpoint</a:t>
            </a:r>
          </a:p>
          <a:p>
            <a:pPr marL="342900" indent="-342900">
              <a:spcAft>
                <a:spcPts val="300"/>
              </a:spcAft>
              <a:buFont typeface="Arial"/>
              <a:buChar char="•"/>
            </a:pPr>
            <a:r>
              <a:rPr b="0" sz="1300" i="0">
                <a:solidFill>
                  <a:srgbClr val="000000"/>
                </a:solidFill>
                <a:latin typeface="Calibri"/>
              </a:rPr>
              <a:t>No request may read another company’s data (tenant isolation)</a:t>
            </a:r>
          </a:p>
          <a:p>
            <a:pPr marL="342900" indent="-342900">
              <a:spcAft>
                <a:spcPts val="300"/>
              </a:spcAft>
              <a:buFont typeface="Arial"/>
              <a:buChar char="•"/>
            </a:pPr>
            <a:r>
              <a:rPr b="0" sz="1300" i="0">
                <a:solidFill>
                  <a:srgbClr val="000000"/>
                </a:solidFill>
                <a:latin typeface="Calibri"/>
              </a:rPr>
              <a:t>Secrets kept in user-secrets / environment variables, never in source control</a:t>
            </a:r>
          </a:p>
        </p:txBody>
      </p:sp>
      <p:sp>
        <p:nvSpPr>
          <p:cNvPr id="7" name="TextBox 6"/>
          <p:cNvSpPr txBox="1"/>
          <p:nvPr/>
        </p:nvSpPr>
        <p:spPr>
          <a:xfrm>
            <a:off x="4724400" y="812800"/>
            <a:ext cx="4064000" cy="304800"/>
          </a:xfrm>
          <a:prstGeom prst="rect">
            <a:avLst/>
          </a:prstGeom>
          <a:noFill/>
        </p:spPr>
        <p:txBody>
          <a:bodyPr wrap="square">
            <a:spAutoFit/>
          </a:bodyPr>
          <a:lstStyle/>
          <a:p>
            <a:pPr>
              <a:spcAft>
                <a:spcPts val="800"/>
              </a:spcAft>
            </a:pPr>
            <a:r>
              <a:rPr b="1" sz="1600" i="0">
                <a:solidFill>
                  <a:srgbClr val="000000"/>
                </a:solidFill>
                <a:latin typeface="Times New Roman"/>
              </a:rPr>
              <a:t>Performance &amp; Scalability Requirements:</a:t>
            </a:r>
          </a:p>
        </p:txBody>
      </p:sp>
      <p:sp>
        <p:nvSpPr>
          <p:cNvPr id="8" name="TextBox 7"/>
          <p:cNvSpPr txBox="1"/>
          <p:nvPr/>
        </p:nvSpPr>
        <p:spPr>
          <a:xfrm>
            <a:off x="4724400" y="1143000"/>
            <a:ext cx="4064000" cy="2032000"/>
          </a:xfrm>
          <a:prstGeom prst="rect">
            <a:avLst/>
          </a:prstGeom>
          <a:noFill/>
        </p:spPr>
        <p:txBody>
          <a:bodyPr wrap="square" lIns="0" rIns="0">
            <a:spAutoFit/>
          </a:bodyPr>
          <a:lstStyle/>
          <a:p>
            <a:pPr marL="342900" indent="-342900">
              <a:spcAft>
                <a:spcPts val="300"/>
              </a:spcAft>
              <a:buFont typeface="Arial"/>
              <a:buChar char="•"/>
            </a:pPr>
            <a:r>
              <a:rPr b="0" sz="1300" i="0">
                <a:solidFill>
                  <a:srgbClr val="000000"/>
                </a:solidFill>
                <a:latin typeface="Calibri"/>
              </a:rPr>
              <a:t>List endpoints paginated (default 50, maximum 100 items)</a:t>
            </a:r>
          </a:p>
          <a:p>
            <a:pPr marL="342900" indent="-342900">
              <a:spcAft>
                <a:spcPts val="300"/>
              </a:spcAft>
              <a:buFont typeface="Arial"/>
              <a:buChar char="•"/>
            </a:pPr>
            <a:r>
              <a:rPr b="0" sz="1300" i="0">
                <a:solidFill>
                  <a:srgbClr val="000000"/>
                </a:solidFill>
                <a:latin typeface="Calibri"/>
              </a:rPr>
              <a:t>Typical API responses within one second; AI answers within ten seconds</a:t>
            </a:r>
          </a:p>
          <a:p>
            <a:pPr marL="342900" indent="-342900">
              <a:spcAft>
                <a:spcPts val="300"/>
              </a:spcAft>
              <a:buFont typeface="Arial"/>
              <a:buChar char="•"/>
            </a:pPr>
            <a:r>
              <a:rPr b="0" sz="1300" i="0">
                <a:solidFill>
                  <a:srgbClr val="000000"/>
                </a:solidFill>
                <a:latin typeface="Calibri"/>
              </a:rPr>
              <a:t>Design supports growth in companies, employees and attendance records</a:t>
            </a:r>
          </a:p>
        </p:txBody>
      </p:sp>
      <p:sp>
        <p:nvSpPr>
          <p:cNvPr id="9" name="TextBox 8"/>
          <p:cNvSpPr txBox="1"/>
          <p:nvPr/>
        </p:nvSpPr>
        <p:spPr>
          <a:xfrm>
            <a:off x="457200" y="3429000"/>
            <a:ext cx="4064000" cy="304800"/>
          </a:xfrm>
          <a:prstGeom prst="rect">
            <a:avLst/>
          </a:prstGeom>
          <a:noFill/>
        </p:spPr>
        <p:txBody>
          <a:bodyPr wrap="square">
            <a:spAutoFit/>
          </a:bodyPr>
          <a:lstStyle/>
          <a:p>
            <a:pPr>
              <a:spcAft>
                <a:spcPts val="800"/>
              </a:spcAft>
            </a:pPr>
            <a:r>
              <a:rPr b="1" sz="1600" i="0">
                <a:solidFill>
                  <a:srgbClr val="000000"/>
                </a:solidFill>
                <a:latin typeface="Times New Roman"/>
              </a:rPr>
              <a:t>Reliability &amp; Integrity Requirements:</a:t>
            </a:r>
          </a:p>
        </p:txBody>
      </p:sp>
      <p:sp>
        <p:nvSpPr>
          <p:cNvPr id="10" name="TextBox 9"/>
          <p:cNvSpPr txBox="1"/>
          <p:nvPr/>
        </p:nvSpPr>
        <p:spPr>
          <a:xfrm>
            <a:off x="457200" y="3759200"/>
            <a:ext cx="4064000" cy="1524000"/>
          </a:xfrm>
          <a:prstGeom prst="rect">
            <a:avLst/>
          </a:prstGeom>
          <a:noFill/>
        </p:spPr>
        <p:txBody>
          <a:bodyPr wrap="square" lIns="0" rIns="0">
            <a:spAutoFit/>
          </a:bodyPr>
          <a:lstStyle/>
          <a:p>
            <a:pPr marL="342900" indent="-342900">
              <a:spcAft>
                <a:spcPts val="300"/>
              </a:spcAft>
              <a:buFont typeface="Arial"/>
              <a:buChar char="•"/>
            </a:pPr>
            <a:r>
              <a:rPr b="0" sz="1300" i="0">
                <a:solidFill>
                  <a:srgbClr val="000000"/>
                </a:solidFill>
                <a:latin typeface="Calibri"/>
              </a:rPr>
              <a:t>Scheduled jobs idempotent; recover from missed runs at restart</a:t>
            </a:r>
          </a:p>
          <a:p>
            <a:pPr marL="342900" indent="-342900">
              <a:spcAft>
                <a:spcPts val="300"/>
              </a:spcAft>
              <a:buFont typeface="Arial"/>
              <a:buChar char="•"/>
            </a:pPr>
            <a:r>
              <a:rPr b="0" sz="1300" i="0">
                <a:solidFill>
                  <a:srgbClr val="000000"/>
                </a:solidFill>
                <a:latin typeface="Calibri"/>
              </a:rPr>
              <a:t>No duplicate attendance per employee/day or payroll per employee/month</a:t>
            </a:r>
          </a:p>
        </p:txBody>
      </p:sp>
      <p:sp>
        <p:nvSpPr>
          <p:cNvPr id="11" name="TextBox 10"/>
          <p:cNvSpPr txBox="1"/>
          <p:nvPr/>
        </p:nvSpPr>
        <p:spPr>
          <a:xfrm>
            <a:off x="4724400" y="3429000"/>
            <a:ext cx="4064000" cy="304800"/>
          </a:xfrm>
          <a:prstGeom prst="rect">
            <a:avLst/>
          </a:prstGeom>
          <a:noFill/>
        </p:spPr>
        <p:txBody>
          <a:bodyPr wrap="square">
            <a:spAutoFit/>
          </a:bodyPr>
          <a:lstStyle/>
          <a:p>
            <a:pPr>
              <a:spcAft>
                <a:spcPts val="800"/>
              </a:spcAft>
            </a:pPr>
            <a:r>
              <a:rPr b="1" sz="1600" i="0">
                <a:solidFill>
                  <a:srgbClr val="000000"/>
                </a:solidFill>
                <a:latin typeface="Times New Roman"/>
              </a:rPr>
              <a:t>Usability &amp; Maintainability Requirements:</a:t>
            </a:r>
          </a:p>
        </p:txBody>
      </p:sp>
      <p:sp>
        <p:nvSpPr>
          <p:cNvPr id="12" name="TextBox 11"/>
          <p:cNvSpPr txBox="1"/>
          <p:nvPr/>
        </p:nvSpPr>
        <p:spPr>
          <a:xfrm>
            <a:off x="4724400" y="3759200"/>
            <a:ext cx="4064000" cy="2032000"/>
          </a:xfrm>
          <a:prstGeom prst="rect">
            <a:avLst/>
          </a:prstGeom>
          <a:noFill/>
        </p:spPr>
        <p:txBody>
          <a:bodyPr wrap="square" lIns="0" rIns="0">
            <a:spAutoFit/>
          </a:bodyPr>
          <a:lstStyle/>
          <a:p>
            <a:pPr marL="342900" indent="-342900">
              <a:spcAft>
                <a:spcPts val="300"/>
              </a:spcAft>
              <a:buFont typeface="Arial"/>
              <a:buChar char="•"/>
            </a:pPr>
            <a:r>
              <a:rPr b="0" sz="1300" i="0">
                <a:solidFill>
                  <a:srgbClr val="000000"/>
                </a:solidFill>
                <a:latin typeface="Calibri"/>
              </a:rPr>
              <a:t>Clear, role-specific, responsive Angular interface with validation messages</a:t>
            </a:r>
          </a:p>
          <a:p>
            <a:pPr marL="342900" indent="-342900">
              <a:spcAft>
                <a:spcPts val="300"/>
              </a:spcAft>
              <a:buFont typeface="Arial"/>
              <a:buChar char="•"/>
            </a:pPr>
            <a:r>
              <a:rPr b="0" sz="1300" i="0">
                <a:solidFill>
                  <a:srgbClr val="000000"/>
                </a:solidFill>
                <a:latin typeface="Calibri"/>
              </a:rPr>
              <a:t>Clean Architecture + CQRS: every use case an isolated, testable handler</a:t>
            </a:r>
          </a:p>
          <a:p>
            <a:pPr marL="342900" indent="-342900">
              <a:spcAft>
                <a:spcPts val="300"/>
              </a:spcAft>
              <a:buFont typeface="Arial"/>
              <a:buChar char="•"/>
            </a:pPr>
            <a:r>
              <a:rPr b="0" sz="1300" i="0">
                <a:solidFill>
                  <a:srgbClr val="000000"/>
                </a:solidFill>
                <a:latin typeface="Calibri"/>
              </a:rPr>
              <a:t>Shift times, JWT, job schedule and AI provider configurable without code changes</a:t>
            </a:r>
          </a:p>
        </p:txBody>
      </p:sp>
      <p:sp>
        <p:nvSpPr>
          <p:cNvPr id="13" name="TextBox 12"/>
          <p:cNvSpPr txBox="1"/>
          <p:nvPr/>
        </p:nvSpPr>
        <p:spPr>
          <a:xfrm>
            <a:off x="8382000" y="6578600"/>
            <a:ext cx="635000" cy="228600"/>
          </a:xfrm>
          <a:prstGeom prst="rect">
            <a:avLst/>
          </a:prstGeom>
          <a:noFill/>
        </p:spPr>
        <p:txBody>
          <a:bodyPr wrap="square" lIns="0" rIns="0" tIns="0" bIns="0" anchor="t">
            <a:spAutoFit/>
          </a:bodyPr>
          <a:lstStyle/>
          <a:p>
            <a:pPr algn="r"/>
            <a:r>
              <a:rPr b="0" sz="1200" i="0">
                <a:solidFill>
                  <a:srgbClr val="000000"/>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ubat.jpeg"/>
          <p:cNvPicPr>
            <a:picLocks noChangeAspect="1"/>
          </p:cNvPicPr>
          <p:nvPr/>
        </p:nvPicPr>
        <p:blipFill>
          <a:blip r:embed="rId2"/>
          <a:stretch>
            <a:fillRect/>
          </a:stretch>
        </p:blipFill>
        <p:spPr>
          <a:xfrm>
            <a:off x="50800" y="88900"/>
            <a:ext cx="609600" cy="533400"/>
          </a:xfrm>
          <a:prstGeom prst="rect">
            <a:avLst/>
          </a:prstGeom>
        </p:spPr>
      </p:pic>
      <p:pic>
        <p:nvPicPr>
          <p:cNvPr id="3" name="Picture 2" descr="cse.jpeg"/>
          <p:cNvPicPr>
            <a:picLocks noChangeAspect="1"/>
          </p:cNvPicPr>
          <p:nvPr/>
        </p:nvPicPr>
        <p:blipFill>
          <a:blip r:embed="rId3"/>
          <a:stretch>
            <a:fillRect/>
          </a:stretch>
        </p:blipFill>
        <p:spPr>
          <a:xfrm>
            <a:off x="8534400" y="127000"/>
            <a:ext cx="457200" cy="469900"/>
          </a:xfrm>
          <a:prstGeom prst="rect">
            <a:avLst/>
          </a:prstGeom>
        </p:spPr>
      </p:pic>
      <p:sp>
        <p:nvSpPr>
          <p:cNvPr id="4" name="TextBox 3"/>
          <p:cNvSpPr txBox="1"/>
          <p:nvPr/>
        </p:nvSpPr>
        <p:spPr>
          <a:xfrm>
            <a:off x="762000" y="152400"/>
            <a:ext cx="7620000" cy="558800"/>
          </a:xfrm>
          <a:prstGeom prst="rect">
            <a:avLst/>
          </a:prstGeom>
          <a:noFill/>
        </p:spPr>
        <p:txBody>
          <a:bodyPr wrap="square" lIns="0" rIns="0" tIns="0" bIns="0" anchor="ctr">
            <a:spAutoFit/>
          </a:bodyPr>
          <a:lstStyle/>
          <a:p>
            <a:pPr algn="ctr"/>
            <a:r>
              <a:rPr b="1" sz="3000" i="0">
                <a:solidFill>
                  <a:srgbClr val="000000"/>
                </a:solidFill>
                <a:latin typeface="Times New Roman"/>
              </a:rPr>
              <a:t>Use Case Diagram</a:t>
            </a:r>
          </a:p>
        </p:txBody>
      </p:sp>
      <p:pic>
        <p:nvPicPr>
          <p:cNvPr id="5" name="Picture 4" descr="full.png"/>
          <p:cNvPicPr>
            <a:picLocks noChangeAspect="1"/>
          </p:cNvPicPr>
          <p:nvPr/>
        </p:nvPicPr>
        <p:blipFill>
          <a:blip r:embed="rId4"/>
          <a:stretch>
            <a:fillRect/>
          </a:stretch>
        </p:blipFill>
        <p:spPr>
          <a:xfrm>
            <a:off x="889000" y="812800"/>
            <a:ext cx="7366000" cy="3849069"/>
          </a:xfrm>
          <a:prstGeom prst="rect">
            <a:avLst/>
          </a:prstGeom>
        </p:spPr>
      </p:pic>
      <p:sp>
        <p:nvSpPr>
          <p:cNvPr id="6" name="TextBox 5"/>
          <p:cNvSpPr txBox="1"/>
          <p:nvPr/>
        </p:nvSpPr>
        <p:spPr>
          <a:xfrm>
            <a:off x="762000" y="4724400"/>
            <a:ext cx="7620000" cy="304800"/>
          </a:xfrm>
          <a:prstGeom prst="rect">
            <a:avLst/>
          </a:prstGeom>
          <a:noFill/>
        </p:spPr>
        <p:txBody>
          <a:bodyPr wrap="square" lIns="0" rIns="0" tIns="0" bIns="0" anchor="t">
            <a:spAutoFit/>
          </a:bodyPr>
          <a:lstStyle/>
          <a:p>
            <a:pPr algn="ctr"/>
            <a:r>
              <a:rPr b="0" sz="1600" i="0">
                <a:solidFill>
                  <a:srgbClr val="000000"/>
                </a:solidFill>
                <a:latin typeface="Times New Roman"/>
              </a:rPr>
              <a:t>Use Case Diagram of the HRM System</a:t>
            </a:r>
          </a:p>
        </p:txBody>
      </p:sp>
      <p:sp>
        <p:nvSpPr>
          <p:cNvPr id="7" name="TextBox 6"/>
          <p:cNvSpPr txBox="1"/>
          <p:nvPr/>
        </p:nvSpPr>
        <p:spPr>
          <a:xfrm>
            <a:off x="8382000" y="6578600"/>
            <a:ext cx="635000" cy="228600"/>
          </a:xfrm>
          <a:prstGeom prst="rect">
            <a:avLst/>
          </a:prstGeom>
          <a:noFill/>
        </p:spPr>
        <p:txBody>
          <a:bodyPr wrap="square" lIns="0" rIns="0" tIns="0" bIns="0" anchor="t">
            <a:spAutoFit/>
          </a:bodyPr>
          <a:lstStyle/>
          <a:p>
            <a:pPr algn="r"/>
            <a:r>
              <a:rPr b="0" sz="1200" i="0">
                <a:solidFill>
                  <a:srgbClr val="000000"/>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ubat.jpeg"/>
          <p:cNvPicPr>
            <a:picLocks noChangeAspect="1"/>
          </p:cNvPicPr>
          <p:nvPr/>
        </p:nvPicPr>
        <p:blipFill>
          <a:blip r:embed="rId2"/>
          <a:stretch>
            <a:fillRect/>
          </a:stretch>
        </p:blipFill>
        <p:spPr>
          <a:xfrm>
            <a:off x="50800" y="88900"/>
            <a:ext cx="609600" cy="533400"/>
          </a:xfrm>
          <a:prstGeom prst="rect">
            <a:avLst/>
          </a:prstGeom>
        </p:spPr>
      </p:pic>
      <p:pic>
        <p:nvPicPr>
          <p:cNvPr id="3" name="Picture 2" descr="cse.jpeg"/>
          <p:cNvPicPr>
            <a:picLocks noChangeAspect="1"/>
          </p:cNvPicPr>
          <p:nvPr/>
        </p:nvPicPr>
        <p:blipFill>
          <a:blip r:embed="rId3"/>
          <a:stretch>
            <a:fillRect/>
          </a:stretch>
        </p:blipFill>
        <p:spPr>
          <a:xfrm>
            <a:off x="8534400" y="127000"/>
            <a:ext cx="457200" cy="469900"/>
          </a:xfrm>
          <a:prstGeom prst="rect">
            <a:avLst/>
          </a:prstGeom>
        </p:spPr>
      </p:pic>
      <p:sp>
        <p:nvSpPr>
          <p:cNvPr id="4" name="TextBox 3"/>
          <p:cNvSpPr txBox="1"/>
          <p:nvPr/>
        </p:nvSpPr>
        <p:spPr>
          <a:xfrm>
            <a:off x="762000" y="152400"/>
            <a:ext cx="7620000" cy="558800"/>
          </a:xfrm>
          <a:prstGeom prst="rect">
            <a:avLst/>
          </a:prstGeom>
          <a:noFill/>
        </p:spPr>
        <p:txBody>
          <a:bodyPr wrap="square" lIns="0" rIns="0" tIns="0" bIns="0" anchor="ctr">
            <a:spAutoFit/>
          </a:bodyPr>
          <a:lstStyle/>
          <a:p>
            <a:pPr algn="ctr"/>
            <a:r>
              <a:rPr b="1" sz="3000" i="0">
                <a:solidFill>
                  <a:srgbClr val="000000"/>
                </a:solidFill>
                <a:latin typeface="Times New Roman"/>
              </a:rPr>
              <a:t>Activity Diagram</a:t>
            </a:r>
          </a:p>
        </p:txBody>
      </p:sp>
      <p:sp>
        <p:nvSpPr>
          <p:cNvPr id="5" name="Rectangle 4"/>
          <p:cNvSpPr/>
          <p:nvPr/>
        </p:nvSpPr>
        <p:spPr>
          <a:xfrm>
            <a:off x="1397000" y="812800"/>
            <a:ext cx="6350000" cy="5080000"/>
          </a:xfrm>
          <a:prstGeom prst="rect">
            <a:avLst/>
          </a:prstGeom>
          <a:solidFill>
            <a:srgbClr val="FAFAFA"/>
          </a:solidFill>
          <a:ln w="12700">
            <a:solidFill>
              <a:srgbClr val="595959"/>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i="1">
                <a:solidFill>
                  <a:srgbClr val="595959"/>
                </a:solidFill>
                <a:latin typeface="Calibri"/>
                <a:highlight>
                  <a:srgbClr val="FFFF00"/>
                </a:highlight>
              </a:rPr>
              <a:t>[Insert image: Activity Diagram for Authentication and Role-Based Access]</a:t>
            </a:r>
          </a:p>
        </p:txBody>
      </p:sp>
      <p:sp>
        <p:nvSpPr>
          <p:cNvPr id="6" name="TextBox 5"/>
          <p:cNvSpPr txBox="1"/>
          <p:nvPr/>
        </p:nvSpPr>
        <p:spPr>
          <a:xfrm>
            <a:off x="762000" y="5969000"/>
            <a:ext cx="7620000" cy="330200"/>
          </a:xfrm>
          <a:prstGeom prst="rect">
            <a:avLst/>
          </a:prstGeom>
          <a:noFill/>
        </p:spPr>
        <p:txBody>
          <a:bodyPr wrap="square" lIns="0" rIns="0" tIns="0" bIns="0" anchor="t">
            <a:spAutoFit/>
          </a:bodyPr>
          <a:lstStyle/>
          <a:p>
            <a:pPr algn="ctr"/>
            <a:r>
              <a:rPr b="0" sz="1600" i="0">
                <a:solidFill>
                  <a:srgbClr val="000000"/>
                </a:solidFill>
                <a:latin typeface="Times New Roman"/>
              </a:rPr>
              <a:t>Activity Diagram for Authentication and Role-Based Access</a:t>
            </a:r>
          </a:p>
        </p:txBody>
      </p:sp>
      <p:sp>
        <p:nvSpPr>
          <p:cNvPr id="7" name="TextBox 6"/>
          <p:cNvSpPr txBox="1"/>
          <p:nvPr/>
        </p:nvSpPr>
        <p:spPr>
          <a:xfrm>
            <a:off x="8382000" y="6578600"/>
            <a:ext cx="635000" cy="228600"/>
          </a:xfrm>
          <a:prstGeom prst="rect">
            <a:avLst/>
          </a:prstGeom>
          <a:noFill/>
        </p:spPr>
        <p:txBody>
          <a:bodyPr wrap="square" lIns="0" rIns="0" tIns="0" bIns="0" anchor="t">
            <a:spAutoFit/>
          </a:bodyPr>
          <a:lstStyle/>
          <a:p>
            <a:pPr algn="r"/>
            <a:r>
              <a:rPr b="0" sz="1200" i="0">
                <a:solidFill>
                  <a:srgbClr val="000000"/>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ubat.jpeg"/>
          <p:cNvPicPr>
            <a:picLocks noChangeAspect="1"/>
          </p:cNvPicPr>
          <p:nvPr/>
        </p:nvPicPr>
        <p:blipFill>
          <a:blip r:embed="rId2"/>
          <a:stretch>
            <a:fillRect/>
          </a:stretch>
        </p:blipFill>
        <p:spPr>
          <a:xfrm>
            <a:off x="50800" y="88900"/>
            <a:ext cx="609600" cy="533400"/>
          </a:xfrm>
          <a:prstGeom prst="rect">
            <a:avLst/>
          </a:prstGeom>
        </p:spPr>
      </p:pic>
      <p:pic>
        <p:nvPicPr>
          <p:cNvPr id="3" name="Picture 2" descr="cse.jpeg"/>
          <p:cNvPicPr>
            <a:picLocks noChangeAspect="1"/>
          </p:cNvPicPr>
          <p:nvPr/>
        </p:nvPicPr>
        <p:blipFill>
          <a:blip r:embed="rId3"/>
          <a:stretch>
            <a:fillRect/>
          </a:stretch>
        </p:blipFill>
        <p:spPr>
          <a:xfrm>
            <a:off x="8534400" y="127000"/>
            <a:ext cx="457200" cy="469900"/>
          </a:xfrm>
          <a:prstGeom prst="rect">
            <a:avLst/>
          </a:prstGeom>
        </p:spPr>
      </p:pic>
      <p:sp>
        <p:nvSpPr>
          <p:cNvPr id="4" name="TextBox 3"/>
          <p:cNvSpPr txBox="1"/>
          <p:nvPr/>
        </p:nvSpPr>
        <p:spPr>
          <a:xfrm>
            <a:off x="762000" y="152400"/>
            <a:ext cx="7620000" cy="558800"/>
          </a:xfrm>
          <a:prstGeom prst="rect">
            <a:avLst/>
          </a:prstGeom>
          <a:noFill/>
        </p:spPr>
        <p:txBody>
          <a:bodyPr wrap="square" lIns="0" rIns="0" tIns="0" bIns="0" anchor="ctr">
            <a:spAutoFit/>
          </a:bodyPr>
          <a:lstStyle/>
          <a:p>
            <a:pPr algn="ctr"/>
            <a:r>
              <a:rPr b="1" sz="3000" i="0">
                <a:solidFill>
                  <a:srgbClr val="000000"/>
                </a:solidFill>
                <a:latin typeface="Times New Roman"/>
              </a:rPr>
              <a:t>Activity Diagram</a:t>
            </a:r>
          </a:p>
        </p:txBody>
      </p:sp>
      <p:sp>
        <p:nvSpPr>
          <p:cNvPr id="5" name="Rectangle 4"/>
          <p:cNvSpPr/>
          <p:nvPr/>
        </p:nvSpPr>
        <p:spPr>
          <a:xfrm>
            <a:off x="1397000" y="812800"/>
            <a:ext cx="6350000" cy="5080000"/>
          </a:xfrm>
          <a:prstGeom prst="rect">
            <a:avLst/>
          </a:prstGeom>
          <a:solidFill>
            <a:srgbClr val="FAFAFA"/>
          </a:solidFill>
          <a:ln w="12700">
            <a:solidFill>
              <a:srgbClr val="595959"/>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i="1">
                <a:solidFill>
                  <a:srgbClr val="595959"/>
                </a:solidFill>
                <a:latin typeface="Calibri"/>
                <a:highlight>
                  <a:srgbClr val="FFFF00"/>
                </a:highlight>
              </a:rPr>
              <a:t>[Insert image: Activity Diagram for Company, Department, Role and Employee Management]</a:t>
            </a:r>
          </a:p>
        </p:txBody>
      </p:sp>
      <p:sp>
        <p:nvSpPr>
          <p:cNvPr id="6" name="TextBox 5"/>
          <p:cNvSpPr txBox="1"/>
          <p:nvPr/>
        </p:nvSpPr>
        <p:spPr>
          <a:xfrm>
            <a:off x="762000" y="5969000"/>
            <a:ext cx="7620000" cy="330200"/>
          </a:xfrm>
          <a:prstGeom prst="rect">
            <a:avLst/>
          </a:prstGeom>
          <a:noFill/>
        </p:spPr>
        <p:txBody>
          <a:bodyPr wrap="square" lIns="0" rIns="0" tIns="0" bIns="0" anchor="t">
            <a:spAutoFit/>
          </a:bodyPr>
          <a:lstStyle/>
          <a:p>
            <a:pPr algn="ctr"/>
            <a:r>
              <a:rPr b="0" sz="1600" i="0">
                <a:solidFill>
                  <a:srgbClr val="000000"/>
                </a:solidFill>
                <a:latin typeface="Times New Roman"/>
              </a:rPr>
              <a:t>Activity Diagram for Company, Department, Role and Employee Management</a:t>
            </a:r>
          </a:p>
        </p:txBody>
      </p:sp>
      <p:sp>
        <p:nvSpPr>
          <p:cNvPr id="7" name="TextBox 6"/>
          <p:cNvSpPr txBox="1"/>
          <p:nvPr/>
        </p:nvSpPr>
        <p:spPr>
          <a:xfrm>
            <a:off x="8382000" y="6578600"/>
            <a:ext cx="635000" cy="228600"/>
          </a:xfrm>
          <a:prstGeom prst="rect">
            <a:avLst/>
          </a:prstGeom>
          <a:noFill/>
        </p:spPr>
        <p:txBody>
          <a:bodyPr wrap="square" lIns="0" rIns="0" tIns="0" bIns="0" anchor="t">
            <a:spAutoFit/>
          </a:bodyPr>
          <a:lstStyle/>
          <a:p>
            <a:pPr algn="r"/>
            <a:r>
              <a:rPr b="0" sz="1200" i="0">
                <a:solidFill>
                  <a:srgbClr val="000000"/>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ubat.jpeg"/>
          <p:cNvPicPr>
            <a:picLocks noChangeAspect="1"/>
          </p:cNvPicPr>
          <p:nvPr/>
        </p:nvPicPr>
        <p:blipFill>
          <a:blip r:embed="rId2"/>
          <a:stretch>
            <a:fillRect/>
          </a:stretch>
        </p:blipFill>
        <p:spPr>
          <a:xfrm>
            <a:off x="50800" y="88900"/>
            <a:ext cx="609600" cy="533400"/>
          </a:xfrm>
          <a:prstGeom prst="rect">
            <a:avLst/>
          </a:prstGeom>
        </p:spPr>
      </p:pic>
      <p:pic>
        <p:nvPicPr>
          <p:cNvPr id="3" name="Picture 2" descr="cse.jpeg"/>
          <p:cNvPicPr>
            <a:picLocks noChangeAspect="1"/>
          </p:cNvPicPr>
          <p:nvPr/>
        </p:nvPicPr>
        <p:blipFill>
          <a:blip r:embed="rId3"/>
          <a:stretch>
            <a:fillRect/>
          </a:stretch>
        </p:blipFill>
        <p:spPr>
          <a:xfrm>
            <a:off x="8534400" y="127000"/>
            <a:ext cx="457200" cy="469900"/>
          </a:xfrm>
          <a:prstGeom prst="rect">
            <a:avLst/>
          </a:prstGeom>
        </p:spPr>
      </p:pic>
      <p:sp>
        <p:nvSpPr>
          <p:cNvPr id="4" name="TextBox 3"/>
          <p:cNvSpPr txBox="1"/>
          <p:nvPr/>
        </p:nvSpPr>
        <p:spPr>
          <a:xfrm>
            <a:off x="762000" y="152400"/>
            <a:ext cx="7620000" cy="558800"/>
          </a:xfrm>
          <a:prstGeom prst="rect">
            <a:avLst/>
          </a:prstGeom>
          <a:noFill/>
        </p:spPr>
        <p:txBody>
          <a:bodyPr wrap="square" lIns="0" rIns="0" tIns="0" bIns="0" anchor="ctr">
            <a:spAutoFit/>
          </a:bodyPr>
          <a:lstStyle/>
          <a:p>
            <a:pPr algn="ctr"/>
            <a:r>
              <a:rPr b="1" sz="3000" i="0">
                <a:solidFill>
                  <a:srgbClr val="000000"/>
                </a:solidFill>
                <a:latin typeface="Times New Roman"/>
              </a:rPr>
              <a:t>Activity Diagram</a:t>
            </a:r>
          </a:p>
        </p:txBody>
      </p:sp>
      <p:sp>
        <p:nvSpPr>
          <p:cNvPr id="5" name="Rectangle 4"/>
          <p:cNvSpPr/>
          <p:nvPr/>
        </p:nvSpPr>
        <p:spPr>
          <a:xfrm>
            <a:off x="1397000" y="812800"/>
            <a:ext cx="6350000" cy="5080000"/>
          </a:xfrm>
          <a:prstGeom prst="rect">
            <a:avLst/>
          </a:prstGeom>
          <a:solidFill>
            <a:srgbClr val="FAFAFA"/>
          </a:solidFill>
          <a:ln w="12700">
            <a:solidFill>
              <a:srgbClr val="595959"/>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i="1">
                <a:solidFill>
                  <a:srgbClr val="595959"/>
                </a:solidFill>
                <a:latin typeface="Calibri"/>
                <a:highlight>
                  <a:srgbClr val="FFFF00"/>
                </a:highlight>
              </a:rPr>
              <a:t>[Insert image: Activity Diagram for Attendance Check-In/Check-Out and Automatic Absent Marking]</a:t>
            </a:r>
          </a:p>
        </p:txBody>
      </p:sp>
      <p:sp>
        <p:nvSpPr>
          <p:cNvPr id="6" name="TextBox 5"/>
          <p:cNvSpPr txBox="1"/>
          <p:nvPr/>
        </p:nvSpPr>
        <p:spPr>
          <a:xfrm>
            <a:off x="762000" y="5969000"/>
            <a:ext cx="7620000" cy="330200"/>
          </a:xfrm>
          <a:prstGeom prst="rect">
            <a:avLst/>
          </a:prstGeom>
          <a:noFill/>
        </p:spPr>
        <p:txBody>
          <a:bodyPr wrap="square" lIns="0" rIns="0" tIns="0" bIns="0" anchor="t">
            <a:spAutoFit/>
          </a:bodyPr>
          <a:lstStyle/>
          <a:p>
            <a:pPr algn="ctr"/>
            <a:r>
              <a:rPr b="0" sz="1600" i="0">
                <a:solidFill>
                  <a:srgbClr val="000000"/>
                </a:solidFill>
                <a:latin typeface="Times New Roman"/>
              </a:rPr>
              <a:t>Activity Diagram for Attendance Check-In/Check-Out and Automatic Absent Marking</a:t>
            </a:r>
          </a:p>
        </p:txBody>
      </p:sp>
      <p:sp>
        <p:nvSpPr>
          <p:cNvPr id="7" name="TextBox 6"/>
          <p:cNvSpPr txBox="1"/>
          <p:nvPr/>
        </p:nvSpPr>
        <p:spPr>
          <a:xfrm>
            <a:off x="8382000" y="6578600"/>
            <a:ext cx="635000" cy="228600"/>
          </a:xfrm>
          <a:prstGeom prst="rect">
            <a:avLst/>
          </a:prstGeom>
          <a:noFill/>
        </p:spPr>
        <p:txBody>
          <a:bodyPr wrap="square" lIns="0" rIns="0" tIns="0" bIns="0" anchor="t">
            <a:spAutoFit/>
          </a:bodyPr>
          <a:lstStyle/>
          <a:p>
            <a:pPr algn="r"/>
            <a:r>
              <a:rPr b="0" sz="1200" i="0">
                <a:solidFill>
                  <a:srgbClr val="000000"/>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ubat.jpeg"/>
          <p:cNvPicPr>
            <a:picLocks noChangeAspect="1"/>
          </p:cNvPicPr>
          <p:nvPr/>
        </p:nvPicPr>
        <p:blipFill>
          <a:blip r:embed="rId2"/>
          <a:stretch>
            <a:fillRect/>
          </a:stretch>
        </p:blipFill>
        <p:spPr>
          <a:xfrm>
            <a:off x="50800" y="88900"/>
            <a:ext cx="609600" cy="533400"/>
          </a:xfrm>
          <a:prstGeom prst="rect">
            <a:avLst/>
          </a:prstGeom>
        </p:spPr>
      </p:pic>
      <p:pic>
        <p:nvPicPr>
          <p:cNvPr id="3" name="Picture 2" descr="cse.jpeg"/>
          <p:cNvPicPr>
            <a:picLocks noChangeAspect="1"/>
          </p:cNvPicPr>
          <p:nvPr/>
        </p:nvPicPr>
        <p:blipFill>
          <a:blip r:embed="rId3"/>
          <a:stretch>
            <a:fillRect/>
          </a:stretch>
        </p:blipFill>
        <p:spPr>
          <a:xfrm>
            <a:off x="8534400" y="127000"/>
            <a:ext cx="457200" cy="469900"/>
          </a:xfrm>
          <a:prstGeom prst="rect">
            <a:avLst/>
          </a:prstGeom>
        </p:spPr>
      </p:pic>
      <p:sp>
        <p:nvSpPr>
          <p:cNvPr id="4" name="TextBox 3"/>
          <p:cNvSpPr txBox="1"/>
          <p:nvPr/>
        </p:nvSpPr>
        <p:spPr>
          <a:xfrm>
            <a:off x="762000" y="152400"/>
            <a:ext cx="7620000" cy="558800"/>
          </a:xfrm>
          <a:prstGeom prst="rect">
            <a:avLst/>
          </a:prstGeom>
          <a:noFill/>
        </p:spPr>
        <p:txBody>
          <a:bodyPr wrap="square" lIns="0" rIns="0" tIns="0" bIns="0" anchor="ctr">
            <a:spAutoFit/>
          </a:bodyPr>
          <a:lstStyle/>
          <a:p>
            <a:pPr algn="ctr"/>
            <a:r>
              <a:rPr b="1" sz="3000" i="0">
                <a:solidFill>
                  <a:srgbClr val="000000"/>
                </a:solidFill>
                <a:latin typeface="Times New Roman"/>
              </a:rPr>
              <a:t>Activity Diagram</a:t>
            </a:r>
          </a:p>
        </p:txBody>
      </p:sp>
      <p:sp>
        <p:nvSpPr>
          <p:cNvPr id="5" name="Rectangle 4"/>
          <p:cNvSpPr/>
          <p:nvPr/>
        </p:nvSpPr>
        <p:spPr>
          <a:xfrm>
            <a:off x="1397000" y="812800"/>
            <a:ext cx="6350000" cy="5080000"/>
          </a:xfrm>
          <a:prstGeom prst="rect">
            <a:avLst/>
          </a:prstGeom>
          <a:solidFill>
            <a:srgbClr val="FAFAFA"/>
          </a:solidFill>
          <a:ln w="12700">
            <a:solidFill>
              <a:srgbClr val="595959"/>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i="1">
                <a:solidFill>
                  <a:srgbClr val="595959"/>
                </a:solidFill>
                <a:latin typeface="Calibri"/>
                <a:highlight>
                  <a:srgbClr val="FFFF00"/>
                </a:highlight>
              </a:rPr>
              <a:t>[Insert image: Activity Diagram for Leave Request and Payroll Generation]</a:t>
            </a:r>
          </a:p>
        </p:txBody>
      </p:sp>
      <p:sp>
        <p:nvSpPr>
          <p:cNvPr id="6" name="TextBox 5"/>
          <p:cNvSpPr txBox="1"/>
          <p:nvPr/>
        </p:nvSpPr>
        <p:spPr>
          <a:xfrm>
            <a:off x="762000" y="5969000"/>
            <a:ext cx="7620000" cy="330200"/>
          </a:xfrm>
          <a:prstGeom prst="rect">
            <a:avLst/>
          </a:prstGeom>
          <a:noFill/>
        </p:spPr>
        <p:txBody>
          <a:bodyPr wrap="square" lIns="0" rIns="0" tIns="0" bIns="0" anchor="t">
            <a:spAutoFit/>
          </a:bodyPr>
          <a:lstStyle/>
          <a:p>
            <a:pPr algn="ctr"/>
            <a:r>
              <a:rPr b="0" sz="1600" i="0">
                <a:solidFill>
                  <a:srgbClr val="000000"/>
                </a:solidFill>
                <a:latin typeface="Times New Roman"/>
              </a:rPr>
              <a:t>Activity Diagram for Leave Request and Payroll Generation</a:t>
            </a:r>
          </a:p>
        </p:txBody>
      </p:sp>
      <p:sp>
        <p:nvSpPr>
          <p:cNvPr id="7" name="TextBox 6"/>
          <p:cNvSpPr txBox="1"/>
          <p:nvPr/>
        </p:nvSpPr>
        <p:spPr>
          <a:xfrm>
            <a:off x="8382000" y="6578600"/>
            <a:ext cx="635000" cy="228600"/>
          </a:xfrm>
          <a:prstGeom prst="rect">
            <a:avLst/>
          </a:prstGeom>
          <a:noFill/>
        </p:spPr>
        <p:txBody>
          <a:bodyPr wrap="square" lIns="0" rIns="0" tIns="0" bIns="0" anchor="t">
            <a:spAutoFit/>
          </a:bodyPr>
          <a:lstStyle/>
          <a:p>
            <a:pPr algn="r"/>
            <a:r>
              <a:rPr b="0" sz="1200" i="0">
                <a:solidFill>
                  <a:srgbClr val="000000"/>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ubat.jpeg"/>
          <p:cNvPicPr>
            <a:picLocks noChangeAspect="1"/>
          </p:cNvPicPr>
          <p:nvPr/>
        </p:nvPicPr>
        <p:blipFill>
          <a:blip r:embed="rId2"/>
          <a:stretch>
            <a:fillRect/>
          </a:stretch>
        </p:blipFill>
        <p:spPr>
          <a:xfrm>
            <a:off x="50800" y="88900"/>
            <a:ext cx="609600" cy="533400"/>
          </a:xfrm>
          <a:prstGeom prst="rect">
            <a:avLst/>
          </a:prstGeom>
        </p:spPr>
      </p:pic>
      <p:pic>
        <p:nvPicPr>
          <p:cNvPr id="3" name="Picture 2" descr="cse.jpeg"/>
          <p:cNvPicPr>
            <a:picLocks noChangeAspect="1"/>
          </p:cNvPicPr>
          <p:nvPr/>
        </p:nvPicPr>
        <p:blipFill>
          <a:blip r:embed="rId3"/>
          <a:stretch>
            <a:fillRect/>
          </a:stretch>
        </p:blipFill>
        <p:spPr>
          <a:xfrm>
            <a:off x="8534400" y="127000"/>
            <a:ext cx="457200" cy="469900"/>
          </a:xfrm>
          <a:prstGeom prst="rect">
            <a:avLst/>
          </a:prstGeom>
        </p:spPr>
      </p:pic>
      <p:sp>
        <p:nvSpPr>
          <p:cNvPr id="4" name="TextBox 3"/>
          <p:cNvSpPr txBox="1"/>
          <p:nvPr/>
        </p:nvSpPr>
        <p:spPr>
          <a:xfrm>
            <a:off x="762000" y="152400"/>
            <a:ext cx="7620000" cy="558800"/>
          </a:xfrm>
          <a:prstGeom prst="rect">
            <a:avLst/>
          </a:prstGeom>
          <a:noFill/>
        </p:spPr>
        <p:txBody>
          <a:bodyPr wrap="square" lIns="0" rIns="0" tIns="0" bIns="0" anchor="ctr">
            <a:spAutoFit/>
          </a:bodyPr>
          <a:lstStyle/>
          <a:p>
            <a:pPr algn="ctr"/>
            <a:r>
              <a:rPr b="1" sz="3000" i="0">
                <a:solidFill>
                  <a:srgbClr val="000000"/>
                </a:solidFill>
                <a:latin typeface="Times New Roman"/>
              </a:rPr>
              <a:t>System Planning</a:t>
            </a:r>
          </a:p>
        </p:txBody>
      </p:sp>
      <p:graphicFrame>
        <p:nvGraphicFramePr>
          <p:cNvPr id="5" name="Table 4"/>
          <p:cNvGraphicFramePr>
            <a:graphicFrameLocks noGrp="1"/>
          </p:cNvGraphicFramePr>
          <p:nvPr/>
        </p:nvGraphicFramePr>
        <p:xfrm>
          <a:off x="304800" y="812800"/>
          <a:ext cx="8534398" cy="5143500"/>
        </p:xfrm>
        <a:graphic>
          <a:graphicData uri="http://schemas.openxmlformats.org/drawingml/2006/table">
            <a:tbl>
              <a:tblPr firstRow="0" bandRow="0">
                <a:tableStyleId>{5940675A-B579-460E-94D1-54222C63F5DA}</a:tableStyleId>
              </a:tblPr>
              <a:tblGrid>
                <a:gridCol w="2117060"/>
                <a:gridCol w="3704855"/>
                <a:gridCol w="595423"/>
                <a:gridCol w="595423"/>
                <a:gridCol w="992372"/>
                <a:gridCol w="529265"/>
              </a:tblGrid>
              <a:tr h="342900">
                <a:tc>
                  <a:txBody>
                    <a:bodyPr wrap="square"/>
                    <a:lstStyle/>
                    <a:p>
                      <a:r>
                        <a:rPr b="1" sz="1000" i="0">
                          <a:solidFill>
                            <a:srgbClr val="000000"/>
                          </a:solidFill>
                          <a:latin typeface="Calibri"/>
                        </a:rPr>
                        <a:t>Function</a:t>
                      </a:r>
                    </a:p>
                  </a:txBody>
                  <a:tcPr marL="50800" marR="50800" marT="25400" marB="25400">
                    <a:solidFill>
                      <a:srgbClr val="D9D9D9"/>
                    </a:solidFill>
                  </a:tcPr>
                </a:tc>
                <a:tc>
                  <a:txBody>
                    <a:bodyPr wrap="square"/>
                    <a:lstStyle/>
                    <a:p>
                      <a:r>
                        <a:rPr b="1" sz="1000" i="0">
                          <a:solidFill>
                            <a:srgbClr val="000000"/>
                          </a:solidFill>
                          <a:latin typeface="Calibri"/>
                        </a:rPr>
                        <a:t>Fields / Files</a:t>
                      </a:r>
                    </a:p>
                  </a:txBody>
                  <a:tcPr marL="50800" marR="50800" marT="25400" marB="25400">
                    <a:solidFill>
                      <a:srgbClr val="D9D9D9"/>
                    </a:solidFill>
                  </a:tcPr>
                </a:tc>
                <a:tc>
                  <a:txBody>
                    <a:bodyPr wrap="square"/>
                    <a:lstStyle/>
                    <a:p>
                      <a:r>
                        <a:rPr b="1" sz="1000" i="0">
                          <a:solidFill>
                            <a:srgbClr val="000000"/>
                          </a:solidFill>
                          <a:latin typeface="Calibri"/>
                        </a:rPr>
                        <a:t>FTRs</a:t>
                      </a:r>
                    </a:p>
                  </a:txBody>
                  <a:tcPr marL="50800" marR="50800" marT="25400" marB="25400">
                    <a:solidFill>
                      <a:srgbClr val="D9D9D9"/>
                    </a:solidFill>
                  </a:tcPr>
                </a:tc>
                <a:tc>
                  <a:txBody>
                    <a:bodyPr wrap="square"/>
                    <a:lstStyle/>
                    <a:p>
                      <a:r>
                        <a:rPr b="1" sz="1000" i="0">
                          <a:solidFill>
                            <a:srgbClr val="000000"/>
                          </a:solidFill>
                          <a:latin typeface="Calibri"/>
                        </a:rPr>
                        <a:t>DETs</a:t>
                      </a:r>
                    </a:p>
                  </a:txBody>
                  <a:tcPr marL="50800" marR="50800" marT="25400" marB="25400">
                    <a:solidFill>
                      <a:srgbClr val="D9D9D9"/>
                    </a:solidFill>
                  </a:tcPr>
                </a:tc>
                <a:tc>
                  <a:txBody>
                    <a:bodyPr wrap="square"/>
                    <a:lstStyle/>
                    <a:p>
                      <a:r>
                        <a:rPr b="1" sz="1000" i="0">
                          <a:solidFill>
                            <a:srgbClr val="000000"/>
                          </a:solidFill>
                          <a:latin typeface="Calibri"/>
                        </a:rPr>
                        <a:t>Complexity</a:t>
                      </a:r>
                    </a:p>
                  </a:txBody>
                  <a:tcPr marL="50800" marR="50800" marT="25400" marB="25400">
                    <a:solidFill>
                      <a:srgbClr val="D9D9D9"/>
                    </a:solidFill>
                  </a:tcPr>
                </a:tc>
                <a:tc>
                  <a:txBody>
                    <a:bodyPr wrap="square"/>
                    <a:lstStyle/>
                    <a:p>
                      <a:r>
                        <a:rPr b="1" sz="1000" i="0">
                          <a:solidFill>
                            <a:srgbClr val="000000"/>
                          </a:solidFill>
                          <a:latin typeface="Calibri"/>
                        </a:rPr>
                        <a:t>UFP</a:t>
                      </a:r>
                    </a:p>
                  </a:txBody>
                  <a:tcPr marL="50800" marR="50800" marT="25400" marB="25400">
                    <a:solidFill>
                      <a:srgbClr val="D9D9D9"/>
                    </a:solidFill>
                  </a:tcPr>
                </a:tc>
              </a:tr>
              <a:tr h="342900">
                <a:tc>
                  <a:txBody>
                    <a:bodyPr wrap="square"/>
                    <a:lstStyle/>
                    <a:p>
                      <a:r>
                        <a:rPr b="0" sz="1000" i="0">
                          <a:solidFill>
                            <a:srgbClr val="000000"/>
                          </a:solidFill>
                          <a:latin typeface="Calibri"/>
                        </a:rPr>
                        <a:t>User login (EI)</a:t>
                      </a:r>
                    </a:p>
                  </a:txBody>
                  <a:tcPr marL="50800" marR="50800" marT="25400" marB="25400"/>
                </a:tc>
                <a:tc>
                  <a:txBody>
                    <a:bodyPr wrap="square"/>
                    <a:lstStyle/>
                    <a:p>
                      <a:r>
                        <a:rPr b="0" sz="1000" i="0">
                          <a:solidFill>
                            <a:srgbClr val="000000"/>
                          </a:solidFill>
                          <a:latin typeface="Calibri"/>
                        </a:rPr>
                        <a:t>E-mail, Password · Files: Employee, RefreshToken</a:t>
                      </a:r>
                    </a:p>
                  </a:txBody>
                  <a:tcPr marL="50800" marR="50800" marT="25400" marB="25400"/>
                </a:tc>
                <a:tc>
                  <a:txBody>
                    <a:bodyPr wrap="square"/>
                    <a:lstStyle/>
                    <a:p>
                      <a:r>
                        <a:rPr b="0" sz="1000" i="0">
                          <a:solidFill>
                            <a:srgbClr val="000000"/>
                          </a:solidFill>
                          <a:latin typeface="Calibri"/>
                        </a:rPr>
                        <a:t>2</a:t>
                      </a:r>
                    </a:p>
                  </a:txBody>
                  <a:tcPr marL="50800" marR="50800" marT="25400" marB="25400"/>
                </a:tc>
                <a:tc>
                  <a:txBody>
                    <a:bodyPr wrap="square"/>
                    <a:lstStyle/>
                    <a:p>
                      <a:r>
                        <a:rPr b="0" sz="1000" i="0">
                          <a:solidFill>
                            <a:srgbClr val="000000"/>
                          </a:solidFill>
                          <a:latin typeface="Calibri"/>
                        </a:rPr>
                        <a:t>3</a:t>
                      </a:r>
                    </a:p>
                  </a:txBody>
                  <a:tcPr marL="50800" marR="50800" marT="25400" marB="25400"/>
                </a:tc>
                <a:tc>
                  <a:txBody>
                    <a:bodyPr wrap="square"/>
                    <a:lstStyle/>
                    <a:p>
                      <a:r>
                        <a:rPr b="0" sz="1000" i="0">
                          <a:solidFill>
                            <a:srgbClr val="000000"/>
                          </a:solidFill>
                          <a:latin typeface="Calibri"/>
                        </a:rPr>
                        <a:t>Low</a:t>
                      </a:r>
                    </a:p>
                  </a:txBody>
                  <a:tcPr marL="50800" marR="50800" marT="25400" marB="25400"/>
                </a:tc>
                <a:tc>
                  <a:txBody>
                    <a:bodyPr wrap="square"/>
                    <a:lstStyle/>
                    <a:p>
                      <a:r>
                        <a:rPr b="0" sz="1000" i="0">
                          <a:solidFill>
                            <a:srgbClr val="000000"/>
                          </a:solidFill>
                          <a:latin typeface="Calibri"/>
                        </a:rPr>
                        <a:t>3</a:t>
                      </a:r>
                    </a:p>
                  </a:txBody>
                  <a:tcPr marL="50800" marR="50800" marT="25400" marB="25400"/>
                </a:tc>
              </a:tr>
              <a:tr h="342900">
                <a:tc>
                  <a:txBody>
                    <a:bodyPr wrap="square"/>
                    <a:lstStyle/>
                    <a:p>
                      <a:r>
                        <a:rPr b="0" sz="1000" i="0">
                          <a:solidFill>
                            <a:srgbClr val="000000"/>
                          </a:solidFill>
                          <a:latin typeface="Calibri"/>
                        </a:rPr>
                        <a:t>Refresh token (EI)</a:t>
                      </a:r>
                    </a:p>
                  </a:txBody>
                  <a:tcPr marL="50800" marR="50800" marT="25400" marB="25400"/>
                </a:tc>
                <a:tc>
                  <a:txBody>
                    <a:bodyPr wrap="square"/>
                    <a:lstStyle/>
                    <a:p>
                      <a:r>
                        <a:rPr b="0" sz="1000" i="0">
                          <a:solidFill>
                            <a:srgbClr val="000000"/>
                          </a:solidFill>
                          <a:latin typeface="Calibri"/>
                        </a:rPr>
                        <a:t>Refresh cookie · Files: RefreshToken, Employee</a:t>
                      </a:r>
                    </a:p>
                  </a:txBody>
                  <a:tcPr marL="50800" marR="50800" marT="25400" marB="25400"/>
                </a:tc>
                <a:tc>
                  <a:txBody>
                    <a:bodyPr wrap="square"/>
                    <a:lstStyle/>
                    <a:p>
                      <a:r>
                        <a:rPr b="0" sz="1000" i="0">
                          <a:solidFill>
                            <a:srgbClr val="000000"/>
                          </a:solidFill>
                          <a:latin typeface="Calibri"/>
                        </a:rPr>
                        <a:t>2</a:t>
                      </a:r>
                    </a:p>
                  </a:txBody>
                  <a:tcPr marL="50800" marR="50800" marT="25400" marB="25400"/>
                </a:tc>
                <a:tc>
                  <a:txBody>
                    <a:bodyPr wrap="square"/>
                    <a:lstStyle/>
                    <a:p>
                      <a:r>
                        <a:rPr b="0" sz="1000" i="0">
                          <a:solidFill>
                            <a:srgbClr val="000000"/>
                          </a:solidFill>
                          <a:latin typeface="Calibri"/>
                        </a:rPr>
                        <a:t>2</a:t>
                      </a:r>
                    </a:p>
                  </a:txBody>
                  <a:tcPr marL="50800" marR="50800" marT="25400" marB="25400"/>
                </a:tc>
                <a:tc>
                  <a:txBody>
                    <a:bodyPr wrap="square"/>
                    <a:lstStyle/>
                    <a:p>
                      <a:r>
                        <a:rPr b="0" sz="1000" i="0">
                          <a:solidFill>
                            <a:srgbClr val="000000"/>
                          </a:solidFill>
                          <a:latin typeface="Calibri"/>
                        </a:rPr>
                        <a:t>Low</a:t>
                      </a:r>
                    </a:p>
                  </a:txBody>
                  <a:tcPr marL="50800" marR="50800" marT="25400" marB="25400"/>
                </a:tc>
                <a:tc>
                  <a:txBody>
                    <a:bodyPr wrap="square"/>
                    <a:lstStyle/>
                    <a:p>
                      <a:r>
                        <a:rPr b="0" sz="1000" i="0">
                          <a:solidFill>
                            <a:srgbClr val="000000"/>
                          </a:solidFill>
                          <a:latin typeface="Calibri"/>
                        </a:rPr>
                        <a:t>3</a:t>
                      </a:r>
                    </a:p>
                  </a:txBody>
                  <a:tcPr marL="50800" marR="50800" marT="25400" marB="25400"/>
                </a:tc>
              </a:tr>
              <a:tr h="342900">
                <a:tc>
                  <a:txBody>
                    <a:bodyPr wrap="square"/>
                    <a:lstStyle/>
                    <a:p>
                      <a:r>
                        <a:rPr b="0" sz="1000" i="0">
                          <a:solidFill>
                            <a:srgbClr val="000000"/>
                          </a:solidFill>
                          <a:latin typeface="Calibri"/>
                        </a:rPr>
                        <a:t>Logout (EI)</a:t>
                      </a:r>
                    </a:p>
                  </a:txBody>
                  <a:tcPr marL="50800" marR="50800" marT="25400" marB="25400"/>
                </a:tc>
                <a:tc>
                  <a:txBody>
                    <a:bodyPr wrap="square"/>
                    <a:lstStyle/>
                    <a:p>
                      <a:r>
                        <a:rPr b="0" sz="1000" i="0">
                          <a:solidFill>
                            <a:srgbClr val="000000"/>
                          </a:solidFill>
                          <a:latin typeface="Calibri"/>
                        </a:rPr>
                        <a:t>Refresh cookie · Files: RefreshToken</a:t>
                      </a:r>
                    </a:p>
                  </a:txBody>
                  <a:tcPr marL="50800" marR="50800" marT="25400" marB="25400"/>
                </a:tc>
                <a:tc>
                  <a:txBody>
                    <a:bodyPr wrap="square"/>
                    <a:lstStyle/>
                    <a:p>
                      <a:r>
                        <a:rPr b="0" sz="1000" i="0">
                          <a:solidFill>
                            <a:srgbClr val="000000"/>
                          </a:solidFill>
                          <a:latin typeface="Calibri"/>
                        </a:rPr>
                        <a:t>1</a:t>
                      </a:r>
                    </a:p>
                  </a:txBody>
                  <a:tcPr marL="50800" marR="50800" marT="25400" marB="25400"/>
                </a:tc>
                <a:tc>
                  <a:txBody>
                    <a:bodyPr wrap="square"/>
                    <a:lstStyle/>
                    <a:p>
                      <a:r>
                        <a:rPr b="0" sz="1000" i="0">
                          <a:solidFill>
                            <a:srgbClr val="000000"/>
                          </a:solidFill>
                          <a:latin typeface="Calibri"/>
                        </a:rPr>
                        <a:t>1</a:t>
                      </a:r>
                    </a:p>
                  </a:txBody>
                  <a:tcPr marL="50800" marR="50800" marT="25400" marB="25400"/>
                </a:tc>
                <a:tc>
                  <a:txBody>
                    <a:bodyPr wrap="square"/>
                    <a:lstStyle/>
                    <a:p>
                      <a:r>
                        <a:rPr b="0" sz="1000" i="0">
                          <a:solidFill>
                            <a:srgbClr val="000000"/>
                          </a:solidFill>
                          <a:latin typeface="Calibri"/>
                        </a:rPr>
                        <a:t>Low</a:t>
                      </a:r>
                    </a:p>
                  </a:txBody>
                  <a:tcPr marL="50800" marR="50800" marT="25400" marB="25400"/>
                </a:tc>
                <a:tc>
                  <a:txBody>
                    <a:bodyPr wrap="square"/>
                    <a:lstStyle/>
                    <a:p>
                      <a:r>
                        <a:rPr b="0" sz="1000" i="0">
                          <a:solidFill>
                            <a:srgbClr val="000000"/>
                          </a:solidFill>
                          <a:latin typeface="Calibri"/>
                        </a:rPr>
                        <a:t>3</a:t>
                      </a:r>
                    </a:p>
                  </a:txBody>
                  <a:tcPr marL="50800" marR="50800" marT="25400" marB="25400"/>
                </a:tc>
              </a:tr>
              <a:tr h="342900">
                <a:tc>
                  <a:txBody>
                    <a:bodyPr wrap="square"/>
                    <a:lstStyle/>
                    <a:p>
                      <a:r>
                        <a:rPr b="0" sz="1000" i="0">
                          <a:solidFill>
                            <a:srgbClr val="000000"/>
                          </a:solidFill>
                          <a:latin typeface="Calibri"/>
                        </a:rPr>
                        <a:t>Create/update company (EI)</a:t>
                      </a:r>
                    </a:p>
                  </a:txBody>
                  <a:tcPr marL="50800" marR="50800" marT="25400" marB="25400"/>
                </a:tc>
                <a:tc>
                  <a:txBody>
                    <a:bodyPr wrap="square"/>
                    <a:lstStyle/>
                    <a:p>
                      <a:r>
                        <a:rPr b="0" sz="1000" i="0">
                          <a:solidFill>
                            <a:srgbClr val="000000"/>
                          </a:solidFill>
                          <a:latin typeface="Calibri"/>
                        </a:rPr>
                        <a:t>Name, E-mail, Phone, Address, Logo, Plan, Active · Files: Company</a:t>
                      </a:r>
                    </a:p>
                  </a:txBody>
                  <a:tcPr marL="50800" marR="50800" marT="25400" marB="25400"/>
                </a:tc>
                <a:tc>
                  <a:txBody>
                    <a:bodyPr wrap="square"/>
                    <a:lstStyle/>
                    <a:p>
                      <a:r>
                        <a:rPr b="0" sz="1000" i="0">
                          <a:solidFill>
                            <a:srgbClr val="000000"/>
                          </a:solidFill>
                          <a:latin typeface="Calibri"/>
                        </a:rPr>
                        <a:t>1</a:t>
                      </a:r>
                    </a:p>
                  </a:txBody>
                  <a:tcPr marL="50800" marR="50800" marT="25400" marB="25400"/>
                </a:tc>
                <a:tc>
                  <a:txBody>
                    <a:bodyPr wrap="square"/>
                    <a:lstStyle/>
                    <a:p>
                      <a:r>
                        <a:rPr b="0" sz="1000" i="0">
                          <a:solidFill>
                            <a:srgbClr val="000000"/>
                          </a:solidFill>
                          <a:latin typeface="Calibri"/>
                        </a:rPr>
                        <a:t>9</a:t>
                      </a:r>
                    </a:p>
                  </a:txBody>
                  <a:tcPr marL="50800" marR="50800" marT="25400" marB="25400"/>
                </a:tc>
                <a:tc>
                  <a:txBody>
                    <a:bodyPr wrap="square"/>
                    <a:lstStyle/>
                    <a:p>
                      <a:r>
                        <a:rPr b="0" sz="1000" i="0">
                          <a:solidFill>
                            <a:srgbClr val="000000"/>
                          </a:solidFill>
                          <a:latin typeface="Calibri"/>
                        </a:rPr>
                        <a:t>Low</a:t>
                      </a:r>
                    </a:p>
                  </a:txBody>
                  <a:tcPr marL="50800" marR="50800" marT="25400" marB="25400"/>
                </a:tc>
                <a:tc>
                  <a:txBody>
                    <a:bodyPr wrap="square"/>
                    <a:lstStyle/>
                    <a:p>
                      <a:r>
                        <a:rPr b="0" sz="1000" i="0">
                          <a:solidFill>
                            <a:srgbClr val="000000"/>
                          </a:solidFill>
                          <a:latin typeface="Calibri"/>
                        </a:rPr>
                        <a:t>3</a:t>
                      </a:r>
                    </a:p>
                  </a:txBody>
                  <a:tcPr marL="50800" marR="50800" marT="25400" marB="25400"/>
                </a:tc>
              </a:tr>
              <a:tr h="342900">
                <a:tc>
                  <a:txBody>
                    <a:bodyPr wrap="square"/>
                    <a:lstStyle/>
                    <a:p>
                      <a:r>
                        <a:rPr b="0" sz="1000" i="0">
                          <a:solidFill>
                            <a:srgbClr val="000000"/>
                          </a:solidFill>
                          <a:latin typeface="Calibri"/>
                        </a:rPr>
                        <a:t>Create/update department (EI)</a:t>
                      </a:r>
                    </a:p>
                  </a:txBody>
                  <a:tcPr marL="50800" marR="50800" marT="25400" marB="25400"/>
                </a:tc>
                <a:tc>
                  <a:txBody>
                    <a:bodyPr wrap="square"/>
                    <a:lstStyle/>
                    <a:p>
                      <a:r>
                        <a:rPr b="0" sz="1000" i="0">
                          <a:solidFill>
                            <a:srgbClr val="000000"/>
                          </a:solidFill>
                          <a:latin typeface="Calibri"/>
                        </a:rPr>
                        <a:t>Company, Name, Description, Active · Files: Department, Company</a:t>
                      </a:r>
                    </a:p>
                  </a:txBody>
                  <a:tcPr marL="50800" marR="50800" marT="25400" marB="25400"/>
                </a:tc>
                <a:tc>
                  <a:txBody>
                    <a:bodyPr wrap="square"/>
                    <a:lstStyle/>
                    <a:p>
                      <a:r>
                        <a:rPr b="0" sz="1000" i="0">
                          <a:solidFill>
                            <a:srgbClr val="000000"/>
                          </a:solidFill>
                          <a:latin typeface="Calibri"/>
                        </a:rPr>
                        <a:t>2</a:t>
                      </a:r>
                    </a:p>
                  </a:txBody>
                  <a:tcPr marL="50800" marR="50800" marT="25400" marB="25400"/>
                </a:tc>
                <a:tc>
                  <a:txBody>
                    <a:bodyPr wrap="square"/>
                    <a:lstStyle/>
                    <a:p>
                      <a:r>
                        <a:rPr b="0" sz="1000" i="0">
                          <a:solidFill>
                            <a:srgbClr val="000000"/>
                          </a:solidFill>
                          <a:latin typeface="Calibri"/>
                        </a:rPr>
                        <a:t>6</a:t>
                      </a:r>
                    </a:p>
                  </a:txBody>
                  <a:tcPr marL="50800" marR="50800" marT="25400" marB="25400"/>
                </a:tc>
                <a:tc>
                  <a:txBody>
                    <a:bodyPr wrap="square"/>
                    <a:lstStyle/>
                    <a:p>
                      <a:r>
                        <a:rPr b="0" sz="1000" i="0">
                          <a:solidFill>
                            <a:srgbClr val="000000"/>
                          </a:solidFill>
                          <a:latin typeface="Calibri"/>
                        </a:rPr>
                        <a:t>Average</a:t>
                      </a:r>
                    </a:p>
                  </a:txBody>
                  <a:tcPr marL="50800" marR="50800" marT="25400" marB="25400"/>
                </a:tc>
                <a:tc>
                  <a:txBody>
                    <a:bodyPr wrap="square"/>
                    <a:lstStyle/>
                    <a:p>
                      <a:r>
                        <a:rPr b="0" sz="1000" i="0">
                          <a:solidFill>
                            <a:srgbClr val="000000"/>
                          </a:solidFill>
                          <a:latin typeface="Calibri"/>
                        </a:rPr>
                        <a:t>4</a:t>
                      </a:r>
                    </a:p>
                  </a:txBody>
                  <a:tcPr marL="50800" marR="50800" marT="25400" marB="25400"/>
                </a:tc>
              </a:tr>
              <a:tr h="342900">
                <a:tc>
                  <a:txBody>
                    <a:bodyPr wrap="square"/>
                    <a:lstStyle/>
                    <a:p>
                      <a:r>
                        <a:rPr b="0" sz="1000" i="0">
                          <a:solidFill>
                            <a:srgbClr val="000000"/>
                          </a:solidFill>
                          <a:latin typeface="Calibri"/>
                        </a:rPr>
                        <a:t>Create/update employee (EI)</a:t>
                      </a:r>
                    </a:p>
                  </a:txBody>
                  <a:tcPr marL="50800" marR="50800" marT="25400" marB="25400"/>
                </a:tc>
                <a:tc>
                  <a:txBody>
                    <a:bodyPr wrap="square"/>
                    <a:lstStyle/>
                    <a:p>
                      <a:r>
                        <a:rPr b="0" sz="1000" i="0">
                          <a:solidFill>
                            <a:srgbClr val="000000"/>
                          </a:solidFill>
                          <a:latin typeface="Calibri"/>
                        </a:rPr>
                        <a:t>Code, Names, E-mail, Password, Phone, Dept, Role, Gender, DOB, Join, Salary, Status · Files: Employee, Department, Role, Company</a:t>
                      </a:r>
                    </a:p>
                  </a:txBody>
                  <a:tcPr marL="50800" marR="50800" marT="25400" marB="25400"/>
                </a:tc>
                <a:tc>
                  <a:txBody>
                    <a:bodyPr wrap="square"/>
                    <a:lstStyle/>
                    <a:p>
                      <a:r>
                        <a:rPr b="0" sz="1000" i="0">
                          <a:solidFill>
                            <a:srgbClr val="000000"/>
                          </a:solidFill>
                          <a:latin typeface="Calibri"/>
                        </a:rPr>
                        <a:t>4</a:t>
                      </a:r>
                    </a:p>
                  </a:txBody>
                  <a:tcPr marL="50800" marR="50800" marT="25400" marB="25400"/>
                </a:tc>
                <a:tc>
                  <a:txBody>
                    <a:bodyPr wrap="square"/>
                    <a:lstStyle/>
                    <a:p>
                      <a:r>
                        <a:rPr b="0" sz="1000" i="0">
                          <a:solidFill>
                            <a:srgbClr val="000000"/>
                          </a:solidFill>
                          <a:latin typeface="Calibri"/>
                        </a:rPr>
                        <a:t>16</a:t>
                      </a:r>
                    </a:p>
                  </a:txBody>
                  <a:tcPr marL="50800" marR="50800" marT="25400" marB="25400"/>
                </a:tc>
                <a:tc>
                  <a:txBody>
                    <a:bodyPr wrap="square"/>
                    <a:lstStyle/>
                    <a:p>
                      <a:r>
                        <a:rPr b="0" sz="1000" i="0">
                          <a:solidFill>
                            <a:srgbClr val="000000"/>
                          </a:solidFill>
                          <a:latin typeface="Calibri"/>
                        </a:rPr>
                        <a:t>High</a:t>
                      </a:r>
                    </a:p>
                  </a:txBody>
                  <a:tcPr marL="50800" marR="50800" marT="25400" marB="25400"/>
                </a:tc>
                <a:tc>
                  <a:txBody>
                    <a:bodyPr wrap="square"/>
                    <a:lstStyle/>
                    <a:p>
                      <a:r>
                        <a:rPr b="0" sz="1000" i="0">
                          <a:solidFill>
                            <a:srgbClr val="000000"/>
                          </a:solidFill>
                          <a:latin typeface="Calibri"/>
                        </a:rPr>
                        <a:t>6</a:t>
                      </a:r>
                    </a:p>
                  </a:txBody>
                  <a:tcPr marL="50800" marR="50800" marT="25400" marB="25400"/>
                </a:tc>
              </a:tr>
              <a:tr h="342900">
                <a:tc>
                  <a:txBody>
                    <a:bodyPr wrap="square"/>
                    <a:lstStyle/>
                    <a:p>
                      <a:r>
                        <a:rPr b="0" sz="1000" i="0">
                          <a:solidFill>
                            <a:srgbClr val="000000"/>
                          </a:solidFill>
                          <a:latin typeface="Calibri"/>
                        </a:rPr>
                        <a:t>Create/update role (EI)</a:t>
                      </a:r>
                    </a:p>
                  </a:txBody>
                  <a:tcPr marL="50800" marR="50800" marT="25400" marB="25400"/>
                </a:tc>
                <a:tc>
                  <a:txBody>
                    <a:bodyPr wrap="square"/>
                    <a:lstStyle/>
                    <a:p>
                      <a:r>
                        <a:rPr b="0" sz="1000" i="0">
                          <a:solidFill>
                            <a:srgbClr val="000000"/>
                          </a:solidFill>
                          <a:latin typeface="Calibri"/>
                        </a:rPr>
                        <a:t>Name, Active · Files: Role</a:t>
                      </a:r>
                    </a:p>
                  </a:txBody>
                  <a:tcPr marL="50800" marR="50800" marT="25400" marB="25400"/>
                </a:tc>
                <a:tc>
                  <a:txBody>
                    <a:bodyPr wrap="square"/>
                    <a:lstStyle/>
                    <a:p>
                      <a:r>
                        <a:rPr b="0" sz="1000" i="0">
                          <a:solidFill>
                            <a:srgbClr val="000000"/>
                          </a:solidFill>
                          <a:latin typeface="Calibri"/>
                        </a:rPr>
                        <a:t>1</a:t>
                      </a:r>
                    </a:p>
                  </a:txBody>
                  <a:tcPr marL="50800" marR="50800" marT="25400" marB="25400"/>
                </a:tc>
                <a:tc>
                  <a:txBody>
                    <a:bodyPr wrap="square"/>
                    <a:lstStyle/>
                    <a:p>
                      <a:r>
                        <a:rPr b="0" sz="1000" i="0">
                          <a:solidFill>
                            <a:srgbClr val="000000"/>
                          </a:solidFill>
                          <a:latin typeface="Calibri"/>
                        </a:rPr>
                        <a:t>4</a:t>
                      </a:r>
                    </a:p>
                  </a:txBody>
                  <a:tcPr marL="50800" marR="50800" marT="25400" marB="25400"/>
                </a:tc>
                <a:tc>
                  <a:txBody>
                    <a:bodyPr wrap="square"/>
                    <a:lstStyle/>
                    <a:p>
                      <a:r>
                        <a:rPr b="0" sz="1000" i="0">
                          <a:solidFill>
                            <a:srgbClr val="000000"/>
                          </a:solidFill>
                          <a:latin typeface="Calibri"/>
                        </a:rPr>
                        <a:t>Low</a:t>
                      </a:r>
                    </a:p>
                  </a:txBody>
                  <a:tcPr marL="50800" marR="50800" marT="25400" marB="25400"/>
                </a:tc>
                <a:tc>
                  <a:txBody>
                    <a:bodyPr wrap="square"/>
                    <a:lstStyle/>
                    <a:p>
                      <a:r>
                        <a:rPr b="0" sz="1000" i="0">
                          <a:solidFill>
                            <a:srgbClr val="000000"/>
                          </a:solidFill>
                          <a:latin typeface="Calibri"/>
                        </a:rPr>
                        <a:t>3</a:t>
                      </a:r>
                    </a:p>
                  </a:txBody>
                  <a:tcPr marL="50800" marR="50800" marT="25400" marB="25400"/>
                </a:tc>
              </a:tr>
              <a:tr h="342900">
                <a:tc>
                  <a:txBody>
                    <a:bodyPr wrap="square"/>
                    <a:lstStyle/>
                    <a:p>
                      <a:r>
                        <a:rPr b="0" sz="1000" i="0">
                          <a:solidFill>
                            <a:srgbClr val="000000"/>
                          </a:solidFill>
                          <a:latin typeface="Calibri"/>
                        </a:rPr>
                        <a:t>Check-in (EI)</a:t>
                      </a:r>
                    </a:p>
                  </a:txBody>
                  <a:tcPr marL="50800" marR="50800" marT="25400" marB="25400"/>
                </a:tc>
                <a:tc>
                  <a:txBody>
                    <a:bodyPr wrap="square"/>
                    <a:lstStyle/>
                    <a:p>
                      <a:r>
                        <a:rPr b="0" sz="1000" i="0">
                          <a:solidFill>
                            <a:srgbClr val="000000"/>
                          </a:solidFill>
                          <a:latin typeface="Calibri"/>
                        </a:rPr>
                        <a:t>Employee, Company, Date, Time, Status, Late min · Files: Attendance, Employee</a:t>
                      </a:r>
                    </a:p>
                  </a:txBody>
                  <a:tcPr marL="50800" marR="50800" marT="25400" marB="25400"/>
                </a:tc>
                <a:tc>
                  <a:txBody>
                    <a:bodyPr wrap="square"/>
                    <a:lstStyle/>
                    <a:p>
                      <a:r>
                        <a:rPr b="0" sz="1000" i="0">
                          <a:solidFill>
                            <a:srgbClr val="000000"/>
                          </a:solidFill>
                          <a:latin typeface="Calibri"/>
                        </a:rPr>
                        <a:t>2</a:t>
                      </a:r>
                    </a:p>
                  </a:txBody>
                  <a:tcPr marL="50800" marR="50800" marT="25400" marB="25400"/>
                </a:tc>
                <a:tc>
                  <a:txBody>
                    <a:bodyPr wrap="square"/>
                    <a:lstStyle/>
                    <a:p>
                      <a:r>
                        <a:rPr b="0" sz="1000" i="0">
                          <a:solidFill>
                            <a:srgbClr val="000000"/>
                          </a:solidFill>
                          <a:latin typeface="Calibri"/>
                        </a:rPr>
                        <a:t>6</a:t>
                      </a:r>
                    </a:p>
                  </a:txBody>
                  <a:tcPr marL="50800" marR="50800" marT="25400" marB="25400"/>
                </a:tc>
                <a:tc>
                  <a:txBody>
                    <a:bodyPr wrap="square"/>
                    <a:lstStyle/>
                    <a:p>
                      <a:r>
                        <a:rPr b="0" sz="1000" i="0">
                          <a:solidFill>
                            <a:srgbClr val="000000"/>
                          </a:solidFill>
                          <a:latin typeface="Calibri"/>
                        </a:rPr>
                        <a:t>Average</a:t>
                      </a:r>
                    </a:p>
                  </a:txBody>
                  <a:tcPr marL="50800" marR="50800" marT="25400" marB="25400"/>
                </a:tc>
                <a:tc>
                  <a:txBody>
                    <a:bodyPr wrap="square"/>
                    <a:lstStyle/>
                    <a:p>
                      <a:r>
                        <a:rPr b="0" sz="1000" i="0">
                          <a:solidFill>
                            <a:srgbClr val="000000"/>
                          </a:solidFill>
                          <a:latin typeface="Calibri"/>
                        </a:rPr>
                        <a:t>4</a:t>
                      </a:r>
                    </a:p>
                  </a:txBody>
                  <a:tcPr marL="50800" marR="50800" marT="25400" marB="25400"/>
                </a:tc>
              </a:tr>
              <a:tr h="342900">
                <a:tc>
                  <a:txBody>
                    <a:bodyPr wrap="square"/>
                    <a:lstStyle/>
                    <a:p>
                      <a:r>
                        <a:rPr b="0" sz="1000" i="0">
                          <a:solidFill>
                            <a:srgbClr val="000000"/>
                          </a:solidFill>
                          <a:latin typeface="Calibri"/>
                        </a:rPr>
                        <a:t>Check-out (EI)</a:t>
                      </a:r>
                    </a:p>
                  </a:txBody>
                  <a:tcPr marL="50800" marR="50800" marT="25400" marB="25400"/>
                </a:tc>
                <a:tc>
                  <a:txBody>
                    <a:bodyPr wrap="square"/>
                    <a:lstStyle/>
                    <a:p>
                      <a:r>
                        <a:rPr b="0" sz="1000" i="0">
                          <a:solidFill>
                            <a:srgbClr val="000000"/>
                          </a:solidFill>
                          <a:latin typeface="Calibri"/>
                        </a:rPr>
                        <a:t>Attendance, Time, Early-leave, Hours · Files: Attendance, Employee</a:t>
                      </a:r>
                    </a:p>
                  </a:txBody>
                  <a:tcPr marL="50800" marR="50800" marT="25400" marB="25400"/>
                </a:tc>
                <a:tc>
                  <a:txBody>
                    <a:bodyPr wrap="square"/>
                    <a:lstStyle/>
                    <a:p>
                      <a:r>
                        <a:rPr b="0" sz="1000" i="0">
                          <a:solidFill>
                            <a:srgbClr val="000000"/>
                          </a:solidFill>
                          <a:latin typeface="Calibri"/>
                        </a:rPr>
                        <a:t>2</a:t>
                      </a:r>
                    </a:p>
                  </a:txBody>
                  <a:tcPr marL="50800" marR="50800" marT="25400" marB="25400"/>
                </a:tc>
                <a:tc>
                  <a:txBody>
                    <a:bodyPr wrap="square"/>
                    <a:lstStyle/>
                    <a:p>
                      <a:r>
                        <a:rPr b="0" sz="1000" i="0">
                          <a:solidFill>
                            <a:srgbClr val="000000"/>
                          </a:solidFill>
                          <a:latin typeface="Calibri"/>
                        </a:rPr>
                        <a:t>6</a:t>
                      </a:r>
                    </a:p>
                  </a:txBody>
                  <a:tcPr marL="50800" marR="50800" marT="25400" marB="25400"/>
                </a:tc>
                <a:tc>
                  <a:txBody>
                    <a:bodyPr wrap="square"/>
                    <a:lstStyle/>
                    <a:p>
                      <a:r>
                        <a:rPr b="0" sz="1000" i="0">
                          <a:solidFill>
                            <a:srgbClr val="000000"/>
                          </a:solidFill>
                          <a:latin typeface="Calibri"/>
                        </a:rPr>
                        <a:t>Average</a:t>
                      </a:r>
                    </a:p>
                  </a:txBody>
                  <a:tcPr marL="50800" marR="50800" marT="25400" marB="25400"/>
                </a:tc>
                <a:tc>
                  <a:txBody>
                    <a:bodyPr wrap="square"/>
                    <a:lstStyle/>
                    <a:p>
                      <a:r>
                        <a:rPr b="0" sz="1000" i="0">
                          <a:solidFill>
                            <a:srgbClr val="000000"/>
                          </a:solidFill>
                          <a:latin typeface="Calibri"/>
                        </a:rPr>
                        <a:t>4</a:t>
                      </a:r>
                    </a:p>
                  </a:txBody>
                  <a:tcPr marL="50800" marR="50800" marT="25400" marB="25400"/>
                </a:tc>
              </a:tr>
              <a:tr h="342900">
                <a:tc>
                  <a:txBody>
                    <a:bodyPr wrap="square"/>
                    <a:lstStyle/>
                    <a:p>
                      <a:r>
                        <a:rPr b="0" sz="1000" i="0">
                          <a:solidFill>
                            <a:srgbClr val="000000"/>
                          </a:solidFill>
                          <a:latin typeface="Calibri"/>
                        </a:rPr>
                        <a:t>Submit leave request (EI)</a:t>
                      </a:r>
                    </a:p>
                  </a:txBody>
                  <a:tcPr marL="50800" marR="50800" marT="25400" marB="25400"/>
                </a:tc>
                <a:tc>
                  <a:txBody>
                    <a:bodyPr wrap="square"/>
                    <a:lstStyle/>
                    <a:p>
                      <a:r>
                        <a:rPr b="0" sz="1000" i="0">
                          <a:solidFill>
                            <a:srgbClr val="000000"/>
                          </a:solidFill>
                          <a:latin typeface="Calibri"/>
                        </a:rPr>
                        <a:t>Employee, Type, From, To, Reason, Days, Status · Files: LeaveRequest, Employee, LeaveType</a:t>
                      </a:r>
                    </a:p>
                  </a:txBody>
                  <a:tcPr marL="50800" marR="50800" marT="25400" marB="25400"/>
                </a:tc>
                <a:tc>
                  <a:txBody>
                    <a:bodyPr wrap="square"/>
                    <a:lstStyle/>
                    <a:p>
                      <a:r>
                        <a:rPr b="0" sz="1000" i="0">
                          <a:solidFill>
                            <a:srgbClr val="000000"/>
                          </a:solidFill>
                          <a:latin typeface="Calibri"/>
                        </a:rPr>
                        <a:t>3</a:t>
                      </a:r>
                    </a:p>
                  </a:txBody>
                  <a:tcPr marL="50800" marR="50800" marT="25400" marB="25400"/>
                </a:tc>
                <a:tc>
                  <a:txBody>
                    <a:bodyPr wrap="square"/>
                    <a:lstStyle/>
                    <a:p>
                      <a:r>
                        <a:rPr b="0" sz="1000" i="0">
                          <a:solidFill>
                            <a:srgbClr val="000000"/>
                          </a:solidFill>
                          <a:latin typeface="Calibri"/>
                        </a:rPr>
                        <a:t>9</a:t>
                      </a:r>
                    </a:p>
                  </a:txBody>
                  <a:tcPr marL="50800" marR="50800" marT="25400" marB="25400"/>
                </a:tc>
                <a:tc>
                  <a:txBody>
                    <a:bodyPr wrap="square"/>
                    <a:lstStyle/>
                    <a:p>
                      <a:r>
                        <a:rPr b="0" sz="1000" i="0">
                          <a:solidFill>
                            <a:srgbClr val="000000"/>
                          </a:solidFill>
                          <a:latin typeface="Calibri"/>
                        </a:rPr>
                        <a:t>High</a:t>
                      </a:r>
                    </a:p>
                  </a:txBody>
                  <a:tcPr marL="50800" marR="50800" marT="25400" marB="25400"/>
                </a:tc>
                <a:tc>
                  <a:txBody>
                    <a:bodyPr wrap="square"/>
                    <a:lstStyle/>
                    <a:p>
                      <a:r>
                        <a:rPr b="0" sz="1000" i="0">
                          <a:solidFill>
                            <a:srgbClr val="000000"/>
                          </a:solidFill>
                          <a:latin typeface="Calibri"/>
                        </a:rPr>
                        <a:t>6</a:t>
                      </a:r>
                    </a:p>
                  </a:txBody>
                  <a:tcPr marL="50800" marR="50800" marT="25400" marB="25400"/>
                </a:tc>
              </a:tr>
              <a:tr h="342900">
                <a:tc>
                  <a:txBody>
                    <a:bodyPr wrap="square"/>
                    <a:lstStyle/>
                    <a:p>
                      <a:r>
                        <a:rPr b="0" sz="1000" i="0">
                          <a:solidFill>
                            <a:srgbClr val="000000"/>
                          </a:solidFill>
                          <a:latin typeface="Calibri"/>
                        </a:rPr>
                        <a:t>Approve/reject leave (EI)</a:t>
                      </a:r>
                    </a:p>
                  </a:txBody>
                  <a:tcPr marL="50800" marR="50800" marT="25400" marB="25400"/>
                </a:tc>
                <a:tc>
                  <a:txBody>
                    <a:bodyPr wrap="square"/>
                    <a:lstStyle/>
                    <a:p>
                      <a:r>
                        <a:rPr b="0" sz="1000" i="0">
                          <a:solidFill>
                            <a:srgbClr val="000000"/>
                          </a:solidFill>
                          <a:latin typeface="Calibri"/>
                        </a:rPr>
                        <a:t>Request, Status, Approved by/at · Files: LeaveRequest, Employee, Attendance</a:t>
                      </a:r>
                    </a:p>
                  </a:txBody>
                  <a:tcPr marL="50800" marR="50800" marT="25400" marB="25400"/>
                </a:tc>
                <a:tc>
                  <a:txBody>
                    <a:bodyPr wrap="square"/>
                    <a:lstStyle/>
                    <a:p>
                      <a:r>
                        <a:rPr b="0" sz="1000" i="0">
                          <a:solidFill>
                            <a:srgbClr val="000000"/>
                          </a:solidFill>
                          <a:latin typeface="Calibri"/>
                        </a:rPr>
                        <a:t>3</a:t>
                      </a:r>
                    </a:p>
                  </a:txBody>
                  <a:tcPr marL="50800" marR="50800" marT="25400" marB="25400"/>
                </a:tc>
                <a:tc>
                  <a:txBody>
                    <a:bodyPr wrap="square"/>
                    <a:lstStyle/>
                    <a:p>
                      <a:r>
                        <a:rPr b="0" sz="1000" i="0">
                          <a:solidFill>
                            <a:srgbClr val="000000"/>
                          </a:solidFill>
                          <a:latin typeface="Calibri"/>
                        </a:rPr>
                        <a:t>5</a:t>
                      </a:r>
                    </a:p>
                  </a:txBody>
                  <a:tcPr marL="50800" marR="50800" marT="25400" marB="25400"/>
                </a:tc>
                <a:tc>
                  <a:txBody>
                    <a:bodyPr wrap="square"/>
                    <a:lstStyle/>
                    <a:p>
                      <a:r>
                        <a:rPr b="0" sz="1000" i="0">
                          <a:solidFill>
                            <a:srgbClr val="000000"/>
                          </a:solidFill>
                          <a:latin typeface="Calibri"/>
                        </a:rPr>
                        <a:t>High</a:t>
                      </a:r>
                    </a:p>
                  </a:txBody>
                  <a:tcPr marL="50800" marR="50800" marT="25400" marB="25400"/>
                </a:tc>
                <a:tc>
                  <a:txBody>
                    <a:bodyPr wrap="square"/>
                    <a:lstStyle/>
                    <a:p>
                      <a:r>
                        <a:rPr b="0" sz="1000" i="0">
                          <a:solidFill>
                            <a:srgbClr val="000000"/>
                          </a:solidFill>
                          <a:latin typeface="Calibri"/>
                        </a:rPr>
                        <a:t>6</a:t>
                      </a:r>
                    </a:p>
                  </a:txBody>
                  <a:tcPr marL="50800" marR="50800" marT="25400" marB="25400"/>
                </a:tc>
              </a:tr>
              <a:tr h="342900">
                <a:tc>
                  <a:txBody>
                    <a:bodyPr wrap="square"/>
                    <a:lstStyle/>
                    <a:p>
                      <a:r>
                        <a:rPr b="0" sz="1000" i="0">
                          <a:solidFill>
                            <a:srgbClr val="000000"/>
                          </a:solidFill>
                          <a:latin typeface="Calibri"/>
                        </a:rPr>
                        <a:t>Mark on-leave range (EI)</a:t>
                      </a:r>
                    </a:p>
                  </a:txBody>
                  <a:tcPr marL="50800" marR="50800" marT="25400" marB="25400"/>
                </a:tc>
                <a:tc>
                  <a:txBody>
                    <a:bodyPr wrap="square"/>
                    <a:lstStyle/>
                    <a:p>
                      <a:r>
                        <a:rPr b="0" sz="1000" i="0">
                          <a:solidFill>
                            <a:srgbClr val="000000"/>
                          </a:solidFill>
                          <a:latin typeface="Calibri"/>
                        </a:rPr>
                        <a:t>Employee, From, To, Remarks, Status · Files: Attendance, Employee</a:t>
                      </a:r>
                    </a:p>
                  </a:txBody>
                  <a:tcPr marL="50800" marR="50800" marT="25400" marB="25400"/>
                </a:tc>
                <a:tc>
                  <a:txBody>
                    <a:bodyPr wrap="square"/>
                    <a:lstStyle/>
                    <a:p>
                      <a:r>
                        <a:rPr b="0" sz="1000" i="0">
                          <a:solidFill>
                            <a:srgbClr val="000000"/>
                          </a:solidFill>
                          <a:latin typeface="Calibri"/>
                        </a:rPr>
                        <a:t>2</a:t>
                      </a:r>
                    </a:p>
                  </a:txBody>
                  <a:tcPr marL="50800" marR="50800" marT="25400" marB="25400"/>
                </a:tc>
                <a:tc>
                  <a:txBody>
                    <a:bodyPr wrap="square"/>
                    <a:lstStyle/>
                    <a:p>
                      <a:r>
                        <a:rPr b="0" sz="1000" i="0">
                          <a:solidFill>
                            <a:srgbClr val="000000"/>
                          </a:solidFill>
                          <a:latin typeface="Calibri"/>
                        </a:rPr>
                        <a:t>5</a:t>
                      </a:r>
                    </a:p>
                  </a:txBody>
                  <a:tcPr marL="50800" marR="50800" marT="25400" marB="25400"/>
                </a:tc>
                <a:tc>
                  <a:txBody>
                    <a:bodyPr wrap="square"/>
                    <a:lstStyle/>
                    <a:p>
                      <a:r>
                        <a:rPr b="0" sz="1000" i="0">
                          <a:solidFill>
                            <a:srgbClr val="000000"/>
                          </a:solidFill>
                          <a:latin typeface="Calibri"/>
                        </a:rPr>
                        <a:t>Average</a:t>
                      </a:r>
                    </a:p>
                  </a:txBody>
                  <a:tcPr marL="50800" marR="50800" marT="25400" marB="25400"/>
                </a:tc>
                <a:tc>
                  <a:txBody>
                    <a:bodyPr wrap="square"/>
                    <a:lstStyle/>
                    <a:p>
                      <a:r>
                        <a:rPr b="0" sz="1000" i="0">
                          <a:solidFill>
                            <a:srgbClr val="000000"/>
                          </a:solidFill>
                          <a:latin typeface="Calibri"/>
                        </a:rPr>
                        <a:t>4</a:t>
                      </a:r>
                    </a:p>
                  </a:txBody>
                  <a:tcPr marL="50800" marR="50800" marT="25400" marB="25400"/>
                </a:tc>
              </a:tr>
              <a:tr h="342900">
                <a:tc>
                  <a:txBody>
                    <a:bodyPr wrap="square"/>
                    <a:lstStyle/>
                    <a:p>
                      <a:r>
                        <a:rPr b="0" sz="1000" i="0">
                          <a:solidFill>
                            <a:srgbClr val="000000"/>
                          </a:solidFill>
                          <a:latin typeface="Calibri"/>
                        </a:rPr>
                        <a:t>Auto absent marking (EI)</a:t>
                      </a:r>
                    </a:p>
                  </a:txBody>
                  <a:tcPr marL="50800" marR="50800" marT="25400" marB="25400"/>
                </a:tc>
                <a:tc>
                  <a:txBody>
                    <a:bodyPr wrap="square"/>
                    <a:lstStyle/>
                    <a:p>
                      <a:r>
                        <a:rPr b="0" sz="1000" i="0">
                          <a:solidFill>
                            <a:srgbClr val="000000"/>
                          </a:solidFill>
                          <a:latin typeface="Calibri"/>
                        </a:rPr>
                        <a:t>Date, Company, Employee, Status · Files: Employee, Attendance, LeaveRequest</a:t>
                      </a:r>
                    </a:p>
                  </a:txBody>
                  <a:tcPr marL="50800" marR="50800" marT="25400" marB="25400"/>
                </a:tc>
                <a:tc>
                  <a:txBody>
                    <a:bodyPr wrap="square"/>
                    <a:lstStyle/>
                    <a:p>
                      <a:r>
                        <a:rPr b="0" sz="1000" i="0">
                          <a:solidFill>
                            <a:srgbClr val="000000"/>
                          </a:solidFill>
                          <a:latin typeface="Calibri"/>
                        </a:rPr>
                        <a:t>3</a:t>
                      </a:r>
                    </a:p>
                  </a:txBody>
                  <a:tcPr marL="50800" marR="50800" marT="25400" marB="25400"/>
                </a:tc>
                <a:tc>
                  <a:txBody>
                    <a:bodyPr wrap="square"/>
                    <a:lstStyle/>
                    <a:p>
                      <a:r>
                        <a:rPr b="0" sz="1000" i="0">
                          <a:solidFill>
                            <a:srgbClr val="000000"/>
                          </a:solidFill>
                          <a:latin typeface="Calibri"/>
                        </a:rPr>
                        <a:t>4</a:t>
                      </a:r>
                    </a:p>
                  </a:txBody>
                  <a:tcPr marL="50800" marR="50800" marT="25400" marB="25400"/>
                </a:tc>
                <a:tc>
                  <a:txBody>
                    <a:bodyPr wrap="square"/>
                    <a:lstStyle/>
                    <a:p>
                      <a:r>
                        <a:rPr b="0" sz="1000" i="0">
                          <a:solidFill>
                            <a:srgbClr val="000000"/>
                          </a:solidFill>
                          <a:latin typeface="Calibri"/>
                        </a:rPr>
                        <a:t>Average</a:t>
                      </a:r>
                    </a:p>
                  </a:txBody>
                  <a:tcPr marL="50800" marR="50800" marT="25400" marB="25400"/>
                </a:tc>
                <a:tc>
                  <a:txBody>
                    <a:bodyPr wrap="square"/>
                    <a:lstStyle/>
                    <a:p>
                      <a:r>
                        <a:rPr b="0" sz="1000" i="0">
                          <a:solidFill>
                            <a:srgbClr val="000000"/>
                          </a:solidFill>
                          <a:latin typeface="Calibri"/>
                        </a:rPr>
                        <a:t>4</a:t>
                      </a:r>
                    </a:p>
                  </a:txBody>
                  <a:tcPr marL="50800" marR="50800" marT="25400" marB="25400"/>
                </a:tc>
              </a:tr>
              <a:tr h="342900">
                <a:tc>
                  <a:txBody>
                    <a:bodyPr wrap="square"/>
                    <a:lstStyle/>
                    <a:p>
                      <a:r>
                        <a:rPr b="0" sz="1000" i="0">
                          <a:solidFill>
                            <a:srgbClr val="000000"/>
                          </a:solidFill>
                          <a:latin typeface="Calibri"/>
                        </a:rPr>
                        <a:t>Auto payroll generation (EI)</a:t>
                      </a:r>
                    </a:p>
                  </a:txBody>
                  <a:tcPr marL="50800" marR="50800" marT="25400" marB="25400"/>
                </a:tc>
                <a:tc>
                  <a:txBody>
                    <a:bodyPr wrap="square"/>
                    <a:lstStyle/>
                    <a:p>
                      <a:r>
                        <a:rPr b="0" sz="1000" i="0">
                          <a:solidFill>
                            <a:srgbClr val="000000"/>
                          </a:solidFill>
                          <a:latin typeface="Calibri"/>
                        </a:rPr>
                        <a:t>Month, Year, Basic, Deductions, Net, Generated at · Files: Employee, Attendance, Payroll</a:t>
                      </a:r>
                    </a:p>
                  </a:txBody>
                  <a:tcPr marL="50800" marR="50800" marT="25400" marB="25400"/>
                </a:tc>
                <a:tc>
                  <a:txBody>
                    <a:bodyPr wrap="square"/>
                    <a:lstStyle/>
                    <a:p>
                      <a:r>
                        <a:rPr b="0" sz="1000" i="0">
                          <a:solidFill>
                            <a:srgbClr val="000000"/>
                          </a:solidFill>
                          <a:latin typeface="Calibri"/>
                        </a:rPr>
                        <a:t>3</a:t>
                      </a:r>
                    </a:p>
                  </a:txBody>
                  <a:tcPr marL="50800" marR="50800" marT="25400" marB="25400"/>
                </a:tc>
                <a:tc>
                  <a:txBody>
                    <a:bodyPr wrap="square"/>
                    <a:lstStyle/>
                    <a:p>
                      <a:r>
                        <a:rPr b="0" sz="1000" i="0">
                          <a:solidFill>
                            <a:srgbClr val="000000"/>
                          </a:solidFill>
                          <a:latin typeface="Calibri"/>
                        </a:rPr>
                        <a:t>8</a:t>
                      </a:r>
                    </a:p>
                  </a:txBody>
                  <a:tcPr marL="50800" marR="50800" marT="25400" marB="25400"/>
                </a:tc>
                <a:tc>
                  <a:txBody>
                    <a:bodyPr wrap="square"/>
                    <a:lstStyle/>
                    <a:p>
                      <a:r>
                        <a:rPr b="0" sz="1000" i="0">
                          <a:solidFill>
                            <a:srgbClr val="000000"/>
                          </a:solidFill>
                          <a:latin typeface="Calibri"/>
                        </a:rPr>
                        <a:t>High</a:t>
                      </a:r>
                    </a:p>
                  </a:txBody>
                  <a:tcPr marL="50800" marR="50800" marT="25400" marB="25400"/>
                </a:tc>
                <a:tc>
                  <a:txBody>
                    <a:bodyPr wrap="square"/>
                    <a:lstStyle/>
                    <a:p>
                      <a:r>
                        <a:rPr b="0" sz="1000" i="0">
                          <a:solidFill>
                            <a:srgbClr val="000000"/>
                          </a:solidFill>
                          <a:latin typeface="Calibri"/>
                        </a:rPr>
                        <a:t>6</a:t>
                      </a:r>
                    </a:p>
                  </a:txBody>
                  <a:tcPr marL="50800" marR="50800" marT="25400" marB="25400"/>
                </a:tc>
              </a:tr>
            </a:tbl>
          </a:graphicData>
        </a:graphic>
      </p:graphicFrame>
      <p:sp>
        <p:nvSpPr>
          <p:cNvPr id="6" name="TextBox 5"/>
          <p:cNvSpPr txBox="1"/>
          <p:nvPr/>
        </p:nvSpPr>
        <p:spPr>
          <a:xfrm>
            <a:off x="762000" y="6045200"/>
            <a:ext cx="7620000" cy="304800"/>
          </a:xfrm>
          <a:prstGeom prst="rect">
            <a:avLst/>
          </a:prstGeom>
          <a:noFill/>
        </p:spPr>
        <p:txBody>
          <a:bodyPr wrap="square" lIns="0" rIns="0" tIns="0" bIns="0" anchor="t">
            <a:spAutoFit/>
          </a:bodyPr>
          <a:lstStyle/>
          <a:p>
            <a:pPr algn="ctr"/>
            <a:r>
              <a:rPr b="0" sz="1400" i="0">
                <a:solidFill>
                  <a:srgbClr val="000000"/>
                </a:solidFill>
                <a:latin typeface="Times New Roman"/>
              </a:rPr>
              <a:t>Identifying Complexity (Transaction Function – External Inputs)</a:t>
            </a:r>
          </a:p>
        </p:txBody>
      </p:sp>
      <p:sp>
        <p:nvSpPr>
          <p:cNvPr id="7" name="TextBox 6"/>
          <p:cNvSpPr txBox="1"/>
          <p:nvPr/>
        </p:nvSpPr>
        <p:spPr>
          <a:xfrm>
            <a:off x="8382000" y="6578600"/>
            <a:ext cx="635000" cy="228600"/>
          </a:xfrm>
          <a:prstGeom prst="rect">
            <a:avLst/>
          </a:prstGeom>
          <a:noFill/>
        </p:spPr>
        <p:txBody>
          <a:bodyPr wrap="square" lIns="0" rIns="0" tIns="0" bIns="0" anchor="t">
            <a:spAutoFit/>
          </a:bodyPr>
          <a:lstStyle/>
          <a:p>
            <a:pPr algn="r"/>
            <a:r>
              <a:rPr b="0" sz="1200" i="0">
                <a:solidFill>
                  <a:srgbClr val="000000"/>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ubat.jpeg"/>
          <p:cNvPicPr>
            <a:picLocks noChangeAspect="1"/>
          </p:cNvPicPr>
          <p:nvPr/>
        </p:nvPicPr>
        <p:blipFill>
          <a:blip r:embed="rId2"/>
          <a:stretch>
            <a:fillRect/>
          </a:stretch>
        </p:blipFill>
        <p:spPr>
          <a:xfrm>
            <a:off x="50800" y="88900"/>
            <a:ext cx="609600" cy="533400"/>
          </a:xfrm>
          <a:prstGeom prst="rect">
            <a:avLst/>
          </a:prstGeom>
        </p:spPr>
      </p:pic>
      <p:pic>
        <p:nvPicPr>
          <p:cNvPr id="3" name="Picture 2" descr="cse.jpeg"/>
          <p:cNvPicPr>
            <a:picLocks noChangeAspect="1"/>
          </p:cNvPicPr>
          <p:nvPr/>
        </p:nvPicPr>
        <p:blipFill>
          <a:blip r:embed="rId3"/>
          <a:stretch>
            <a:fillRect/>
          </a:stretch>
        </p:blipFill>
        <p:spPr>
          <a:xfrm>
            <a:off x="8534400" y="127000"/>
            <a:ext cx="457200" cy="469900"/>
          </a:xfrm>
          <a:prstGeom prst="rect">
            <a:avLst/>
          </a:prstGeom>
        </p:spPr>
      </p:pic>
      <p:sp>
        <p:nvSpPr>
          <p:cNvPr id="4" name="TextBox 3"/>
          <p:cNvSpPr txBox="1"/>
          <p:nvPr/>
        </p:nvSpPr>
        <p:spPr>
          <a:xfrm>
            <a:off x="762000" y="152400"/>
            <a:ext cx="7620000" cy="558800"/>
          </a:xfrm>
          <a:prstGeom prst="rect">
            <a:avLst/>
          </a:prstGeom>
          <a:noFill/>
        </p:spPr>
        <p:txBody>
          <a:bodyPr wrap="square" lIns="0" rIns="0" tIns="0" bIns="0" anchor="ctr">
            <a:spAutoFit/>
          </a:bodyPr>
          <a:lstStyle/>
          <a:p>
            <a:pPr algn="ctr"/>
            <a:r>
              <a:rPr b="1" sz="3000" i="0">
                <a:solidFill>
                  <a:srgbClr val="000000"/>
                </a:solidFill>
                <a:latin typeface="Times New Roman"/>
              </a:rPr>
              <a:t>System Planning</a:t>
            </a:r>
          </a:p>
        </p:txBody>
      </p:sp>
      <p:graphicFrame>
        <p:nvGraphicFramePr>
          <p:cNvPr id="5" name="Table 4"/>
          <p:cNvGraphicFramePr>
            <a:graphicFrameLocks noGrp="1"/>
          </p:cNvGraphicFramePr>
          <p:nvPr/>
        </p:nvGraphicFramePr>
        <p:xfrm>
          <a:off x="304800" y="812800"/>
          <a:ext cx="8534398" cy="3454400"/>
        </p:xfrm>
        <a:graphic>
          <a:graphicData uri="http://schemas.openxmlformats.org/drawingml/2006/table">
            <a:tbl>
              <a:tblPr firstRow="0" bandRow="0">
                <a:tableStyleId>{5940675A-B579-460E-94D1-54222C63F5DA}</a:tableStyleId>
              </a:tblPr>
              <a:tblGrid>
                <a:gridCol w="2117060"/>
                <a:gridCol w="3704855"/>
                <a:gridCol w="595423"/>
                <a:gridCol w="595423"/>
                <a:gridCol w="992372"/>
                <a:gridCol w="529265"/>
              </a:tblGrid>
              <a:tr h="431800">
                <a:tc>
                  <a:txBody>
                    <a:bodyPr wrap="square"/>
                    <a:lstStyle/>
                    <a:p>
                      <a:r>
                        <a:rPr b="1" sz="1100" i="0">
                          <a:solidFill>
                            <a:srgbClr val="000000"/>
                          </a:solidFill>
                          <a:latin typeface="Calibri"/>
                        </a:rPr>
                        <a:t>Function</a:t>
                      </a:r>
                    </a:p>
                  </a:txBody>
                  <a:tcPr marL="50800" marR="50800" marT="25400" marB="25400">
                    <a:solidFill>
                      <a:srgbClr val="D9D9D9"/>
                    </a:solidFill>
                  </a:tcPr>
                </a:tc>
                <a:tc>
                  <a:txBody>
                    <a:bodyPr wrap="square"/>
                    <a:lstStyle/>
                    <a:p>
                      <a:r>
                        <a:rPr b="1" sz="1100" i="0">
                          <a:solidFill>
                            <a:srgbClr val="000000"/>
                          </a:solidFill>
                          <a:latin typeface="Calibri"/>
                        </a:rPr>
                        <a:t>Fields / Files</a:t>
                      </a:r>
                    </a:p>
                  </a:txBody>
                  <a:tcPr marL="50800" marR="50800" marT="25400" marB="25400">
                    <a:solidFill>
                      <a:srgbClr val="D9D9D9"/>
                    </a:solidFill>
                  </a:tcPr>
                </a:tc>
                <a:tc>
                  <a:txBody>
                    <a:bodyPr wrap="square"/>
                    <a:lstStyle/>
                    <a:p>
                      <a:r>
                        <a:rPr b="1" sz="1100" i="0">
                          <a:solidFill>
                            <a:srgbClr val="000000"/>
                          </a:solidFill>
                          <a:latin typeface="Calibri"/>
                        </a:rPr>
                        <a:t>FTRs</a:t>
                      </a:r>
                    </a:p>
                  </a:txBody>
                  <a:tcPr marL="50800" marR="50800" marT="25400" marB="25400">
                    <a:solidFill>
                      <a:srgbClr val="D9D9D9"/>
                    </a:solidFill>
                  </a:tcPr>
                </a:tc>
                <a:tc>
                  <a:txBody>
                    <a:bodyPr wrap="square"/>
                    <a:lstStyle/>
                    <a:p>
                      <a:r>
                        <a:rPr b="1" sz="1100" i="0">
                          <a:solidFill>
                            <a:srgbClr val="000000"/>
                          </a:solidFill>
                          <a:latin typeface="Calibri"/>
                        </a:rPr>
                        <a:t>DETs</a:t>
                      </a:r>
                    </a:p>
                  </a:txBody>
                  <a:tcPr marL="50800" marR="50800" marT="25400" marB="25400">
                    <a:solidFill>
                      <a:srgbClr val="D9D9D9"/>
                    </a:solidFill>
                  </a:tcPr>
                </a:tc>
                <a:tc>
                  <a:txBody>
                    <a:bodyPr wrap="square"/>
                    <a:lstStyle/>
                    <a:p>
                      <a:r>
                        <a:rPr b="1" sz="1100" i="0">
                          <a:solidFill>
                            <a:srgbClr val="000000"/>
                          </a:solidFill>
                          <a:latin typeface="Calibri"/>
                        </a:rPr>
                        <a:t>Complexity</a:t>
                      </a:r>
                    </a:p>
                  </a:txBody>
                  <a:tcPr marL="50800" marR="50800" marT="25400" marB="25400">
                    <a:solidFill>
                      <a:srgbClr val="D9D9D9"/>
                    </a:solidFill>
                  </a:tcPr>
                </a:tc>
                <a:tc>
                  <a:txBody>
                    <a:bodyPr wrap="square"/>
                    <a:lstStyle/>
                    <a:p>
                      <a:r>
                        <a:rPr b="1" sz="1100" i="0">
                          <a:solidFill>
                            <a:srgbClr val="000000"/>
                          </a:solidFill>
                          <a:latin typeface="Calibri"/>
                        </a:rPr>
                        <a:t>UFP</a:t>
                      </a:r>
                    </a:p>
                  </a:txBody>
                  <a:tcPr marL="50800" marR="50800" marT="25400" marB="25400">
                    <a:solidFill>
                      <a:srgbClr val="D9D9D9"/>
                    </a:solidFill>
                  </a:tcPr>
                </a:tc>
              </a:tr>
              <a:tr h="431800">
                <a:tc>
                  <a:txBody>
                    <a:bodyPr wrap="square"/>
                    <a:lstStyle/>
                    <a:p>
                      <a:r>
                        <a:rPr b="0" sz="1100" i="0">
                          <a:solidFill>
                            <a:srgbClr val="000000"/>
                          </a:solidFill>
                          <a:latin typeface="Calibri"/>
                        </a:rPr>
                        <a:t>Monthly attendance summary (EO)</a:t>
                      </a:r>
                    </a:p>
                  </a:txBody>
                  <a:tcPr marL="50800" marR="50800" marT="25400" marB="25400"/>
                </a:tc>
                <a:tc>
                  <a:txBody>
                    <a:bodyPr wrap="square"/>
                    <a:lstStyle/>
                    <a:p>
                      <a:r>
                        <a:rPr b="0" sz="1100" i="0">
                          <a:solidFill>
                            <a:srgbClr val="000000"/>
                          </a:solidFill>
                          <a:latin typeface="Calibri"/>
                        </a:rPr>
                        <a:t>Company, Month, Year, rates, lists, highest absentees · Files: Attendance, Employee, Department</a:t>
                      </a:r>
                    </a:p>
                  </a:txBody>
                  <a:tcPr marL="50800" marR="50800" marT="25400" marB="25400"/>
                </a:tc>
                <a:tc>
                  <a:txBody>
                    <a:bodyPr wrap="square"/>
                    <a:lstStyle/>
                    <a:p>
                      <a:r>
                        <a:rPr b="0" sz="1100" i="0">
                          <a:solidFill>
                            <a:srgbClr val="000000"/>
                          </a:solidFill>
                          <a:latin typeface="Calibri"/>
                        </a:rPr>
                        <a:t>3</a:t>
                      </a:r>
                    </a:p>
                  </a:txBody>
                  <a:tcPr marL="50800" marR="50800" marT="25400" marB="25400"/>
                </a:tc>
                <a:tc>
                  <a:txBody>
                    <a:bodyPr wrap="square"/>
                    <a:lstStyle/>
                    <a:p>
                      <a:r>
                        <a:rPr b="0" sz="1100" i="0">
                          <a:solidFill>
                            <a:srgbClr val="000000"/>
                          </a:solidFill>
                          <a:latin typeface="Calibri"/>
                        </a:rPr>
                        <a:t>17</a:t>
                      </a:r>
                    </a:p>
                  </a:txBody>
                  <a:tcPr marL="50800" marR="50800" marT="25400" marB="25400"/>
                </a:tc>
                <a:tc>
                  <a:txBody>
                    <a:bodyPr wrap="square"/>
                    <a:lstStyle/>
                    <a:p>
                      <a:r>
                        <a:rPr b="0" sz="1100" i="0">
                          <a:solidFill>
                            <a:srgbClr val="000000"/>
                          </a:solidFill>
                          <a:latin typeface="Calibri"/>
                        </a:rPr>
                        <a:t>Average</a:t>
                      </a:r>
                    </a:p>
                  </a:txBody>
                  <a:tcPr marL="50800" marR="50800" marT="25400" marB="25400"/>
                </a:tc>
                <a:tc>
                  <a:txBody>
                    <a:bodyPr wrap="square"/>
                    <a:lstStyle/>
                    <a:p>
                      <a:r>
                        <a:rPr b="0" sz="1100" i="0">
                          <a:solidFill>
                            <a:srgbClr val="000000"/>
                          </a:solidFill>
                          <a:latin typeface="Calibri"/>
                        </a:rPr>
                        <a:t>5</a:t>
                      </a:r>
                    </a:p>
                  </a:txBody>
                  <a:tcPr marL="50800" marR="50800" marT="25400" marB="25400"/>
                </a:tc>
              </a:tr>
              <a:tr h="431800">
                <a:tc>
                  <a:txBody>
                    <a:bodyPr wrap="square"/>
                    <a:lstStyle/>
                    <a:p>
                      <a:r>
                        <a:rPr b="0" sz="1100" i="0">
                          <a:solidFill>
                            <a:srgbClr val="000000"/>
                          </a:solidFill>
                          <a:latin typeface="Calibri"/>
                        </a:rPr>
                        <a:t>Daily attendance summary (EO)</a:t>
                      </a:r>
                    </a:p>
                  </a:txBody>
                  <a:tcPr marL="50800" marR="50800" marT="25400" marB="25400"/>
                </a:tc>
                <a:tc>
                  <a:txBody>
                    <a:bodyPr wrap="square"/>
                    <a:lstStyle/>
                    <a:p>
                      <a:r>
                        <a:rPr b="0" sz="1100" i="0">
                          <a:solidFill>
                            <a:srgbClr val="000000"/>
                          </a:solidFill>
                          <a:latin typeface="Calibri"/>
                        </a:rPr>
                        <a:t>Company, Date, Present, Late, Leave, Absent · Files: Attendance, Employee</a:t>
                      </a:r>
                    </a:p>
                  </a:txBody>
                  <a:tcPr marL="50800" marR="50800" marT="25400" marB="25400"/>
                </a:tc>
                <a:tc>
                  <a:txBody>
                    <a:bodyPr wrap="square"/>
                    <a:lstStyle/>
                    <a:p>
                      <a:r>
                        <a:rPr b="0" sz="1100" i="0">
                          <a:solidFill>
                            <a:srgbClr val="000000"/>
                          </a:solidFill>
                          <a:latin typeface="Calibri"/>
                        </a:rPr>
                        <a:t>2</a:t>
                      </a:r>
                    </a:p>
                  </a:txBody>
                  <a:tcPr marL="50800" marR="50800" marT="25400" marB="25400"/>
                </a:tc>
                <a:tc>
                  <a:txBody>
                    <a:bodyPr wrap="square"/>
                    <a:lstStyle/>
                    <a:p>
                      <a:r>
                        <a:rPr b="0" sz="1100" i="0">
                          <a:solidFill>
                            <a:srgbClr val="000000"/>
                          </a:solidFill>
                          <a:latin typeface="Calibri"/>
                        </a:rPr>
                        <a:t>8</a:t>
                      </a:r>
                    </a:p>
                  </a:txBody>
                  <a:tcPr marL="50800" marR="50800" marT="25400" marB="25400"/>
                </a:tc>
                <a:tc>
                  <a:txBody>
                    <a:bodyPr wrap="square"/>
                    <a:lstStyle/>
                    <a:p>
                      <a:r>
                        <a:rPr b="0" sz="1100" i="0">
                          <a:solidFill>
                            <a:srgbClr val="000000"/>
                          </a:solidFill>
                          <a:latin typeface="Calibri"/>
                        </a:rPr>
                        <a:t>Average</a:t>
                      </a:r>
                    </a:p>
                  </a:txBody>
                  <a:tcPr marL="50800" marR="50800" marT="25400" marB="25400"/>
                </a:tc>
                <a:tc>
                  <a:txBody>
                    <a:bodyPr wrap="square"/>
                    <a:lstStyle/>
                    <a:p>
                      <a:r>
                        <a:rPr b="0" sz="1100" i="0">
                          <a:solidFill>
                            <a:srgbClr val="000000"/>
                          </a:solidFill>
                          <a:latin typeface="Calibri"/>
                        </a:rPr>
                        <a:t>5</a:t>
                      </a:r>
                    </a:p>
                  </a:txBody>
                  <a:tcPr marL="50800" marR="50800" marT="25400" marB="25400"/>
                </a:tc>
              </a:tr>
              <a:tr h="431800">
                <a:tc>
                  <a:txBody>
                    <a:bodyPr wrap="square"/>
                    <a:lstStyle/>
                    <a:p>
                      <a:r>
                        <a:rPr b="0" sz="1100" i="0">
                          <a:solidFill>
                            <a:srgbClr val="000000"/>
                          </a:solidFill>
                          <a:latin typeface="Calibri"/>
                        </a:rPr>
                        <a:t>Employee attendance statistics (EO)</a:t>
                      </a:r>
                    </a:p>
                  </a:txBody>
                  <a:tcPr marL="50800" marR="50800" marT="25400" marB="25400"/>
                </a:tc>
                <a:tc>
                  <a:txBody>
                    <a:bodyPr wrap="square"/>
                    <a:lstStyle/>
                    <a:p>
                      <a:r>
                        <a:rPr b="0" sz="1100" i="0">
                          <a:solidFill>
                            <a:srgbClr val="000000"/>
                          </a:solidFill>
                          <a:latin typeface="Calibri"/>
                        </a:rPr>
                        <a:t>Employee, Month, Year, counts, ratio · Files: Attendance, Employee</a:t>
                      </a:r>
                    </a:p>
                  </a:txBody>
                  <a:tcPr marL="50800" marR="50800" marT="25400" marB="25400"/>
                </a:tc>
                <a:tc>
                  <a:txBody>
                    <a:bodyPr wrap="square"/>
                    <a:lstStyle/>
                    <a:p>
                      <a:r>
                        <a:rPr b="0" sz="1100" i="0">
                          <a:solidFill>
                            <a:srgbClr val="000000"/>
                          </a:solidFill>
                          <a:latin typeface="Calibri"/>
                        </a:rPr>
                        <a:t>2</a:t>
                      </a:r>
                    </a:p>
                  </a:txBody>
                  <a:tcPr marL="50800" marR="50800" marT="25400" marB="25400"/>
                </a:tc>
                <a:tc>
                  <a:txBody>
                    <a:bodyPr wrap="square"/>
                    <a:lstStyle/>
                    <a:p>
                      <a:r>
                        <a:rPr b="0" sz="1100" i="0">
                          <a:solidFill>
                            <a:srgbClr val="000000"/>
                          </a:solidFill>
                          <a:latin typeface="Calibri"/>
                        </a:rPr>
                        <a:t>7</a:t>
                      </a:r>
                    </a:p>
                  </a:txBody>
                  <a:tcPr marL="50800" marR="50800" marT="25400" marB="25400"/>
                </a:tc>
                <a:tc>
                  <a:txBody>
                    <a:bodyPr wrap="square"/>
                    <a:lstStyle/>
                    <a:p>
                      <a:r>
                        <a:rPr b="0" sz="1100" i="0">
                          <a:solidFill>
                            <a:srgbClr val="000000"/>
                          </a:solidFill>
                          <a:latin typeface="Calibri"/>
                        </a:rPr>
                        <a:t>Average</a:t>
                      </a:r>
                    </a:p>
                  </a:txBody>
                  <a:tcPr marL="50800" marR="50800" marT="25400" marB="25400"/>
                </a:tc>
                <a:tc>
                  <a:txBody>
                    <a:bodyPr wrap="square"/>
                    <a:lstStyle/>
                    <a:p>
                      <a:r>
                        <a:rPr b="0" sz="1100" i="0">
                          <a:solidFill>
                            <a:srgbClr val="000000"/>
                          </a:solidFill>
                          <a:latin typeface="Calibri"/>
                        </a:rPr>
                        <a:t>5</a:t>
                      </a:r>
                    </a:p>
                  </a:txBody>
                  <a:tcPr marL="50800" marR="50800" marT="25400" marB="25400"/>
                </a:tc>
              </a:tr>
              <a:tr h="431800">
                <a:tc>
                  <a:txBody>
                    <a:bodyPr wrap="square"/>
                    <a:lstStyle/>
                    <a:p>
                      <a:r>
                        <a:rPr b="0" sz="1100" i="0">
                          <a:solidFill>
                            <a:srgbClr val="000000"/>
                          </a:solidFill>
                          <a:latin typeface="Calibri"/>
                        </a:rPr>
                        <a:t>Payroll for employee (EO)</a:t>
                      </a:r>
                    </a:p>
                  </a:txBody>
                  <a:tcPr marL="50800" marR="50800" marT="25400" marB="25400"/>
                </a:tc>
                <a:tc>
                  <a:txBody>
                    <a:bodyPr wrap="square"/>
                    <a:lstStyle/>
                    <a:p>
                      <a:r>
                        <a:rPr b="0" sz="1100" i="0">
                          <a:solidFill>
                            <a:srgbClr val="000000"/>
                          </a:solidFill>
                          <a:latin typeface="Calibri"/>
                        </a:rPr>
                        <a:t>Employee, Month, Year + 9 payroll fields · Files: Payroll</a:t>
                      </a:r>
                    </a:p>
                  </a:txBody>
                  <a:tcPr marL="50800" marR="50800" marT="25400" marB="25400"/>
                </a:tc>
                <a:tc>
                  <a:txBody>
                    <a:bodyPr wrap="square"/>
                    <a:lstStyle/>
                    <a:p>
                      <a:r>
                        <a:rPr b="0" sz="1100" i="0">
                          <a:solidFill>
                            <a:srgbClr val="000000"/>
                          </a:solidFill>
                          <a:latin typeface="Calibri"/>
                        </a:rPr>
                        <a:t>1</a:t>
                      </a:r>
                    </a:p>
                  </a:txBody>
                  <a:tcPr marL="50800" marR="50800" marT="25400" marB="25400"/>
                </a:tc>
                <a:tc>
                  <a:txBody>
                    <a:bodyPr wrap="square"/>
                    <a:lstStyle/>
                    <a:p>
                      <a:r>
                        <a:rPr b="0" sz="1100" i="0">
                          <a:solidFill>
                            <a:srgbClr val="000000"/>
                          </a:solidFill>
                          <a:latin typeface="Calibri"/>
                        </a:rPr>
                        <a:t>12</a:t>
                      </a:r>
                    </a:p>
                  </a:txBody>
                  <a:tcPr marL="50800" marR="50800" marT="25400" marB="25400"/>
                </a:tc>
                <a:tc>
                  <a:txBody>
                    <a:bodyPr wrap="square"/>
                    <a:lstStyle/>
                    <a:p>
                      <a:r>
                        <a:rPr b="0" sz="1100" i="0">
                          <a:solidFill>
                            <a:srgbClr val="000000"/>
                          </a:solidFill>
                          <a:latin typeface="Calibri"/>
                        </a:rPr>
                        <a:t>Low</a:t>
                      </a:r>
                    </a:p>
                  </a:txBody>
                  <a:tcPr marL="50800" marR="50800" marT="25400" marB="25400"/>
                </a:tc>
                <a:tc>
                  <a:txBody>
                    <a:bodyPr wrap="square"/>
                    <a:lstStyle/>
                    <a:p>
                      <a:r>
                        <a:rPr b="0" sz="1100" i="0">
                          <a:solidFill>
                            <a:srgbClr val="000000"/>
                          </a:solidFill>
                          <a:latin typeface="Calibri"/>
                        </a:rPr>
                        <a:t>4</a:t>
                      </a:r>
                    </a:p>
                  </a:txBody>
                  <a:tcPr marL="50800" marR="50800" marT="25400" marB="25400"/>
                </a:tc>
              </a:tr>
              <a:tr h="431800">
                <a:tc>
                  <a:txBody>
                    <a:bodyPr wrap="square"/>
                    <a:lstStyle/>
                    <a:p>
                      <a:r>
                        <a:rPr b="0" sz="1100" i="0">
                          <a:solidFill>
                            <a:srgbClr val="000000"/>
                          </a:solidFill>
                          <a:latin typeface="Calibri"/>
                        </a:rPr>
                        <a:t>Payroll for company (EO)</a:t>
                      </a:r>
                    </a:p>
                  </a:txBody>
                  <a:tcPr marL="50800" marR="50800" marT="25400" marB="25400"/>
                </a:tc>
                <a:tc>
                  <a:txBody>
                    <a:bodyPr wrap="square"/>
                    <a:lstStyle/>
                    <a:p>
                      <a:r>
                        <a:rPr b="0" sz="1100" i="0">
                          <a:solidFill>
                            <a:srgbClr val="000000"/>
                          </a:solidFill>
                          <a:latin typeface="Calibri"/>
                        </a:rPr>
                        <a:t>Company, Month, Year, Employee name + payroll fields · Files: Payroll, Employee</a:t>
                      </a:r>
                    </a:p>
                  </a:txBody>
                  <a:tcPr marL="50800" marR="50800" marT="25400" marB="25400"/>
                </a:tc>
                <a:tc>
                  <a:txBody>
                    <a:bodyPr wrap="square"/>
                    <a:lstStyle/>
                    <a:p>
                      <a:r>
                        <a:rPr b="0" sz="1100" i="0">
                          <a:solidFill>
                            <a:srgbClr val="000000"/>
                          </a:solidFill>
                          <a:latin typeface="Calibri"/>
                        </a:rPr>
                        <a:t>2</a:t>
                      </a:r>
                    </a:p>
                  </a:txBody>
                  <a:tcPr marL="50800" marR="50800" marT="25400" marB="25400"/>
                </a:tc>
                <a:tc>
                  <a:txBody>
                    <a:bodyPr wrap="square"/>
                    <a:lstStyle/>
                    <a:p>
                      <a:r>
                        <a:rPr b="0" sz="1100" i="0">
                          <a:solidFill>
                            <a:srgbClr val="000000"/>
                          </a:solidFill>
                          <a:latin typeface="Calibri"/>
                        </a:rPr>
                        <a:t>13</a:t>
                      </a:r>
                    </a:p>
                  </a:txBody>
                  <a:tcPr marL="50800" marR="50800" marT="25400" marB="25400"/>
                </a:tc>
                <a:tc>
                  <a:txBody>
                    <a:bodyPr wrap="square"/>
                    <a:lstStyle/>
                    <a:p>
                      <a:r>
                        <a:rPr b="0" sz="1100" i="0">
                          <a:solidFill>
                            <a:srgbClr val="000000"/>
                          </a:solidFill>
                          <a:latin typeface="Calibri"/>
                        </a:rPr>
                        <a:t>Average</a:t>
                      </a:r>
                    </a:p>
                  </a:txBody>
                  <a:tcPr marL="50800" marR="50800" marT="25400" marB="25400"/>
                </a:tc>
                <a:tc>
                  <a:txBody>
                    <a:bodyPr wrap="square"/>
                    <a:lstStyle/>
                    <a:p>
                      <a:r>
                        <a:rPr b="0" sz="1100" i="0">
                          <a:solidFill>
                            <a:srgbClr val="000000"/>
                          </a:solidFill>
                          <a:latin typeface="Calibri"/>
                        </a:rPr>
                        <a:t>5</a:t>
                      </a:r>
                    </a:p>
                  </a:txBody>
                  <a:tcPr marL="50800" marR="50800" marT="25400" marB="25400"/>
                </a:tc>
              </a:tr>
              <a:tr h="431800">
                <a:tc>
                  <a:txBody>
                    <a:bodyPr wrap="square"/>
                    <a:lstStyle/>
                    <a:p>
                      <a:r>
                        <a:rPr b="0" sz="1100" i="0">
                          <a:solidFill>
                            <a:srgbClr val="000000"/>
                          </a:solidFill>
                          <a:latin typeface="Calibri"/>
                        </a:rPr>
                        <a:t>Live payroll status (EO)</a:t>
                      </a:r>
                    </a:p>
                  </a:txBody>
                  <a:tcPr marL="50800" marR="50800" marT="25400" marB="25400"/>
                </a:tc>
                <a:tc>
                  <a:txBody>
                    <a:bodyPr wrap="square"/>
                    <a:lstStyle/>
                    <a:p>
                      <a:r>
                        <a:rPr b="0" sz="1100" i="0">
                          <a:solidFill>
                            <a:srgbClr val="000000"/>
                          </a:solidFill>
                          <a:latin typeface="Calibri"/>
                        </a:rPr>
                        <a:t>Employee, Month, Year, Salary, counts, deductions, Net · Files: Employee, Attendance</a:t>
                      </a:r>
                    </a:p>
                  </a:txBody>
                  <a:tcPr marL="50800" marR="50800" marT="25400" marB="25400"/>
                </a:tc>
                <a:tc>
                  <a:txBody>
                    <a:bodyPr wrap="square"/>
                    <a:lstStyle/>
                    <a:p>
                      <a:r>
                        <a:rPr b="0" sz="1100" i="0">
                          <a:solidFill>
                            <a:srgbClr val="000000"/>
                          </a:solidFill>
                          <a:latin typeface="Calibri"/>
                        </a:rPr>
                        <a:t>2</a:t>
                      </a:r>
                    </a:p>
                  </a:txBody>
                  <a:tcPr marL="50800" marR="50800" marT="25400" marB="25400"/>
                </a:tc>
                <a:tc>
                  <a:txBody>
                    <a:bodyPr wrap="square"/>
                    <a:lstStyle/>
                    <a:p>
                      <a:r>
                        <a:rPr b="0" sz="1100" i="0">
                          <a:solidFill>
                            <a:srgbClr val="000000"/>
                          </a:solidFill>
                          <a:latin typeface="Calibri"/>
                        </a:rPr>
                        <a:t>12</a:t>
                      </a:r>
                    </a:p>
                  </a:txBody>
                  <a:tcPr marL="50800" marR="50800" marT="25400" marB="25400"/>
                </a:tc>
                <a:tc>
                  <a:txBody>
                    <a:bodyPr wrap="square"/>
                    <a:lstStyle/>
                    <a:p>
                      <a:r>
                        <a:rPr b="0" sz="1100" i="0">
                          <a:solidFill>
                            <a:srgbClr val="000000"/>
                          </a:solidFill>
                          <a:latin typeface="Calibri"/>
                        </a:rPr>
                        <a:t>Average</a:t>
                      </a:r>
                    </a:p>
                  </a:txBody>
                  <a:tcPr marL="50800" marR="50800" marT="25400" marB="25400"/>
                </a:tc>
                <a:tc>
                  <a:txBody>
                    <a:bodyPr wrap="square"/>
                    <a:lstStyle/>
                    <a:p>
                      <a:r>
                        <a:rPr b="0" sz="1100" i="0">
                          <a:solidFill>
                            <a:srgbClr val="000000"/>
                          </a:solidFill>
                          <a:latin typeface="Calibri"/>
                        </a:rPr>
                        <a:t>5</a:t>
                      </a:r>
                    </a:p>
                  </a:txBody>
                  <a:tcPr marL="50800" marR="50800" marT="25400" marB="25400"/>
                </a:tc>
              </a:tr>
              <a:tr h="431800">
                <a:tc>
                  <a:txBody>
                    <a:bodyPr wrap="square"/>
                    <a:lstStyle/>
                    <a:p>
                      <a:r>
                        <a:rPr b="0" sz="1100" i="0">
                          <a:solidFill>
                            <a:srgbClr val="000000"/>
                          </a:solidFill>
                          <a:latin typeface="Calibri"/>
                        </a:rPr>
                        <a:t>AI assistant answer (EO)</a:t>
                      </a:r>
                    </a:p>
                  </a:txBody>
                  <a:tcPr marL="50800" marR="50800" marT="25400" marB="25400"/>
                </a:tc>
                <a:tc>
                  <a:txBody>
                    <a:bodyPr wrap="square"/>
                    <a:lstStyle/>
                    <a:p>
                      <a:r>
                        <a:rPr b="0" sz="1100" i="0">
                          <a:solidFill>
                            <a:srgbClr val="000000"/>
                          </a:solidFill>
                          <a:latin typeface="Calibri"/>
                        </a:rPr>
                        <a:t>Question, Company, Answer, Tools used · Files: Employee, Attendance, LeaveRequest, Department, AiConversation</a:t>
                      </a:r>
                    </a:p>
                  </a:txBody>
                  <a:tcPr marL="50800" marR="50800" marT="25400" marB="25400"/>
                </a:tc>
                <a:tc>
                  <a:txBody>
                    <a:bodyPr wrap="square"/>
                    <a:lstStyle/>
                    <a:p>
                      <a:r>
                        <a:rPr b="0" sz="1100" i="0">
                          <a:solidFill>
                            <a:srgbClr val="000000"/>
                          </a:solidFill>
                          <a:latin typeface="Calibri"/>
                        </a:rPr>
                        <a:t>5</a:t>
                      </a:r>
                    </a:p>
                  </a:txBody>
                  <a:tcPr marL="50800" marR="50800" marT="25400" marB="25400"/>
                </a:tc>
                <a:tc>
                  <a:txBody>
                    <a:bodyPr wrap="square"/>
                    <a:lstStyle/>
                    <a:p>
                      <a:r>
                        <a:rPr b="0" sz="1100" i="0">
                          <a:solidFill>
                            <a:srgbClr val="000000"/>
                          </a:solidFill>
                          <a:latin typeface="Calibri"/>
                        </a:rPr>
                        <a:t>6</a:t>
                      </a:r>
                    </a:p>
                  </a:txBody>
                  <a:tcPr marL="50800" marR="50800" marT="25400" marB="25400"/>
                </a:tc>
                <a:tc>
                  <a:txBody>
                    <a:bodyPr wrap="square"/>
                    <a:lstStyle/>
                    <a:p>
                      <a:r>
                        <a:rPr b="0" sz="1100" i="0">
                          <a:solidFill>
                            <a:srgbClr val="000000"/>
                          </a:solidFill>
                          <a:latin typeface="Calibri"/>
                        </a:rPr>
                        <a:t>High</a:t>
                      </a:r>
                    </a:p>
                  </a:txBody>
                  <a:tcPr marL="50800" marR="50800" marT="25400" marB="25400"/>
                </a:tc>
                <a:tc>
                  <a:txBody>
                    <a:bodyPr wrap="square"/>
                    <a:lstStyle/>
                    <a:p>
                      <a:r>
                        <a:rPr b="0" sz="1100" i="0">
                          <a:solidFill>
                            <a:srgbClr val="000000"/>
                          </a:solidFill>
                          <a:latin typeface="Calibri"/>
                        </a:rPr>
                        <a:t>7</a:t>
                      </a:r>
                    </a:p>
                  </a:txBody>
                  <a:tcPr marL="50800" marR="50800" marT="25400" marB="25400"/>
                </a:tc>
              </a:tr>
            </a:tbl>
          </a:graphicData>
        </a:graphic>
      </p:graphicFrame>
      <p:sp>
        <p:nvSpPr>
          <p:cNvPr id="6" name="TextBox 5"/>
          <p:cNvSpPr txBox="1"/>
          <p:nvPr/>
        </p:nvSpPr>
        <p:spPr>
          <a:xfrm>
            <a:off x="762000" y="4521200"/>
            <a:ext cx="7620000" cy="304800"/>
          </a:xfrm>
          <a:prstGeom prst="rect">
            <a:avLst/>
          </a:prstGeom>
          <a:noFill/>
        </p:spPr>
        <p:txBody>
          <a:bodyPr wrap="square" lIns="0" rIns="0" tIns="0" bIns="0" anchor="t">
            <a:spAutoFit/>
          </a:bodyPr>
          <a:lstStyle/>
          <a:p>
            <a:pPr algn="ctr"/>
            <a:r>
              <a:rPr b="0" sz="1400" i="0">
                <a:solidFill>
                  <a:srgbClr val="000000"/>
                </a:solidFill>
                <a:latin typeface="Times New Roman"/>
              </a:rPr>
              <a:t>Identifying Complexity (Transaction Function – External Outputs)</a:t>
            </a:r>
          </a:p>
        </p:txBody>
      </p:sp>
      <p:sp>
        <p:nvSpPr>
          <p:cNvPr id="7" name="TextBox 6"/>
          <p:cNvSpPr txBox="1"/>
          <p:nvPr/>
        </p:nvSpPr>
        <p:spPr>
          <a:xfrm>
            <a:off x="8382000" y="6578600"/>
            <a:ext cx="635000" cy="228600"/>
          </a:xfrm>
          <a:prstGeom prst="rect">
            <a:avLst/>
          </a:prstGeom>
          <a:noFill/>
        </p:spPr>
        <p:txBody>
          <a:bodyPr wrap="square" lIns="0" rIns="0" tIns="0" bIns="0" anchor="t">
            <a:spAutoFit/>
          </a:bodyPr>
          <a:lstStyle/>
          <a:p>
            <a:pPr algn="r"/>
            <a:r>
              <a:rPr b="0" sz="1200" i="0">
                <a:solidFill>
                  <a:srgbClr val="000000"/>
                </a:solidFill>
                <a:latin typeface="Calibr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ubat.jpeg"/>
          <p:cNvPicPr>
            <a:picLocks noChangeAspect="1"/>
          </p:cNvPicPr>
          <p:nvPr/>
        </p:nvPicPr>
        <p:blipFill>
          <a:blip r:embed="rId2"/>
          <a:stretch>
            <a:fillRect/>
          </a:stretch>
        </p:blipFill>
        <p:spPr>
          <a:xfrm>
            <a:off x="50800" y="88900"/>
            <a:ext cx="609600" cy="533400"/>
          </a:xfrm>
          <a:prstGeom prst="rect">
            <a:avLst/>
          </a:prstGeom>
        </p:spPr>
      </p:pic>
      <p:pic>
        <p:nvPicPr>
          <p:cNvPr id="3" name="Picture 2" descr="cse.jpeg"/>
          <p:cNvPicPr>
            <a:picLocks noChangeAspect="1"/>
          </p:cNvPicPr>
          <p:nvPr/>
        </p:nvPicPr>
        <p:blipFill>
          <a:blip r:embed="rId3"/>
          <a:stretch>
            <a:fillRect/>
          </a:stretch>
        </p:blipFill>
        <p:spPr>
          <a:xfrm>
            <a:off x="8534400" y="127000"/>
            <a:ext cx="457200" cy="469900"/>
          </a:xfrm>
          <a:prstGeom prst="rect">
            <a:avLst/>
          </a:prstGeom>
        </p:spPr>
      </p:pic>
      <p:sp>
        <p:nvSpPr>
          <p:cNvPr id="4" name="TextBox 3"/>
          <p:cNvSpPr txBox="1"/>
          <p:nvPr/>
        </p:nvSpPr>
        <p:spPr>
          <a:xfrm>
            <a:off x="762000" y="152400"/>
            <a:ext cx="7620000" cy="558800"/>
          </a:xfrm>
          <a:prstGeom prst="rect">
            <a:avLst/>
          </a:prstGeom>
          <a:noFill/>
        </p:spPr>
        <p:txBody>
          <a:bodyPr wrap="square" lIns="0" rIns="0" tIns="0" bIns="0" anchor="ctr">
            <a:spAutoFit/>
          </a:bodyPr>
          <a:lstStyle/>
          <a:p>
            <a:pPr algn="ctr"/>
            <a:r>
              <a:rPr b="1" sz="3000" i="0">
                <a:solidFill>
                  <a:srgbClr val="000000"/>
                </a:solidFill>
                <a:latin typeface="Times New Roman"/>
              </a:rPr>
              <a:t>System Planning</a:t>
            </a:r>
          </a:p>
        </p:txBody>
      </p:sp>
      <p:graphicFrame>
        <p:nvGraphicFramePr>
          <p:cNvPr id="5" name="Table 4"/>
          <p:cNvGraphicFramePr>
            <a:graphicFrameLocks noGrp="1"/>
          </p:cNvGraphicFramePr>
          <p:nvPr/>
        </p:nvGraphicFramePr>
        <p:xfrm>
          <a:off x="304800" y="812800"/>
          <a:ext cx="8534398" cy="4876800"/>
        </p:xfrm>
        <a:graphic>
          <a:graphicData uri="http://schemas.openxmlformats.org/drawingml/2006/table">
            <a:tbl>
              <a:tblPr firstRow="0" bandRow="0">
                <a:tableStyleId>{5940675A-B579-460E-94D1-54222C63F5DA}</a:tableStyleId>
              </a:tblPr>
              <a:tblGrid>
                <a:gridCol w="2117060"/>
                <a:gridCol w="3704855"/>
                <a:gridCol w="595423"/>
                <a:gridCol w="595423"/>
                <a:gridCol w="992372"/>
                <a:gridCol w="529265"/>
              </a:tblGrid>
              <a:tr h="406400">
                <a:tc>
                  <a:txBody>
                    <a:bodyPr wrap="square"/>
                    <a:lstStyle/>
                    <a:p>
                      <a:r>
                        <a:rPr b="1" sz="1100" i="0">
                          <a:solidFill>
                            <a:srgbClr val="000000"/>
                          </a:solidFill>
                          <a:latin typeface="Calibri"/>
                        </a:rPr>
                        <a:t>Function</a:t>
                      </a:r>
                    </a:p>
                  </a:txBody>
                  <a:tcPr marL="50800" marR="50800" marT="25400" marB="25400">
                    <a:solidFill>
                      <a:srgbClr val="D9D9D9"/>
                    </a:solidFill>
                  </a:tcPr>
                </a:tc>
                <a:tc>
                  <a:txBody>
                    <a:bodyPr wrap="square"/>
                    <a:lstStyle/>
                    <a:p>
                      <a:r>
                        <a:rPr b="1" sz="1100" i="0">
                          <a:solidFill>
                            <a:srgbClr val="000000"/>
                          </a:solidFill>
                          <a:latin typeface="Calibri"/>
                        </a:rPr>
                        <a:t>Fields / Files</a:t>
                      </a:r>
                    </a:p>
                  </a:txBody>
                  <a:tcPr marL="50800" marR="50800" marT="25400" marB="25400">
                    <a:solidFill>
                      <a:srgbClr val="D9D9D9"/>
                    </a:solidFill>
                  </a:tcPr>
                </a:tc>
                <a:tc>
                  <a:txBody>
                    <a:bodyPr wrap="square"/>
                    <a:lstStyle/>
                    <a:p>
                      <a:r>
                        <a:rPr b="1" sz="1100" i="0">
                          <a:solidFill>
                            <a:srgbClr val="000000"/>
                          </a:solidFill>
                          <a:latin typeface="Calibri"/>
                        </a:rPr>
                        <a:t>FTRs</a:t>
                      </a:r>
                    </a:p>
                  </a:txBody>
                  <a:tcPr marL="50800" marR="50800" marT="25400" marB="25400">
                    <a:solidFill>
                      <a:srgbClr val="D9D9D9"/>
                    </a:solidFill>
                  </a:tcPr>
                </a:tc>
                <a:tc>
                  <a:txBody>
                    <a:bodyPr wrap="square"/>
                    <a:lstStyle/>
                    <a:p>
                      <a:r>
                        <a:rPr b="1" sz="1100" i="0">
                          <a:solidFill>
                            <a:srgbClr val="000000"/>
                          </a:solidFill>
                          <a:latin typeface="Calibri"/>
                        </a:rPr>
                        <a:t>DETs</a:t>
                      </a:r>
                    </a:p>
                  </a:txBody>
                  <a:tcPr marL="50800" marR="50800" marT="25400" marB="25400">
                    <a:solidFill>
                      <a:srgbClr val="D9D9D9"/>
                    </a:solidFill>
                  </a:tcPr>
                </a:tc>
                <a:tc>
                  <a:txBody>
                    <a:bodyPr wrap="square"/>
                    <a:lstStyle/>
                    <a:p>
                      <a:r>
                        <a:rPr b="1" sz="1100" i="0">
                          <a:solidFill>
                            <a:srgbClr val="000000"/>
                          </a:solidFill>
                          <a:latin typeface="Calibri"/>
                        </a:rPr>
                        <a:t>Complexity</a:t>
                      </a:r>
                    </a:p>
                  </a:txBody>
                  <a:tcPr marL="50800" marR="50800" marT="25400" marB="25400">
                    <a:solidFill>
                      <a:srgbClr val="D9D9D9"/>
                    </a:solidFill>
                  </a:tcPr>
                </a:tc>
                <a:tc>
                  <a:txBody>
                    <a:bodyPr wrap="square"/>
                    <a:lstStyle/>
                    <a:p>
                      <a:r>
                        <a:rPr b="1" sz="1100" i="0">
                          <a:solidFill>
                            <a:srgbClr val="000000"/>
                          </a:solidFill>
                          <a:latin typeface="Calibri"/>
                        </a:rPr>
                        <a:t>UFP</a:t>
                      </a:r>
                    </a:p>
                  </a:txBody>
                  <a:tcPr marL="50800" marR="50800" marT="25400" marB="25400">
                    <a:solidFill>
                      <a:srgbClr val="D9D9D9"/>
                    </a:solidFill>
                  </a:tcPr>
                </a:tc>
              </a:tr>
              <a:tr h="406400">
                <a:tc>
                  <a:txBody>
                    <a:bodyPr wrap="square"/>
                    <a:lstStyle/>
                    <a:p>
                      <a:r>
                        <a:rPr b="0" sz="1100" i="0">
                          <a:solidFill>
                            <a:srgbClr val="000000"/>
                          </a:solidFill>
                          <a:latin typeface="Calibri"/>
                        </a:rPr>
                        <a:t>List companies (EQ)</a:t>
                      </a:r>
                    </a:p>
                  </a:txBody>
                  <a:tcPr marL="50800" marR="50800" marT="25400" marB="25400"/>
                </a:tc>
                <a:tc>
                  <a:txBody>
                    <a:bodyPr wrap="square"/>
                    <a:lstStyle/>
                    <a:p>
                      <a:r>
                        <a:rPr b="0" sz="1100" i="0">
                          <a:solidFill>
                            <a:srgbClr val="000000"/>
                          </a:solidFill>
                          <a:latin typeface="Calibri"/>
                        </a:rPr>
                        <a:t>Paging + 10 company fields · Files: Company</a:t>
                      </a:r>
                    </a:p>
                  </a:txBody>
                  <a:tcPr marL="50800" marR="50800" marT="25400" marB="25400"/>
                </a:tc>
                <a:tc>
                  <a:txBody>
                    <a:bodyPr wrap="square"/>
                    <a:lstStyle/>
                    <a:p>
                      <a:r>
                        <a:rPr b="0" sz="1100" i="0">
                          <a:solidFill>
                            <a:srgbClr val="000000"/>
                          </a:solidFill>
                          <a:latin typeface="Calibri"/>
                        </a:rPr>
                        <a:t>1</a:t>
                      </a:r>
                    </a:p>
                  </a:txBody>
                  <a:tcPr marL="50800" marR="50800" marT="25400" marB="25400"/>
                </a:tc>
                <a:tc>
                  <a:txBody>
                    <a:bodyPr wrap="square"/>
                    <a:lstStyle/>
                    <a:p>
                      <a:r>
                        <a:rPr b="0" sz="1100" i="0">
                          <a:solidFill>
                            <a:srgbClr val="000000"/>
                          </a:solidFill>
                          <a:latin typeface="Calibri"/>
                        </a:rPr>
                        <a:t>14</a:t>
                      </a:r>
                    </a:p>
                  </a:txBody>
                  <a:tcPr marL="50800" marR="50800" marT="25400" marB="25400"/>
                </a:tc>
                <a:tc>
                  <a:txBody>
                    <a:bodyPr wrap="square"/>
                    <a:lstStyle/>
                    <a:p>
                      <a:r>
                        <a:rPr b="0" sz="1100" i="0">
                          <a:solidFill>
                            <a:srgbClr val="000000"/>
                          </a:solidFill>
                          <a:latin typeface="Calibri"/>
                        </a:rPr>
                        <a:t>Low</a:t>
                      </a:r>
                    </a:p>
                  </a:txBody>
                  <a:tcPr marL="50800" marR="50800" marT="25400" marB="25400"/>
                </a:tc>
                <a:tc>
                  <a:txBody>
                    <a:bodyPr wrap="square"/>
                    <a:lstStyle/>
                    <a:p>
                      <a:r>
                        <a:rPr b="0" sz="1100" i="0">
                          <a:solidFill>
                            <a:srgbClr val="000000"/>
                          </a:solidFill>
                          <a:latin typeface="Calibri"/>
                        </a:rPr>
                        <a:t>3</a:t>
                      </a:r>
                    </a:p>
                  </a:txBody>
                  <a:tcPr marL="50800" marR="50800" marT="25400" marB="25400"/>
                </a:tc>
              </a:tr>
              <a:tr h="406400">
                <a:tc>
                  <a:txBody>
                    <a:bodyPr wrap="square"/>
                    <a:lstStyle/>
                    <a:p>
                      <a:r>
                        <a:rPr b="0" sz="1100" i="0">
                          <a:solidFill>
                            <a:srgbClr val="000000"/>
                          </a:solidFill>
                          <a:latin typeface="Calibri"/>
                        </a:rPr>
                        <a:t>Company by ID (EQ)</a:t>
                      </a:r>
                    </a:p>
                  </a:txBody>
                  <a:tcPr marL="50800" marR="50800" marT="25400" marB="25400"/>
                </a:tc>
                <a:tc>
                  <a:txBody>
                    <a:bodyPr wrap="square"/>
                    <a:lstStyle/>
                    <a:p>
                      <a:r>
                        <a:rPr b="0" sz="1100" i="0">
                          <a:solidFill>
                            <a:srgbClr val="000000"/>
                          </a:solidFill>
                          <a:latin typeface="Calibri"/>
                        </a:rPr>
                        <a:t>ID + 10 company fields · Files: Company</a:t>
                      </a:r>
                    </a:p>
                  </a:txBody>
                  <a:tcPr marL="50800" marR="50800" marT="25400" marB="25400"/>
                </a:tc>
                <a:tc>
                  <a:txBody>
                    <a:bodyPr wrap="square"/>
                    <a:lstStyle/>
                    <a:p>
                      <a:r>
                        <a:rPr b="0" sz="1100" i="0">
                          <a:solidFill>
                            <a:srgbClr val="000000"/>
                          </a:solidFill>
                          <a:latin typeface="Calibri"/>
                        </a:rPr>
                        <a:t>1</a:t>
                      </a:r>
                    </a:p>
                  </a:txBody>
                  <a:tcPr marL="50800" marR="50800" marT="25400" marB="25400"/>
                </a:tc>
                <a:tc>
                  <a:txBody>
                    <a:bodyPr wrap="square"/>
                    <a:lstStyle/>
                    <a:p>
                      <a:r>
                        <a:rPr b="0" sz="1100" i="0">
                          <a:solidFill>
                            <a:srgbClr val="000000"/>
                          </a:solidFill>
                          <a:latin typeface="Calibri"/>
                        </a:rPr>
                        <a:t>11</a:t>
                      </a:r>
                    </a:p>
                  </a:txBody>
                  <a:tcPr marL="50800" marR="50800" marT="25400" marB="25400"/>
                </a:tc>
                <a:tc>
                  <a:txBody>
                    <a:bodyPr wrap="square"/>
                    <a:lstStyle/>
                    <a:p>
                      <a:r>
                        <a:rPr b="0" sz="1100" i="0">
                          <a:solidFill>
                            <a:srgbClr val="000000"/>
                          </a:solidFill>
                          <a:latin typeface="Calibri"/>
                        </a:rPr>
                        <a:t>Low</a:t>
                      </a:r>
                    </a:p>
                  </a:txBody>
                  <a:tcPr marL="50800" marR="50800" marT="25400" marB="25400"/>
                </a:tc>
                <a:tc>
                  <a:txBody>
                    <a:bodyPr wrap="square"/>
                    <a:lstStyle/>
                    <a:p>
                      <a:r>
                        <a:rPr b="0" sz="1100" i="0">
                          <a:solidFill>
                            <a:srgbClr val="000000"/>
                          </a:solidFill>
                          <a:latin typeface="Calibri"/>
                        </a:rPr>
                        <a:t>3</a:t>
                      </a:r>
                    </a:p>
                  </a:txBody>
                  <a:tcPr marL="50800" marR="50800" marT="25400" marB="25400"/>
                </a:tc>
              </a:tr>
              <a:tr h="406400">
                <a:tc>
                  <a:txBody>
                    <a:bodyPr wrap="square"/>
                    <a:lstStyle/>
                    <a:p>
                      <a:r>
                        <a:rPr b="0" sz="1100" i="0">
                          <a:solidFill>
                            <a:srgbClr val="000000"/>
                          </a:solidFill>
                          <a:latin typeface="Calibri"/>
                        </a:rPr>
                        <a:t>Departments by company (EQ)</a:t>
                      </a:r>
                    </a:p>
                  </a:txBody>
                  <a:tcPr marL="50800" marR="50800" marT="25400" marB="25400"/>
                </a:tc>
                <a:tc>
                  <a:txBody>
                    <a:bodyPr wrap="square"/>
                    <a:lstStyle/>
                    <a:p>
                      <a:r>
                        <a:rPr b="0" sz="1100" i="0">
                          <a:solidFill>
                            <a:srgbClr val="000000"/>
                          </a:solidFill>
                          <a:latin typeface="Calibri"/>
                        </a:rPr>
                        <a:t>Company, paging, 7 fields, employee count · Files: Department, Employee, Company</a:t>
                      </a:r>
                    </a:p>
                  </a:txBody>
                  <a:tcPr marL="50800" marR="50800" marT="25400" marB="25400"/>
                </a:tc>
                <a:tc>
                  <a:txBody>
                    <a:bodyPr wrap="square"/>
                    <a:lstStyle/>
                    <a:p>
                      <a:r>
                        <a:rPr b="0" sz="1100" i="0">
                          <a:solidFill>
                            <a:srgbClr val="000000"/>
                          </a:solidFill>
                          <a:latin typeface="Calibri"/>
                        </a:rPr>
                        <a:t>3</a:t>
                      </a:r>
                    </a:p>
                  </a:txBody>
                  <a:tcPr marL="50800" marR="50800" marT="25400" marB="25400"/>
                </a:tc>
                <a:tc>
                  <a:txBody>
                    <a:bodyPr wrap="square"/>
                    <a:lstStyle/>
                    <a:p>
                      <a:r>
                        <a:rPr b="0" sz="1100" i="0">
                          <a:solidFill>
                            <a:srgbClr val="000000"/>
                          </a:solidFill>
                          <a:latin typeface="Calibri"/>
                        </a:rPr>
                        <a:t>12</a:t>
                      </a:r>
                    </a:p>
                  </a:txBody>
                  <a:tcPr marL="50800" marR="50800" marT="25400" marB="25400"/>
                </a:tc>
                <a:tc>
                  <a:txBody>
                    <a:bodyPr wrap="square"/>
                    <a:lstStyle/>
                    <a:p>
                      <a:r>
                        <a:rPr b="0" sz="1100" i="0">
                          <a:solidFill>
                            <a:srgbClr val="000000"/>
                          </a:solidFill>
                          <a:latin typeface="Calibri"/>
                        </a:rPr>
                        <a:t>Average</a:t>
                      </a:r>
                    </a:p>
                  </a:txBody>
                  <a:tcPr marL="50800" marR="50800" marT="25400" marB="25400"/>
                </a:tc>
                <a:tc>
                  <a:txBody>
                    <a:bodyPr wrap="square"/>
                    <a:lstStyle/>
                    <a:p>
                      <a:r>
                        <a:rPr b="0" sz="1100" i="0">
                          <a:solidFill>
                            <a:srgbClr val="000000"/>
                          </a:solidFill>
                          <a:latin typeface="Calibri"/>
                        </a:rPr>
                        <a:t>4</a:t>
                      </a:r>
                    </a:p>
                  </a:txBody>
                  <a:tcPr marL="50800" marR="50800" marT="25400" marB="25400"/>
                </a:tc>
              </a:tr>
              <a:tr h="406400">
                <a:tc>
                  <a:txBody>
                    <a:bodyPr wrap="square"/>
                    <a:lstStyle/>
                    <a:p>
                      <a:r>
                        <a:rPr b="0" sz="1100" i="0">
                          <a:solidFill>
                            <a:srgbClr val="000000"/>
                          </a:solidFill>
                          <a:latin typeface="Calibri"/>
                        </a:rPr>
                        <a:t>Department by ID (EQ)</a:t>
                      </a:r>
                    </a:p>
                  </a:txBody>
                  <a:tcPr marL="50800" marR="50800" marT="25400" marB="25400"/>
                </a:tc>
                <a:tc>
                  <a:txBody>
                    <a:bodyPr wrap="square"/>
                    <a:lstStyle/>
                    <a:p>
                      <a:r>
                        <a:rPr b="0" sz="1100" i="0">
                          <a:solidFill>
                            <a:srgbClr val="000000"/>
                          </a:solidFill>
                          <a:latin typeface="Calibri"/>
                        </a:rPr>
                        <a:t>ID, 7 fields, employee count · Files: Department, Employee</a:t>
                      </a:r>
                    </a:p>
                  </a:txBody>
                  <a:tcPr marL="50800" marR="50800" marT="25400" marB="25400"/>
                </a:tc>
                <a:tc>
                  <a:txBody>
                    <a:bodyPr wrap="square"/>
                    <a:lstStyle/>
                    <a:p>
                      <a:r>
                        <a:rPr b="0" sz="1100" i="0">
                          <a:solidFill>
                            <a:srgbClr val="000000"/>
                          </a:solidFill>
                          <a:latin typeface="Calibri"/>
                        </a:rPr>
                        <a:t>2</a:t>
                      </a:r>
                    </a:p>
                  </a:txBody>
                  <a:tcPr marL="50800" marR="50800" marT="25400" marB="25400"/>
                </a:tc>
                <a:tc>
                  <a:txBody>
                    <a:bodyPr wrap="square"/>
                    <a:lstStyle/>
                    <a:p>
                      <a:r>
                        <a:rPr b="0" sz="1100" i="0">
                          <a:solidFill>
                            <a:srgbClr val="000000"/>
                          </a:solidFill>
                          <a:latin typeface="Calibri"/>
                        </a:rPr>
                        <a:t>9</a:t>
                      </a:r>
                    </a:p>
                  </a:txBody>
                  <a:tcPr marL="50800" marR="50800" marT="25400" marB="25400"/>
                </a:tc>
                <a:tc>
                  <a:txBody>
                    <a:bodyPr wrap="square"/>
                    <a:lstStyle/>
                    <a:p>
                      <a:r>
                        <a:rPr b="0" sz="1100" i="0">
                          <a:solidFill>
                            <a:srgbClr val="000000"/>
                          </a:solidFill>
                          <a:latin typeface="Calibri"/>
                        </a:rPr>
                        <a:t>Average</a:t>
                      </a:r>
                    </a:p>
                  </a:txBody>
                  <a:tcPr marL="50800" marR="50800" marT="25400" marB="25400"/>
                </a:tc>
                <a:tc>
                  <a:txBody>
                    <a:bodyPr wrap="square"/>
                    <a:lstStyle/>
                    <a:p>
                      <a:r>
                        <a:rPr b="0" sz="1100" i="0">
                          <a:solidFill>
                            <a:srgbClr val="000000"/>
                          </a:solidFill>
                          <a:latin typeface="Calibri"/>
                        </a:rPr>
                        <a:t>4</a:t>
                      </a:r>
                    </a:p>
                  </a:txBody>
                  <a:tcPr marL="50800" marR="50800" marT="25400" marB="25400"/>
                </a:tc>
              </a:tr>
              <a:tr h="406400">
                <a:tc>
                  <a:txBody>
                    <a:bodyPr wrap="square"/>
                    <a:lstStyle/>
                    <a:p>
                      <a:r>
                        <a:rPr b="0" sz="1100" i="0">
                          <a:solidFill>
                            <a:srgbClr val="000000"/>
                          </a:solidFill>
                          <a:latin typeface="Calibri"/>
                        </a:rPr>
                        <a:t>Employees by company (EQ)</a:t>
                      </a:r>
                    </a:p>
                  </a:txBody>
                  <a:tcPr marL="50800" marR="50800" marT="25400" marB="25400"/>
                </a:tc>
                <a:tc>
                  <a:txBody>
                    <a:bodyPr wrap="square"/>
                    <a:lstStyle/>
                    <a:p>
                      <a:r>
                        <a:rPr b="0" sz="1100" i="0">
                          <a:solidFill>
                            <a:srgbClr val="000000"/>
                          </a:solidFill>
                          <a:latin typeface="Calibri"/>
                        </a:rPr>
                        <a:t>Company, Dept, paging, 16 fields, role · Files: Employee, Role, Department</a:t>
                      </a:r>
                    </a:p>
                  </a:txBody>
                  <a:tcPr marL="50800" marR="50800" marT="25400" marB="25400"/>
                </a:tc>
                <a:tc>
                  <a:txBody>
                    <a:bodyPr wrap="square"/>
                    <a:lstStyle/>
                    <a:p>
                      <a:r>
                        <a:rPr b="0" sz="1100" i="0">
                          <a:solidFill>
                            <a:srgbClr val="000000"/>
                          </a:solidFill>
                          <a:latin typeface="Calibri"/>
                        </a:rPr>
                        <a:t>3</a:t>
                      </a:r>
                    </a:p>
                  </a:txBody>
                  <a:tcPr marL="50800" marR="50800" marT="25400" marB="25400"/>
                </a:tc>
                <a:tc>
                  <a:txBody>
                    <a:bodyPr wrap="square"/>
                    <a:lstStyle/>
                    <a:p>
                      <a:r>
                        <a:rPr b="0" sz="1100" i="0">
                          <a:solidFill>
                            <a:srgbClr val="000000"/>
                          </a:solidFill>
                          <a:latin typeface="Calibri"/>
                        </a:rPr>
                        <a:t>20</a:t>
                      </a:r>
                    </a:p>
                  </a:txBody>
                  <a:tcPr marL="50800" marR="50800" marT="25400" marB="25400"/>
                </a:tc>
                <a:tc>
                  <a:txBody>
                    <a:bodyPr wrap="square"/>
                    <a:lstStyle/>
                    <a:p>
                      <a:r>
                        <a:rPr b="0" sz="1100" i="0">
                          <a:solidFill>
                            <a:srgbClr val="000000"/>
                          </a:solidFill>
                          <a:latin typeface="Calibri"/>
                        </a:rPr>
                        <a:t>High</a:t>
                      </a:r>
                    </a:p>
                  </a:txBody>
                  <a:tcPr marL="50800" marR="50800" marT="25400" marB="25400"/>
                </a:tc>
                <a:tc>
                  <a:txBody>
                    <a:bodyPr wrap="square"/>
                    <a:lstStyle/>
                    <a:p>
                      <a:r>
                        <a:rPr b="0" sz="1100" i="0">
                          <a:solidFill>
                            <a:srgbClr val="000000"/>
                          </a:solidFill>
                          <a:latin typeface="Calibri"/>
                        </a:rPr>
                        <a:t>6</a:t>
                      </a:r>
                    </a:p>
                  </a:txBody>
                  <a:tcPr marL="50800" marR="50800" marT="25400" marB="25400"/>
                </a:tc>
              </a:tr>
              <a:tr h="406400">
                <a:tc>
                  <a:txBody>
                    <a:bodyPr wrap="square"/>
                    <a:lstStyle/>
                    <a:p>
                      <a:r>
                        <a:rPr b="0" sz="1100" i="0">
                          <a:solidFill>
                            <a:srgbClr val="000000"/>
                          </a:solidFill>
                          <a:latin typeface="Calibri"/>
                        </a:rPr>
                        <a:t>Employee by ID (EQ)</a:t>
                      </a:r>
                    </a:p>
                  </a:txBody>
                  <a:tcPr marL="50800" marR="50800" marT="25400" marB="25400"/>
                </a:tc>
                <a:tc>
                  <a:txBody>
                    <a:bodyPr wrap="square"/>
                    <a:lstStyle/>
                    <a:p>
                      <a:r>
                        <a:rPr b="0" sz="1100" i="0">
                          <a:solidFill>
                            <a:srgbClr val="000000"/>
                          </a:solidFill>
                          <a:latin typeface="Calibri"/>
                        </a:rPr>
                        <a:t>ID, 14 fields, role name · Files: Employee, Role</a:t>
                      </a:r>
                    </a:p>
                  </a:txBody>
                  <a:tcPr marL="50800" marR="50800" marT="25400" marB="25400"/>
                </a:tc>
                <a:tc>
                  <a:txBody>
                    <a:bodyPr wrap="square"/>
                    <a:lstStyle/>
                    <a:p>
                      <a:r>
                        <a:rPr b="0" sz="1100" i="0">
                          <a:solidFill>
                            <a:srgbClr val="000000"/>
                          </a:solidFill>
                          <a:latin typeface="Calibri"/>
                        </a:rPr>
                        <a:t>2</a:t>
                      </a:r>
                    </a:p>
                  </a:txBody>
                  <a:tcPr marL="50800" marR="50800" marT="25400" marB="25400"/>
                </a:tc>
                <a:tc>
                  <a:txBody>
                    <a:bodyPr wrap="square"/>
                    <a:lstStyle/>
                    <a:p>
                      <a:r>
                        <a:rPr b="0" sz="1100" i="0">
                          <a:solidFill>
                            <a:srgbClr val="000000"/>
                          </a:solidFill>
                          <a:latin typeface="Calibri"/>
                        </a:rPr>
                        <a:t>16</a:t>
                      </a:r>
                    </a:p>
                  </a:txBody>
                  <a:tcPr marL="50800" marR="50800" marT="25400" marB="25400"/>
                </a:tc>
                <a:tc>
                  <a:txBody>
                    <a:bodyPr wrap="square"/>
                    <a:lstStyle/>
                    <a:p>
                      <a:r>
                        <a:rPr b="0" sz="1100" i="0">
                          <a:solidFill>
                            <a:srgbClr val="000000"/>
                          </a:solidFill>
                          <a:latin typeface="Calibri"/>
                        </a:rPr>
                        <a:t>Average</a:t>
                      </a:r>
                    </a:p>
                  </a:txBody>
                  <a:tcPr marL="50800" marR="50800" marT="25400" marB="25400"/>
                </a:tc>
                <a:tc>
                  <a:txBody>
                    <a:bodyPr wrap="square"/>
                    <a:lstStyle/>
                    <a:p>
                      <a:r>
                        <a:rPr b="0" sz="1100" i="0">
                          <a:solidFill>
                            <a:srgbClr val="000000"/>
                          </a:solidFill>
                          <a:latin typeface="Calibri"/>
                        </a:rPr>
                        <a:t>4</a:t>
                      </a:r>
                    </a:p>
                  </a:txBody>
                  <a:tcPr marL="50800" marR="50800" marT="25400" marB="25400"/>
                </a:tc>
              </a:tr>
              <a:tr h="406400">
                <a:tc>
                  <a:txBody>
                    <a:bodyPr wrap="square"/>
                    <a:lstStyle/>
                    <a:p>
                      <a:r>
                        <a:rPr b="0" sz="1100" i="0">
                          <a:solidFill>
                            <a:srgbClr val="000000"/>
                          </a:solidFill>
                          <a:latin typeface="Calibri"/>
                        </a:rPr>
                        <a:t>Roles list / by ID (EQ)</a:t>
                      </a:r>
                    </a:p>
                  </a:txBody>
                  <a:tcPr marL="50800" marR="50800" marT="25400" marB="25400"/>
                </a:tc>
                <a:tc>
                  <a:txBody>
                    <a:bodyPr wrap="square"/>
                    <a:lstStyle/>
                    <a:p>
                      <a:r>
                        <a:rPr b="0" sz="1100" i="0">
                          <a:solidFill>
                            <a:srgbClr val="000000"/>
                          </a:solidFill>
                          <a:latin typeface="Calibri"/>
                        </a:rPr>
                        <a:t>ID, Name, Active, timestamps · Files: Role</a:t>
                      </a:r>
                    </a:p>
                  </a:txBody>
                  <a:tcPr marL="50800" marR="50800" marT="25400" marB="25400"/>
                </a:tc>
                <a:tc>
                  <a:txBody>
                    <a:bodyPr wrap="square"/>
                    <a:lstStyle/>
                    <a:p>
                      <a:r>
                        <a:rPr b="0" sz="1100" i="0">
                          <a:solidFill>
                            <a:srgbClr val="000000"/>
                          </a:solidFill>
                          <a:latin typeface="Calibri"/>
                        </a:rPr>
                        <a:t>1</a:t>
                      </a:r>
                    </a:p>
                  </a:txBody>
                  <a:tcPr marL="50800" marR="50800" marT="25400" marB="25400"/>
                </a:tc>
                <a:tc>
                  <a:txBody>
                    <a:bodyPr wrap="square"/>
                    <a:lstStyle/>
                    <a:p>
                      <a:r>
                        <a:rPr b="0" sz="1100" i="0">
                          <a:solidFill>
                            <a:srgbClr val="000000"/>
                          </a:solidFill>
                          <a:latin typeface="Calibri"/>
                        </a:rPr>
                        <a:t>4</a:t>
                      </a:r>
                    </a:p>
                  </a:txBody>
                  <a:tcPr marL="50800" marR="50800" marT="25400" marB="25400"/>
                </a:tc>
                <a:tc>
                  <a:txBody>
                    <a:bodyPr wrap="square"/>
                    <a:lstStyle/>
                    <a:p>
                      <a:r>
                        <a:rPr b="0" sz="1100" i="0">
                          <a:solidFill>
                            <a:srgbClr val="000000"/>
                          </a:solidFill>
                          <a:latin typeface="Calibri"/>
                        </a:rPr>
                        <a:t>Low</a:t>
                      </a:r>
                    </a:p>
                  </a:txBody>
                  <a:tcPr marL="50800" marR="50800" marT="25400" marB="25400"/>
                </a:tc>
                <a:tc>
                  <a:txBody>
                    <a:bodyPr wrap="square"/>
                    <a:lstStyle/>
                    <a:p>
                      <a:r>
                        <a:rPr b="0" sz="1100" i="0">
                          <a:solidFill>
                            <a:srgbClr val="000000"/>
                          </a:solidFill>
                          <a:latin typeface="Calibri"/>
                        </a:rPr>
                        <a:t>3</a:t>
                      </a:r>
                    </a:p>
                  </a:txBody>
                  <a:tcPr marL="50800" marR="50800" marT="25400" marB="25400"/>
                </a:tc>
              </a:tr>
              <a:tr h="406400">
                <a:tc>
                  <a:txBody>
                    <a:bodyPr wrap="square"/>
                    <a:lstStyle/>
                    <a:p>
                      <a:r>
                        <a:rPr b="0" sz="1100" i="0">
                          <a:solidFill>
                            <a:srgbClr val="000000"/>
                          </a:solidFill>
                          <a:latin typeface="Calibri"/>
                        </a:rPr>
                        <a:t>Attendance by date (EQ)</a:t>
                      </a:r>
                    </a:p>
                  </a:txBody>
                  <a:tcPr marL="50800" marR="50800" marT="25400" marB="25400"/>
                </a:tc>
                <a:tc>
                  <a:txBody>
                    <a:bodyPr wrap="square"/>
                    <a:lstStyle/>
                    <a:p>
                      <a:r>
                        <a:rPr b="0" sz="1100" i="0">
                          <a:solidFill>
                            <a:srgbClr val="000000"/>
                          </a:solidFill>
                          <a:latin typeface="Calibri"/>
                        </a:rPr>
                        <a:t>Company, Date, 11 fields · Files: Attendance</a:t>
                      </a:r>
                    </a:p>
                  </a:txBody>
                  <a:tcPr marL="50800" marR="50800" marT="25400" marB="25400"/>
                </a:tc>
                <a:tc>
                  <a:txBody>
                    <a:bodyPr wrap="square"/>
                    <a:lstStyle/>
                    <a:p>
                      <a:r>
                        <a:rPr b="0" sz="1100" i="0">
                          <a:solidFill>
                            <a:srgbClr val="000000"/>
                          </a:solidFill>
                          <a:latin typeface="Calibri"/>
                        </a:rPr>
                        <a:t>1</a:t>
                      </a:r>
                    </a:p>
                  </a:txBody>
                  <a:tcPr marL="50800" marR="50800" marT="25400" marB="25400"/>
                </a:tc>
                <a:tc>
                  <a:txBody>
                    <a:bodyPr wrap="square"/>
                    <a:lstStyle/>
                    <a:p>
                      <a:r>
                        <a:rPr b="0" sz="1100" i="0">
                          <a:solidFill>
                            <a:srgbClr val="000000"/>
                          </a:solidFill>
                          <a:latin typeface="Calibri"/>
                        </a:rPr>
                        <a:t>13</a:t>
                      </a:r>
                    </a:p>
                  </a:txBody>
                  <a:tcPr marL="50800" marR="50800" marT="25400" marB="25400"/>
                </a:tc>
                <a:tc>
                  <a:txBody>
                    <a:bodyPr wrap="square"/>
                    <a:lstStyle/>
                    <a:p>
                      <a:r>
                        <a:rPr b="0" sz="1100" i="0">
                          <a:solidFill>
                            <a:srgbClr val="000000"/>
                          </a:solidFill>
                          <a:latin typeface="Calibri"/>
                        </a:rPr>
                        <a:t>Low</a:t>
                      </a:r>
                    </a:p>
                  </a:txBody>
                  <a:tcPr marL="50800" marR="50800" marT="25400" marB="25400"/>
                </a:tc>
                <a:tc>
                  <a:txBody>
                    <a:bodyPr wrap="square"/>
                    <a:lstStyle/>
                    <a:p>
                      <a:r>
                        <a:rPr b="0" sz="1100" i="0">
                          <a:solidFill>
                            <a:srgbClr val="000000"/>
                          </a:solidFill>
                          <a:latin typeface="Calibri"/>
                        </a:rPr>
                        <a:t>3</a:t>
                      </a:r>
                    </a:p>
                  </a:txBody>
                  <a:tcPr marL="50800" marR="50800" marT="25400" marB="25400"/>
                </a:tc>
              </a:tr>
              <a:tr h="406400">
                <a:tc>
                  <a:txBody>
                    <a:bodyPr wrap="square"/>
                    <a:lstStyle/>
                    <a:p>
                      <a:r>
                        <a:rPr b="0" sz="1100" i="0">
                          <a:solidFill>
                            <a:srgbClr val="000000"/>
                          </a:solidFill>
                          <a:latin typeface="Calibri"/>
                        </a:rPr>
                        <a:t>Attendance by employee (EQ)</a:t>
                      </a:r>
                    </a:p>
                  </a:txBody>
                  <a:tcPr marL="50800" marR="50800" marT="25400" marB="25400"/>
                </a:tc>
                <a:tc>
                  <a:txBody>
                    <a:bodyPr wrap="square"/>
                    <a:lstStyle/>
                    <a:p>
                      <a:r>
                        <a:rPr b="0" sz="1100" i="0">
                          <a:solidFill>
                            <a:srgbClr val="000000"/>
                          </a:solidFill>
                          <a:latin typeface="Calibri"/>
                        </a:rPr>
                        <a:t>Employee, 12 fields · Files: Attendance</a:t>
                      </a:r>
                    </a:p>
                  </a:txBody>
                  <a:tcPr marL="50800" marR="50800" marT="25400" marB="25400"/>
                </a:tc>
                <a:tc>
                  <a:txBody>
                    <a:bodyPr wrap="square"/>
                    <a:lstStyle/>
                    <a:p>
                      <a:r>
                        <a:rPr b="0" sz="1100" i="0">
                          <a:solidFill>
                            <a:srgbClr val="000000"/>
                          </a:solidFill>
                          <a:latin typeface="Calibri"/>
                        </a:rPr>
                        <a:t>1</a:t>
                      </a:r>
                    </a:p>
                  </a:txBody>
                  <a:tcPr marL="50800" marR="50800" marT="25400" marB="25400"/>
                </a:tc>
                <a:tc>
                  <a:txBody>
                    <a:bodyPr wrap="square"/>
                    <a:lstStyle/>
                    <a:p>
                      <a:r>
                        <a:rPr b="0" sz="1100" i="0">
                          <a:solidFill>
                            <a:srgbClr val="000000"/>
                          </a:solidFill>
                          <a:latin typeface="Calibri"/>
                        </a:rPr>
                        <a:t>13</a:t>
                      </a:r>
                    </a:p>
                  </a:txBody>
                  <a:tcPr marL="50800" marR="50800" marT="25400" marB="25400"/>
                </a:tc>
                <a:tc>
                  <a:txBody>
                    <a:bodyPr wrap="square"/>
                    <a:lstStyle/>
                    <a:p>
                      <a:r>
                        <a:rPr b="0" sz="1100" i="0">
                          <a:solidFill>
                            <a:srgbClr val="000000"/>
                          </a:solidFill>
                          <a:latin typeface="Calibri"/>
                        </a:rPr>
                        <a:t>Low</a:t>
                      </a:r>
                    </a:p>
                  </a:txBody>
                  <a:tcPr marL="50800" marR="50800" marT="25400" marB="25400"/>
                </a:tc>
                <a:tc>
                  <a:txBody>
                    <a:bodyPr wrap="square"/>
                    <a:lstStyle/>
                    <a:p>
                      <a:r>
                        <a:rPr b="0" sz="1100" i="0">
                          <a:solidFill>
                            <a:srgbClr val="000000"/>
                          </a:solidFill>
                          <a:latin typeface="Calibri"/>
                        </a:rPr>
                        <a:t>3</a:t>
                      </a:r>
                    </a:p>
                  </a:txBody>
                  <a:tcPr marL="50800" marR="50800" marT="25400" marB="25400"/>
                </a:tc>
              </a:tr>
              <a:tr h="406400">
                <a:tc>
                  <a:txBody>
                    <a:bodyPr wrap="square"/>
                    <a:lstStyle/>
                    <a:p>
                      <a:r>
                        <a:rPr b="0" sz="1100" i="0">
                          <a:solidFill>
                            <a:srgbClr val="000000"/>
                          </a:solidFill>
                          <a:latin typeface="Calibri"/>
                        </a:rPr>
                        <a:t>Leave requests by status (EQ)</a:t>
                      </a:r>
                    </a:p>
                  </a:txBody>
                  <a:tcPr marL="50800" marR="50800" marT="25400" marB="25400"/>
                </a:tc>
                <a:tc>
                  <a:txBody>
                    <a:bodyPr wrap="square"/>
                    <a:lstStyle/>
                    <a:p>
                      <a:r>
                        <a:rPr b="0" sz="1100" i="0">
                          <a:solidFill>
                            <a:srgbClr val="000000"/>
                          </a:solidFill>
                          <a:latin typeface="Calibri"/>
                        </a:rPr>
                        <a:t>Status, Company, 13 fields · Files: LeaveRequest, Employee</a:t>
                      </a:r>
                    </a:p>
                  </a:txBody>
                  <a:tcPr marL="50800" marR="50800" marT="25400" marB="25400"/>
                </a:tc>
                <a:tc>
                  <a:txBody>
                    <a:bodyPr wrap="square"/>
                    <a:lstStyle/>
                    <a:p>
                      <a:r>
                        <a:rPr b="0" sz="1100" i="0">
                          <a:solidFill>
                            <a:srgbClr val="000000"/>
                          </a:solidFill>
                          <a:latin typeface="Calibri"/>
                        </a:rPr>
                        <a:t>2</a:t>
                      </a:r>
                    </a:p>
                  </a:txBody>
                  <a:tcPr marL="50800" marR="50800" marT="25400" marB="25400"/>
                </a:tc>
                <a:tc>
                  <a:txBody>
                    <a:bodyPr wrap="square"/>
                    <a:lstStyle/>
                    <a:p>
                      <a:r>
                        <a:rPr b="0" sz="1100" i="0">
                          <a:solidFill>
                            <a:srgbClr val="000000"/>
                          </a:solidFill>
                          <a:latin typeface="Calibri"/>
                        </a:rPr>
                        <a:t>15</a:t>
                      </a:r>
                    </a:p>
                  </a:txBody>
                  <a:tcPr marL="50800" marR="50800" marT="25400" marB="25400"/>
                </a:tc>
                <a:tc>
                  <a:txBody>
                    <a:bodyPr wrap="square"/>
                    <a:lstStyle/>
                    <a:p>
                      <a:r>
                        <a:rPr b="0" sz="1100" i="0">
                          <a:solidFill>
                            <a:srgbClr val="000000"/>
                          </a:solidFill>
                          <a:latin typeface="Calibri"/>
                        </a:rPr>
                        <a:t>Average</a:t>
                      </a:r>
                    </a:p>
                  </a:txBody>
                  <a:tcPr marL="50800" marR="50800" marT="25400" marB="25400"/>
                </a:tc>
                <a:tc>
                  <a:txBody>
                    <a:bodyPr wrap="square"/>
                    <a:lstStyle/>
                    <a:p>
                      <a:r>
                        <a:rPr b="0" sz="1100" i="0">
                          <a:solidFill>
                            <a:srgbClr val="000000"/>
                          </a:solidFill>
                          <a:latin typeface="Calibri"/>
                        </a:rPr>
                        <a:t>4</a:t>
                      </a:r>
                    </a:p>
                  </a:txBody>
                  <a:tcPr marL="50800" marR="50800" marT="25400" marB="25400"/>
                </a:tc>
              </a:tr>
              <a:tr h="406400">
                <a:tc>
                  <a:txBody>
                    <a:bodyPr wrap="square"/>
                    <a:lstStyle/>
                    <a:p>
                      <a:r>
                        <a:rPr b="0" sz="1100" i="0">
                          <a:solidFill>
                            <a:srgbClr val="000000"/>
                          </a:solidFill>
                          <a:latin typeface="Calibri"/>
                        </a:rPr>
                        <a:t>Leave history by employee (EQ)</a:t>
                      </a:r>
                    </a:p>
                  </a:txBody>
                  <a:tcPr marL="50800" marR="50800" marT="25400" marB="25400"/>
                </a:tc>
                <a:tc>
                  <a:txBody>
                    <a:bodyPr wrap="square"/>
                    <a:lstStyle/>
                    <a:p>
                      <a:r>
                        <a:rPr b="0" sz="1100" i="0">
                          <a:solidFill>
                            <a:srgbClr val="000000"/>
                          </a:solidFill>
                          <a:latin typeface="Calibri"/>
                        </a:rPr>
                        <a:t>Employee, 13 fields · Files: LeaveRequest, Employee</a:t>
                      </a:r>
                    </a:p>
                  </a:txBody>
                  <a:tcPr marL="50800" marR="50800" marT="25400" marB="25400"/>
                </a:tc>
                <a:tc>
                  <a:txBody>
                    <a:bodyPr wrap="square"/>
                    <a:lstStyle/>
                    <a:p>
                      <a:r>
                        <a:rPr b="0" sz="1100" i="0">
                          <a:solidFill>
                            <a:srgbClr val="000000"/>
                          </a:solidFill>
                          <a:latin typeface="Calibri"/>
                        </a:rPr>
                        <a:t>2</a:t>
                      </a:r>
                    </a:p>
                  </a:txBody>
                  <a:tcPr marL="50800" marR="50800" marT="25400" marB="25400"/>
                </a:tc>
                <a:tc>
                  <a:txBody>
                    <a:bodyPr wrap="square"/>
                    <a:lstStyle/>
                    <a:p>
                      <a:r>
                        <a:rPr b="0" sz="1100" i="0">
                          <a:solidFill>
                            <a:srgbClr val="000000"/>
                          </a:solidFill>
                          <a:latin typeface="Calibri"/>
                        </a:rPr>
                        <a:t>14</a:t>
                      </a:r>
                    </a:p>
                  </a:txBody>
                  <a:tcPr marL="50800" marR="50800" marT="25400" marB="25400"/>
                </a:tc>
                <a:tc>
                  <a:txBody>
                    <a:bodyPr wrap="square"/>
                    <a:lstStyle/>
                    <a:p>
                      <a:r>
                        <a:rPr b="0" sz="1100" i="0">
                          <a:solidFill>
                            <a:srgbClr val="000000"/>
                          </a:solidFill>
                          <a:latin typeface="Calibri"/>
                        </a:rPr>
                        <a:t>Average</a:t>
                      </a:r>
                    </a:p>
                  </a:txBody>
                  <a:tcPr marL="50800" marR="50800" marT="25400" marB="25400"/>
                </a:tc>
                <a:tc>
                  <a:txBody>
                    <a:bodyPr wrap="square"/>
                    <a:lstStyle/>
                    <a:p>
                      <a:r>
                        <a:rPr b="0" sz="1100" i="0">
                          <a:solidFill>
                            <a:srgbClr val="000000"/>
                          </a:solidFill>
                          <a:latin typeface="Calibri"/>
                        </a:rPr>
                        <a:t>4</a:t>
                      </a:r>
                    </a:p>
                  </a:txBody>
                  <a:tcPr marL="50800" marR="50800" marT="25400" marB="25400"/>
                </a:tc>
              </a:tr>
            </a:tbl>
          </a:graphicData>
        </a:graphic>
      </p:graphicFrame>
      <p:sp>
        <p:nvSpPr>
          <p:cNvPr id="6" name="TextBox 5"/>
          <p:cNvSpPr txBox="1"/>
          <p:nvPr/>
        </p:nvSpPr>
        <p:spPr>
          <a:xfrm>
            <a:off x="762000" y="5842000"/>
            <a:ext cx="7620000" cy="304800"/>
          </a:xfrm>
          <a:prstGeom prst="rect">
            <a:avLst/>
          </a:prstGeom>
          <a:noFill/>
        </p:spPr>
        <p:txBody>
          <a:bodyPr wrap="square" lIns="0" rIns="0" tIns="0" bIns="0" anchor="t">
            <a:spAutoFit/>
          </a:bodyPr>
          <a:lstStyle/>
          <a:p>
            <a:pPr algn="ctr"/>
            <a:r>
              <a:rPr b="0" sz="1400" i="0">
                <a:solidFill>
                  <a:srgbClr val="000000"/>
                </a:solidFill>
                <a:latin typeface="Times New Roman"/>
              </a:rPr>
              <a:t>Identifying Complexity (Transaction Function – External Inquiries)</a:t>
            </a:r>
          </a:p>
        </p:txBody>
      </p:sp>
      <p:sp>
        <p:nvSpPr>
          <p:cNvPr id="7" name="TextBox 6"/>
          <p:cNvSpPr txBox="1"/>
          <p:nvPr/>
        </p:nvSpPr>
        <p:spPr>
          <a:xfrm>
            <a:off x="8382000" y="6578600"/>
            <a:ext cx="635000" cy="228600"/>
          </a:xfrm>
          <a:prstGeom prst="rect">
            <a:avLst/>
          </a:prstGeom>
          <a:noFill/>
        </p:spPr>
        <p:txBody>
          <a:bodyPr wrap="square" lIns="0" rIns="0" tIns="0" bIns="0" anchor="t">
            <a:spAutoFit/>
          </a:bodyPr>
          <a:lstStyle/>
          <a:p>
            <a:pPr algn="r"/>
            <a:r>
              <a:rPr b="0" sz="1200" i="0">
                <a:solidFill>
                  <a:srgbClr val="000000"/>
                </a:solidFill>
                <a:latin typeface="Calibr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ubat.jpeg"/>
          <p:cNvPicPr>
            <a:picLocks noChangeAspect="1"/>
          </p:cNvPicPr>
          <p:nvPr/>
        </p:nvPicPr>
        <p:blipFill>
          <a:blip r:embed="rId2"/>
          <a:stretch>
            <a:fillRect/>
          </a:stretch>
        </p:blipFill>
        <p:spPr>
          <a:xfrm>
            <a:off x="50800" y="88900"/>
            <a:ext cx="609600" cy="533400"/>
          </a:xfrm>
          <a:prstGeom prst="rect">
            <a:avLst/>
          </a:prstGeom>
        </p:spPr>
      </p:pic>
      <p:pic>
        <p:nvPicPr>
          <p:cNvPr id="3" name="Picture 2" descr="cse.jpeg"/>
          <p:cNvPicPr>
            <a:picLocks noChangeAspect="1"/>
          </p:cNvPicPr>
          <p:nvPr/>
        </p:nvPicPr>
        <p:blipFill>
          <a:blip r:embed="rId3"/>
          <a:stretch>
            <a:fillRect/>
          </a:stretch>
        </p:blipFill>
        <p:spPr>
          <a:xfrm>
            <a:off x="8534400" y="127000"/>
            <a:ext cx="457200" cy="469900"/>
          </a:xfrm>
          <a:prstGeom prst="rect">
            <a:avLst/>
          </a:prstGeom>
        </p:spPr>
      </p:pic>
      <p:sp>
        <p:nvSpPr>
          <p:cNvPr id="4" name="TextBox 3"/>
          <p:cNvSpPr txBox="1"/>
          <p:nvPr/>
        </p:nvSpPr>
        <p:spPr>
          <a:xfrm>
            <a:off x="762000" y="152400"/>
            <a:ext cx="7620000" cy="558800"/>
          </a:xfrm>
          <a:prstGeom prst="rect">
            <a:avLst/>
          </a:prstGeom>
          <a:noFill/>
        </p:spPr>
        <p:txBody>
          <a:bodyPr wrap="square" lIns="0" rIns="0" tIns="0" bIns="0" anchor="ctr">
            <a:spAutoFit/>
          </a:bodyPr>
          <a:lstStyle/>
          <a:p>
            <a:pPr algn="ctr"/>
            <a:r>
              <a:rPr b="1" sz="3000" i="0">
                <a:solidFill>
                  <a:srgbClr val="000000"/>
                </a:solidFill>
                <a:latin typeface="Times New Roman"/>
              </a:rPr>
              <a:t>System Planning</a:t>
            </a:r>
          </a:p>
        </p:txBody>
      </p:sp>
      <p:graphicFrame>
        <p:nvGraphicFramePr>
          <p:cNvPr id="5" name="Table 4"/>
          <p:cNvGraphicFramePr>
            <a:graphicFrameLocks noGrp="1"/>
          </p:cNvGraphicFramePr>
          <p:nvPr/>
        </p:nvGraphicFramePr>
        <p:xfrm>
          <a:off x="304800" y="812800"/>
          <a:ext cx="8534398" cy="4953000"/>
        </p:xfrm>
        <a:graphic>
          <a:graphicData uri="http://schemas.openxmlformats.org/drawingml/2006/table">
            <a:tbl>
              <a:tblPr firstRow="0" bandRow="0">
                <a:tableStyleId>{5940675A-B579-460E-94D1-54222C63F5DA}</a:tableStyleId>
              </a:tblPr>
              <a:tblGrid>
                <a:gridCol w="1720111"/>
                <a:gridCol w="4101804"/>
                <a:gridCol w="595423"/>
                <a:gridCol w="595423"/>
                <a:gridCol w="992372"/>
                <a:gridCol w="529265"/>
              </a:tblGrid>
              <a:tr h="381000">
                <a:tc>
                  <a:txBody>
                    <a:bodyPr wrap="square"/>
                    <a:lstStyle/>
                    <a:p>
                      <a:r>
                        <a:rPr b="1" sz="1000" i="0">
                          <a:solidFill>
                            <a:srgbClr val="000000"/>
                          </a:solidFill>
                          <a:latin typeface="Calibri"/>
                        </a:rPr>
                        <a:t>Data Function</a:t>
                      </a:r>
                    </a:p>
                  </a:txBody>
                  <a:tcPr marL="50800" marR="50800" marT="25400" marB="25400">
                    <a:solidFill>
                      <a:srgbClr val="D9D9D9"/>
                    </a:solidFill>
                  </a:tcPr>
                </a:tc>
                <a:tc>
                  <a:txBody>
                    <a:bodyPr wrap="square"/>
                    <a:lstStyle/>
                    <a:p>
                      <a:r>
                        <a:rPr b="1" sz="1000" i="0">
                          <a:solidFill>
                            <a:srgbClr val="000000"/>
                          </a:solidFill>
                          <a:latin typeface="Calibri"/>
                        </a:rPr>
                        <a:t>Fields</a:t>
                      </a:r>
                    </a:p>
                  </a:txBody>
                  <a:tcPr marL="50800" marR="50800" marT="25400" marB="25400">
                    <a:solidFill>
                      <a:srgbClr val="D9D9D9"/>
                    </a:solidFill>
                  </a:tcPr>
                </a:tc>
                <a:tc>
                  <a:txBody>
                    <a:bodyPr wrap="square"/>
                    <a:lstStyle/>
                    <a:p>
                      <a:r>
                        <a:rPr b="1" sz="1000" i="0">
                          <a:solidFill>
                            <a:srgbClr val="000000"/>
                          </a:solidFill>
                          <a:latin typeface="Calibri"/>
                        </a:rPr>
                        <a:t>RETs</a:t>
                      </a:r>
                    </a:p>
                  </a:txBody>
                  <a:tcPr marL="50800" marR="50800" marT="25400" marB="25400">
                    <a:solidFill>
                      <a:srgbClr val="D9D9D9"/>
                    </a:solidFill>
                  </a:tcPr>
                </a:tc>
                <a:tc>
                  <a:txBody>
                    <a:bodyPr wrap="square"/>
                    <a:lstStyle/>
                    <a:p>
                      <a:r>
                        <a:rPr b="1" sz="1000" i="0">
                          <a:solidFill>
                            <a:srgbClr val="000000"/>
                          </a:solidFill>
                          <a:latin typeface="Calibri"/>
                        </a:rPr>
                        <a:t>DETs</a:t>
                      </a:r>
                    </a:p>
                  </a:txBody>
                  <a:tcPr marL="50800" marR="50800" marT="25400" marB="25400">
                    <a:solidFill>
                      <a:srgbClr val="D9D9D9"/>
                    </a:solidFill>
                  </a:tcPr>
                </a:tc>
                <a:tc>
                  <a:txBody>
                    <a:bodyPr wrap="square"/>
                    <a:lstStyle/>
                    <a:p>
                      <a:r>
                        <a:rPr b="1" sz="1000" i="0">
                          <a:solidFill>
                            <a:srgbClr val="000000"/>
                          </a:solidFill>
                          <a:latin typeface="Calibri"/>
                        </a:rPr>
                        <a:t>Complexity</a:t>
                      </a:r>
                    </a:p>
                  </a:txBody>
                  <a:tcPr marL="50800" marR="50800" marT="25400" marB="25400">
                    <a:solidFill>
                      <a:srgbClr val="D9D9D9"/>
                    </a:solidFill>
                  </a:tcPr>
                </a:tc>
                <a:tc>
                  <a:txBody>
                    <a:bodyPr wrap="square"/>
                    <a:lstStyle/>
                    <a:p>
                      <a:r>
                        <a:rPr b="1" sz="1000" i="0">
                          <a:solidFill>
                            <a:srgbClr val="000000"/>
                          </a:solidFill>
                          <a:latin typeface="Calibri"/>
                        </a:rPr>
                        <a:t>UFP</a:t>
                      </a:r>
                    </a:p>
                  </a:txBody>
                  <a:tcPr marL="50800" marR="50800" marT="25400" marB="25400">
                    <a:solidFill>
                      <a:srgbClr val="D9D9D9"/>
                    </a:solidFill>
                  </a:tcPr>
                </a:tc>
              </a:tr>
              <a:tr h="381000">
                <a:tc>
                  <a:txBody>
                    <a:bodyPr wrap="square"/>
                    <a:lstStyle/>
                    <a:p>
                      <a:r>
                        <a:rPr b="0" sz="1000" i="0">
                          <a:solidFill>
                            <a:srgbClr val="000000"/>
                          </a:solidFill>
                          <a:latin typeface="Calibri"/>
                        </a:rPr>
                        <a:t>Company (ILF)</a:t>
                      </a:r>
                    </a:p>
                  </a:txBody>
                  <a:tcPr marL="50800" marR="50800" marT="25400" marB="25400"/>
                </a:tc>
                <a:tc>
                  <a:txBody>
                    <a:bodyPr wrap="square"/>
                    <a:lstStyle/>
                    <a:p>
                      <a:r>
                        <a:rPr b="0" sz="1000" i="0">
                          <a:solidFill>
                            <a:srgbClr val="000000"/>
                          </a:solidFill>
                          <a:latin typeface="Calibri"/>
                        </a:rPr>
                        <a:t>CompanyId, Name, Email, Phone, Address, LogoUrl, Plan, IsActive, CreatedAt, UpdatedAt</a:t>
                      </a:r>
                    </a:p>
                  </a:txBody>
                  <a:tcPr marL="50800" marR="50800" marT="25400" marB="25400"/>
                </a:tc>
                <a:tc>
                  <a:txBody>
                    <a:bodyPr wrap="square"/>
                    <a:lstStyle/>
                    <a:p>
                      <a:r>
                        <a:rPr b="0" sz="1000" i="0">
                          <a:solidFill>
                            <a:srgbClr val="000000"/>
                          </a:solidFill>
                          <a:latin typeface="Calibri"/>
                        </a:rPr>
                        <a:t>1</a:t>
                      </a:r>
                    </a:p>
                  </a:txBody>
                  <a:tcPr marL="50800" marR="50800" marT="25400" marB="25400"/>
                </a:tc>
                <a:tc>
                  <a:txBody>
                    <a:bodyPr wrap="square"/>
                    <a:lstStyle/>
                    <a:p>
                      <a:r>
                        <a:rPr b="0" sz="1000" i="0">
                          <a:solidFill>
                            <a:srgbClr val="000000"/>
                          </a:solidFill>
                          <a:latin typeface="Calibri"/>
                        </a:rPr>
                        <a:t>10</a:t>
                      </a:r>
                    </a:p>
                  </a:txBody>
                  <a:tcPr marL="50800" marR="50800" marT="25400" marB="25400"/>
                </a:tc>
                <a:tc>
                  <a:txBody>
                    <a:bodyPr wrap="square"/>
                    <a:lstStyle/>
                    <a:p>
                      <a:r>
                        <a:rPr b="0" sz="1000" i="0">
                          <a:solidFill>
                            <a:srgbClr val="000000"/>
                          </a:solidFill>
                          <a:latin typeface="Calibri"/>
                        </a:rPr>
                        <a:t>Low</a:t>
                      </a:r>
                    </a:p>
                  </a:txBody>
                  <a:tcPr marL="50800" marR="50800" marT="25400" marB="25400"/>
                </a:tc>
                <a:tc>
                  <a:txBody>
                    <a:bodyPr wrap="square"/>
                    <a:lstStyle/>
                    <a:p>
                      <a:r>
                        <a:rPr b="0" sz="1000" i="0">
                          <a:solidFill>
                            <a:srgbClr val="000000"/>
                          </a:solidFill>
                          <a:latin typeface="Calibri"/>
                        </a:rPr>
                        <a:t>7</a:t>
                      </a:r>
                    </a:p>
                  </a:txBody>
                  <a:tcPr marL="50800" marR="50800" marT="25400" marB="25400"/>
                </a:tc>
              </a:tr>
              <a:tr h="381000">
                <a:tc>
                  <a:txBody>
                    <a:bodyPr wrap="square"/>
                    <a:lstStyle/>
                    <a:p>
                      <a:r>
                        <a:rPr b="0" sz="1000" i="0">
                          <a:solidFill>
                            <a:srgbClr val="000000"/>
                          </a:solidFill>
                          <a:latin typeface="Calibri"/>
                        </a:rPr>
                        <a:t>Department (ILF)</a:t>
                      </a:r>
                    </a:p>
                  </a:txBody>
                  <a:tcPr marL="50800" marR="50800" marT="25400" marB="25400"/>
                </a:tc>
                <a:tc>
                  <a:txBody>
                    <a:bodyPr wrap="square"/>
                    <a:lstStyle/>
                    <a:p>
                      <a:r>
                        <a:rPr b="0" sz="1000" i="0">
                          <a:solidFill>
                            <a:srgbClr val="000000"/>
                          </a:solidFill>
                          <a:latin typeface="Calibri"/>
                        </a:rPr>
                        <a:t>DepartmentId, CompanyId, Name, Description, IsActive, CreatedAt, UpdatedAt</a:t>
                      </a:r>
                    </a:p>
                  </a:txBody>
                  <a:tcPr marL="50800" marR="50800" marT="25400" marB="25400"/>
                </a:tc>
                <a:tc>
                  <a:txBody>
                    <a:bodyPr wrap="square"/>
                    <a:lstStyle/>
                    <a:p>
                      <a:r>
                        <a:rPr b="0" sz="1000" i="0">
                          <a:solidFill>
                            <a:srgbClr val="000000"/>
                          </a:solidFill>
                          <a:latin typeface="Calibri"/>
                        </a:rPr>
                        <a:t>1</a:t>
                      </a:r>
                    </a:p>
                  </a:txBody>
                  <a:tcPr marL="50800" marR="50800" marT="25400" marB="25400"/>
                </a:tc>
                <a:tc>
                  <a:txBody>
                    <a:bodyPr wrap="square"/>
                    <a:lstStyle/>
                    <a:p>
                      <a:r>
                        <a:rPr b="0" sz="1000" i="0">
                          <a:solidFill>
                            <a:srgbClr val="000000"/>
                          </a:solidFill>
                          <a:latin typeface="Calibri"/>
                        </a:rPr>
                        <a:t>7</a:t>
                      </a:r>
                    </a:p>
                  </a:txBody>
                  <a:tcPr marL="50800" marR="50800" marT="25400" marB="25400"/>
                </a:tc>
                <a:tc>
                  <a:txBody>
                    <a:bodyPr wrap="square"/>
                    <a:lstStyle/>
                    <a:p>
                      <a:r>
                        <a:rPr b="0" sz="1000" i="0">
                          <a:solidFill>
                            <a:srgbClr val="000000"/>
                          </a:solidFill>
                          <a:latin typeface="Calibri"/>
                        </a:rPr>
                        <a:t>Low</a:t>
                      </a:r>
                    </a:p>
                  </a:txBody>
                  <a:tcPr marL="50800" marR="50800" marT="25400" marB="25400"/>
                </a:tc>
                <a:tc>
                  <a:txBody>
                    <a:bodyPr wrap="square"/>
                    <a:lstStyle/>
                    <a:p>
                      <a:r>
                        <a:rPr b="0" sz="1000" i="0">
                          <a:solidFill>
                            <a:srgbClr val="000000"/>
                          </a:solidFill>
                          <a:latin typeface="Calibri"/>
                        </a:rPr>
                        <a:t>7</a:t>
                      </a:r>
                    </a:p>
                  </a:txBody>
                  <a:tcPr marL="50800" marR="50800" marT="25400" marB="25400"/>
                </a:tc>
              </a:tr>
              <a:tr h="381000">
                <a:tc>
                  <a:txBody>
                    <a:bodyPr wrap="square"/>
                    <a:lstStyle/>
                    <a:p>
                      <a:r>
                        <a:rPr b="0" sz="1000" i="0">
                          <a:solidFill>
                            <a:srgbClr val="000000"/>
                          </a:solidFill>
                          <a:latin typeface="Calibri"/>
                        </a:rPr>
                        <a:t>Role (ILF)</a:t>
                      </a:r>
                    </a:p>
                  </a:txBody>
                  <a:tcPr marL="50800" marR="50800" marT="25400" marB="25400"/>
                </a:tc>
                <a:tc>
                  <a:txBody>
                    <a:bodyPr wrap="square"/>
                    <a:lstStyle/>
                    <a:p>
                      <a:r>
                        <a:rPr b="0" sz="1000" i="0">
                          <a:solidFill>
                            <a:srgbClr val="000000"/>
                          </a:solidFill>
                          <a:latin typeface="Calibri"/>
                        </a:rPr>
                        <a:t>RoleId, RoleName, IsActive, CreatedAt, UpdatedAt</a:t>
                      </a:r>
                    </a:p>
                  </a:txBody>
                  <a:tcPr marL="50800" marR="50800" marT="25400" marB="25400"/>
                </a:tc>
                <a:tc>
                  <a:txBody>
                    <a:bodyPr wrap="square"/>
                    <a:lstStyle/>
                    <a:p>
                      <a:r>
                        <a:rPr b="0" sz="1000" i="0">
                          <a:solidFill>
                            <a:srgbClr val="000000"/>
                          </a:solidFill>
                          <a:latin typeface="Calibri"/>
                        </a:rPr>
                        <a:t>1</a:t>
                      </a:r>
                    </a:p>
                  </a:txBody>
                  <a:tcPr marL="50800" marR="50800" marT="25400" marB="25400"/>
                </a:tc>
                <a:tc>
                  <a:txBody>
                    <a:bodyPr wrap="square"/>
                    <a:lstStyle/>
                    <a:p>
                      <a:r>
                        <a:rPr b="0" sz="1000" i="0">
                          <a:solidFill>
                            <a:srgbClr val="000000"/>
                          </a:solidFill>
                          <a:latin typeface="Calibri"/>
                        </a:rPr>
                        <a:t>5</a:t>
                      </a:r>
                    </a:p>
                  </a:txBody>
                  <a:tcPr marL="50800" marR="50800" marT="25400" marB="25400"/>
                </a:tc>
                <a:tc>
                  <a:txBody>
                    <a:bodyPr wrap="square"/>
                    <a:lstStyle/>
                    <a:p>
                      <a:r>
                        <a:rPr b="0" sz="1000" i="0">
                          <a:solidFill>
                            <a:srgbClr val="000000"/>
                          </a:solidFill>
                          <a:latin typeface="Calibri"/>
                        </a:rPr>
                        <a:t>Low</a:t>
                      </a:r>
                    </a:p>
                  </a:txBody>
                  <a:tcPr marL="50800" marR="50800" marT="25400" marB="25400"/>
                </a:tc>
                <a:tc>
                  <a:txBody>
                    <a:bodyPr wrap="square"/>
                    <a:lstStyle/>
                    <a:p>
                      <a:r>
                        <a:rPr b="0" sz="1000" i="0">
                          <a:solidFill>
                            <a:srgbClr val="000000"/>
                          </a:solidFill>
                          <a:latin typeface="Calibri"/>
                        </a:rPr>
                        <a:t>7</a:t>
                      </a:r>
                    </a:p>
                  </a:txBody>
                  <a:tcPr marL="50800" marR="50800" marT="25400" marB="25400"/>
                </a:tc>
              </a:tr>
              <a:tr h="381000">
                <a:tc>
                  <a:txBody>
                    <a:bodyPr wrap="square"/>
                    <a:lstStyle/>
                    <a:p>
                      <a:r>
                        <a:rPr b="0" sz="1000" i="0">
                          <a:solidFill>
                            <a:srgbClr val="000000"/>
                          </a:solidFill>
                          <a:latin typeface="Calibri"/>
                        </a:rPr>
                        <a:t>Employee (ILF)</a:t>
                      </a:r>
                    </a:p>
                  </a:txBody>
                  <a:tcPr marL="50800" marR="50800" marT="25400" marB="25400"/>
                </a:tc>
                <a:tc>
                  <a:txBody>
                    <a:bodyPr wrap="square"/>
                    <a:lstStyle/>
                    <a:p>
                      <a:r>
                        <a:rPr b="0" sz="1000" i="0">
                          <a:solidFill>
                            <a:srgbClr val="000000"/>
                          </a:solidFill>
                          <a:latin typeface="Calibri"/>
                        </a:rPr>
                        <a:t>EmployeeId, CompanyId, DepartmentId, Code, Names, Email, Phone, PasswordHash, RoleId, Gender, DOB, JoinDate, Salary, Status, IsActive, timestamps</a:t>
                      </a:r>
                    </a:p>
                  </a:txBody>
                  <a:tcPr marL="50800" marR="50800" marT="25400" marB="25400"/>
                </a:tc>
                <a:tc>
                  <a:txBody>
                    <a:bodyPr wrap="square"/>
                    <a:lstStyle/>
                    <a:p>
                      <a:r>
                        <a:rPr b="0" sz="1000" i="0">
                          <a:solidFill>
                            <a:srgbClr val="000000"/>
                          </a:solidFill>
                          <a:latin typeface="Calibri"/>
                        </a:rPr>
                        <a:t>1</a:t>
                      </a:r>
                    </a:p>
                  </a:txBody>
                  <a:tcPr marL="50800" marR="50800" marT="25400" marB="25400"/>
                </a:tc>
                <a:tc>
                  <a:txBody>
                    <a:bodyPr wrap="square"/>
                    <a:lstStyle/>
                    <a:p>
                      <a:r>
                        <a:rPr b="0" sz="1000" i="0">
                          <a:solidFill>
                            <a:srgbClr val="000000"/>
                          </a:solidFill>
                          <a:latin typeface="Calibri"/>
                        </a:rPr>
                        <a:t>18</a:t>
                      </a:r>
                    </a:p>
                  </a:txBody>
                  <a:tcPr marL="50800" marR="50800" marT="25400" marB="25400"/>
                </a:tc>
                <a:tc>
                  <a:txBody>
                    <a:bodyPr wrap="square"/>
                    <a:lstStyle/>
                    <a:p>
                      <a:r>
                        <a:rPr b="0" sz="1000" i="0">
                          <a:solidFill>
                            <a:srgbClr val="000000"/>
                          </a:solidFill>
                          <a:latin typeface="Calibri"/>
                        </a:rPr>
                        <a:t>Low</a:t>
                      </a:r>
                    </a:p>
                  </a:txBody>
                  <a:tcPr marL="50800" marR="50800" marT="25400" marB="25400"/>
                </a:tc>
                <a:tc>
                  <a:txBody>
                    <a:bodyPr wrap="square"/>
                    <a:lstStyle/>
                    <a:p>
                      <a:r>
                        <a:rPr b="0" sz="1000" i="0">
                          <a:solidFill>
                            <a:srgbClr val="000000"/>
                          </a:solidFill>
                          <a:latin typeface="Calibri"/>
                        </a:rPr>
                        <a:t>7</a:t>
                      </a:r>
                    </a:p>
                  </a:txBody>
                  <a:tcPr marL="50800" marR="50800" marT="25400" marB="25400"/>
                </a:tc>
              </a:tr>
              <a:tr h="381000">
                <a:tc>
                  <a:txBody>
                    <a:bodyPr wrap="square"/>
                    <a:lstStyle/>
                    <a:p>
                      <a:r>
                        <a:rPr b="0" sz="1000" i="0">
                          <a:solidFill>
                            <a:srgbClr val="000000"/>
                          </a:solidFill>
                          <a:latin typeface="Calibri"/>
                        </a:rPr>
                        <a:t>Attendance (ILF)</a:t>
                      </a:r>
                    </a:p>
                  </a:txBody>
                  <a:tcPr marL="50800" marR="50800" marT="25400" marB="25400"/>
                </a:tc>
                <a:tc>
                  <a:txBody>
                    <a:bodyPr wrap="square"/>
                    <a:lstStyle/>
                    <a:p>
                      <a:r>
                        <a:rPr b="0" sz="1000" i="0">
                          <a:solidFill>
                            <a:srgbClr val="000000"/>
                          </a:solidFill>
                          <a:latin typeface="Calibri"/>
                        </a:rPr>
                        <a:t>AttendanceId, CompanyId, EmployeeId, Date, CheckIn, CheckOut, Hours, LateMin, EarlyMin, Status, Remarks, CreatedAt</a:t>
                      </a:r>
                    </a:p>
                  </a:txBody>
                  <a:tcPr marL="50800" marR="50800" marT="25400" marB="25400"/>
                </a:tc>
                <a:tc>
                  <a:txBody>
                    <a:bodyPr wrap="square"/>
                    <a:lstStyle/>
                    <a:p>
                      <a:r>
                        <a:rPr b="0" sz="1000" i="0">
                          <a:solidFill>
                            <a:srgbClr val="000000"/>
                          </a:solidFill>
                          <a:latin typeface="Calibri"/>
                        </a:rPr>
                        <a:t>1</a:t>
                      </a:r>
                    </a:p>
                  </a:txBody>
                  <a:tcPr marL="50800" marR="50800" marT="25400" marB="25400"/>
                </a:tc>
                <a:tc>
                  <a:txBody>
                    <a:bodyPr wrap="square"/>
                    <a:lstStyle/>
                    <a:p>
                      <a:r>
                        <a:rPr b="0" sz="1000" i="0">
                          <a:solidFill>
                            <a:srgbClr val="000000"/>
                          </a:solidFill>
                          <a:latin typeface="Calibri"/>
                        </a:rPr>
                        <a:t>12</a:t>
                      </a:r>
                    </a:p>
                  </a:txBody>
                  <a:tcPr marL="50800" marR="50800" marT="25400" marB="25400"/>
                </a:tc>
                <a:tc>
                  <a:txBody>
                    <a:bodyPr wrap="square"/>
                    <a:lstStyle/>
                    <a:p>
                      <a:r>
                        <a:rPr b="0" sz="1000" i="0">
                          <a:solidFill>
                            <a:srgbClr val="000000"/>
                          </a:solidFill>
                          <a:latin typeface="Calibri"/>
                        </a:rPr>
                        <a:t>Low</a:t>
                      </a:r>
                    </a:p>
                  </a:txBody>
                  <a:tcPr marL="50800" marR="50800" marT="25400" marB="25400"/>
                </a:tc>
                <a:tc>
                  <a:txBody>
                    <a:bodyPr wrap="square"/>
                    <a:lstStyle/>
                    <a:p>
                      <a:r>
                        <a:rPr b="0" sz="1000" i="0">
                          <a:solidFill>
                            <a:srgbClr val="000000"/>
                          </a:solidFill>
                          <a:latin typeface="Calibri"/>
                        </a:rPr>
                        <a:t>7</a:t>
                      </a:r>
                    </a:p>
                  </a:txBody>
                  <a:tcPr marL="50800" marR="50800" marT="25400" marB="25400"/>
                </a:tc>
              </a:tr>
              <a:tr h="381000">
                <a:tc>
                  <a:txBody>
                    <a:bodyPr wrap="square"/>
                    <a:lstStyle/>
                    <a:p>
                      <a:r>
                        <a:rPr b="0" sz="1000" i="0">
                          <a:solidFill>
                            <a:srgbClr val="000000"/>
                          </a:solidFill>
                          <a:latin typeface="Calibri"/>
                        </a:rPr>
                        <a:t>LeaveRequest (ILF)</a:t>
                      </a:r>
                    </a:p>
                  </a:txBody>
                  <a:tcPr marL="50800" marR="50800" marT="25400" marB="25400"/>
                </a:tc>
                <a:tc>
                  <a:txBody>
                    <a:bodyPr wrap="square"/>
                    <a:lstStyle/>
                    <a:p>
                      <a:r>
                        <a:rPr b="0" sz="1000" i="0">
                          <a:solidFill>
                            <a:srgbClr val="000000"/>
                          </a:solidFill>
                          <a:latin typeface="Calibri"/>
                        </a:rPr>
                        <a:t>LeaveRequestId, CompanyId, EmployeeId, LeaveTypeId, From, To, Days, Reason, Status, ApprovedBy/At, AI fields, CreatedAt</a:t>
                      </a:r>
                    </a:p>
                  </a:txBody>
                  <a:tcPr marL="50800" marR="50800" marT="25400" marB="25400"/>
                </a:tc>
                <a:tc>
                  <a:txBody>
                    <a:bodyPr wrap="square"/>
                    <a:lstStyle/>
                    <a:p>
                      <a:r>
                        <a:rPr b="0" sz="1000" i="0">
                          <a:solidFill>
                            <a:srgbClr val="000000"/>
                          </a:solidFill>
                          <a:latin typeface="Calibri"/>
                        </a:rPr>
                        <a:t>1</a:t>
                      </a:r>
                    </a:p>
                  </a:txBody>
                  <a:tcPr marL="50800" marR="50800" marT="25400" marB="25400"/>
                </a:tc>
                <a:tc>
                  <a:txBody>
                    <a:bodyPr wrap="square"/>
                    <a:lstStyle/>
                    <a:p>
                      <a:r>
                        <a:rPr b="0" sz="1000" i="0">
                          <a:solidFill>
                            <a:srgbClr val="000000"/>
                          </a:solidFill>
                          <a:latin typeface="Calibri"/>
                        </a:rPr>
                        <a:t>14</a:t>
                      </a:r>
                    </a:p>
                  </a:txBody>
                  <a:tcPr marL="50800" marR="50800" marT="25400" marB="25400"/>
                </a:tc>
                <a:tc>
                  <a:txBody>
                    <a:bodyPr wrap="square"/>
                    <a:lstStyle/>
                    <a:p>
                      <a:r>
                        <a:rPr b="0" sz="1000" i="0">
                          <a:solidFill>
                            <a:srgbClr val="000000"/>
                          </a:solidFill>
                          <a:latin typeface="Calibri"/>
                        </a:rPr>
                        <a:t>Low</a:t>
                      </a:r>
                    </a:p>
                  </a:txBody>
                  <a:tcPr marL="50800" marR="50800" marT="25400" marB="25400"/>
                </a:tc>
                <a:tc>
                  <a:txBody>
                    <a:bodyPr wrap="square"/>
                    <a:lstStyle/>
                    <a:p>
                      <a:r>
                        <a:rPr b="0" sz="1000" i="0">
                          <a:solidFill>
                            <a:srgbClr val="000000"/>
                          </a:solidFill>
                          <a:latin typeface="Calibri"/>
                        </a:rPr>
                        <a:t>7</a:t>
                      </a:r>
                    </a:p>
                  </a:txBody>
                  <a:tcPr marL="50800" marR="50800" marT="25400" marB="25400"/>
                </a:tc>
              </a:tr>
              <a:tr h="381000">
                <a:tc>
                  <a:txBody>
                    <a:bodyPr wrap="square"/>
                    <a:lstStyle/>
                    <a:p>
                      <a:r>
                        <a:rPr b="0" sz="1000" i="0">
                          <a:solidFill>
                            <a:srgbClr val="000000"/>
                          </a:solidFill>
                          <a:latin typeface="Calibri"/>
                        </a:rPr>
                        <a:t>LeaveType (ILF)</a:t>
                      </a:r>
                    </a:p>
                  </a:txBody>
                  <a:tcPr marL="50800" marR="50800" marT="25400" marB="25400"/>
                </a:tc>
                <a:tc>
                  <a:txBody>
                    <a:bodyPr wrap="square"/>
                    <a:lstStyle/>
                    <a:p>
                      <a:r>
                        <a:rPr b="0" sz="1000" i="0">
                          <a:solidFill>
                            <a:srgbClr val="000000"/>
                          </a:solidFill>
                          <a:latin typeface="Calibri"/>
                        </a:rPr>
                        <a:t>LeaveTypeId, Name, Description, CreatedAt, UpdatedAt</a:t>
                      </a:r>
                    </a:p>
                  </a:txBody>
                  <a:tcPr marL="50800" marR="50800" marT="25400" marB="25400"/>
                </a:tc>
                <a:tc>
                  <a:txBody>
                    <a:bodyPr wrap="square"/>
                    <a:lstStyle/>
                    <a:p>
                      <a:r>
                        <a:rPr b="0" sz="1000" i="0">
                          <a:solidFill>
                            <a:srgbClr val="000000"/>
                          </a:solidFill>
                          <a:latin typeface="Calibri"/>
                        </a:rPr>
                        <a:t>1</a:t>
                      </a:r>
                    </a:p>
                  </a:txBody>
                  <a:tcPr marL="50800" marR="50800" marT="25400" marB="25400"/>
                </a:tc>
                <a:tc>
                  <a:txBody>
                    <a:bodyPr wrap="square"/>
                    <a:lstStyle/>
                    <a:p>
                      <a:r>
                        <a:rPr b="0" sz="1000" i="0">
                          <a:solidFill>
                            <a:srgbClr val="000000"/>
                          </a:solidFill>
                          <a:latin typeface="Calibri"/>
                        </a:rPr>
                        <a:t>5</a:t>
                      </a:r>
                    </a:p>
                  </a:txBody>
                  <a:tcPr marL="50800" marR="50800" marT="25400" marB="25400"/>
                </a:tc>
                <a:tc>
                  <a:txBody>
                    <a:bodyPr wrap="square"/>
                    <a:lstStyle/>
                    <a:p>
                      <a:r>
                        <a:rPr b="0" sz="1000" i="0">
                          <a:solidFill>
                            <a:srgbClr val="000000"/>
                          </a:solidFill>
                          <a:latin typeface="Calibri"/>
                        </a:rPr>
                        <a:t>Low</a:t>
                      </a:r>
                    </a:p>
                  </a:txBody>
                  <a:tcPr marL="50800" marR="50800" marT="25400" marB="25400"/>
                </a:tc>
                <a:tc>
                  <a:txBody>
                    <a:bodyPr wrap="square"/>
                    <a:lstStyle/>
                    <a:p>
                      <a:r>
                        <a:rPr b="0" sz="1000" i="0">
                          <a:solidFill>
                            <a:srgbClr val="000000"/>
                          </a:solidFill>
                          <a:latin typeface="Calibri"/>
                        </a:rPr>
                        <a:t>7</a:t>
                      </a:r>
                    </a:p>
                  </a:txBody>
                  <a:tcPr marL="50800" marR="50800" marT="25400" marB="25400"/>
                </a:tc>
              </a:tr>
              <a:tr h="381000">
                <a:tc>
                  <a:txBody>
                    <a:bodyPr wrap="square"/>
                    <a:lstStyle/>
                    <a:p>
                      <a:r>
                        <a:rPr b="0" sz="1000" i="0">
                          <a:solidFill>
                            <a:srgbClr val="000000"/>
                          </a:solidFill>
                          <a:latin typeface="Calibri"/>
                        </a:rPr>
                        <a:t>Payroll (ILF)</a:t>
                      </a:r>
                    </a:p>
                  </a:txBody>
                  <a:tcPr marL="50800" marR="50800" marT="25400" marB="25400"/>
                </a:tc>
                <a:tc>
                  <a:txBody>
                    <a:bodyPr wrap="square"/>
                    <a:lstStyle/>
                    <a:p>
                      <a:r>
                        <a:rPr b="0" sz="1000" i="0">
                          <a:solidFill>
                            <a:srgbClr val="000000"/>
                          </a:solidFill>
                          <a:latin typeface="Calibri"/>
                        </a:rPr>
                        <a:t>PayrollId, CompanyId, EmployeeId, Month, Year, Basic, AbsentDed, LateDed, Net, GeneratedAt</a:t>
                      </a:r>
                    </a:p>
                  </a:txBody>
                  <a:tcPr marL="50800" marR="50800" marT="25400" marB="25400"/>
                </a:tc>
                <a:tc>
                  <a:txBody>
                    <a:bodyPr wrap="square"/>
                    <a:lstStyle/>
                    <a:p>
                      <a:r>
                        <a:rPr b="0" sz="1000" i="0">
                          <a:solidFill>
                            <a:srgbClr val="000000"/>
                          </a:solidFill>
                          <a:latin typeface="Calibri"/>
                        </a:rPr>
                        <a:t>1</a:t>
                      </a:r>
                    </a:p>
                  </a:txBody>
                  <a:tcPr marL="50800" marR="50800" marT="25400" marB="25400"/>
                </a:tc>
                <a:tc>
                  <a:txBody>
                    <a:bodyPr wrap="square"/>
                    <a:lstStyle/>
                    <a:p>
                      <a:r>
                        <a:rPr b="0" sz="1000" i="0">
                          <a:solidFill>
                            <a:srgbClr val="000000"/>
                          </a:solidFill>
                          <a:latin typeface="Calibri"/>
                        </a:rPr>
                        <a:t>10</a:t>
                      </a:r>
                    </a:p>
                  </a:txBody>
                  <a:tcPr marL="50800" marR="50800" marT="25400" marB="25400"/>
                </a:tc>
                <a:tc>
                  <a:txBody>
                    <a:bodyPr wrap="square"/>
                    <a:lstStyle/>
                    <a:p>
                      <a:r>
                        <a:rPr b="0" sz="1000" i="0">
                          <a:solidFill>
                            <a:srgbClr val="000000"/>
                          </a:solidFill>
                          <a:latin typeface="Calibri"/>
                        </a:rPr>
                        <a:t>Low</a:t>
                      </a:r>
                    </a:p>
                  </a:txBody>
                  <a:tcPr marL="50800" marR="50800" marT="25400" marB="25400"/>
                </a:tc>
                <a:tc>
                  <a:txBody>
                    <a:bodyPr wrap="square"/>
                    <a:lstStyle/>
                    <a:p>
                      <a:r>
                        <a:rPr b="0" sz="1000" i="0">
                          <a:solidFill>
                            <a:srgbClr val="000000"/>
                          </a:solidFill>
                          <a:latin typeface="Calibri"/>
                        </a:rPr>
                        <a:t>7</a:t>
                      </a:r>
                    </a:p>
                  </a:txBody>
                  <a:tcPr marL="50800" marR="50800" marT="25400" marB="25400"/>
                </a:tc>
              </a:tr>
              <a:tr h="381000">
                <a:tc>
                  <a:txBody>
                    <a:bodyPr wrap="square"/>
                    <a:lstStyle/>
                    <a:p>
                      <a:r>
                        <a:rPr b="0" sz="1000" i="0">
                          <a:solidFill>
                            <a:srgbClr val="000000"/>
                          </a:solidFill>
                          <a:latin typeface="Calibri"/>
                        </a:rPr>
                        <a:t>RefreshToken (ILF)</a:t>
                      </a:r>
                    </a:p>
                  </a:txBody>
                  <a:tcPr marL="50800" marR="50800" marT="25400" marB="25400"/>
                </a:tc>
                <a:tc>
                  <a:txBody>
                    <a:bodyPr wrap="square"/>
                    <a:lstStyle/>
                    <a:p>
                      <a:r>
                        <a:rPr b="0" sz="1000" i="0">
                          <a:solidFill>
                            <a:srgbClr val="000000"/>
                          </a:solidFill>
                          <a:latin typeface="Calibri"/>
                        </a:rPr>
                        <a:t>RefreshTokenId, Token, EmployeeId, ExpiresAt, CreatedAt, IsRevoked</a:t>
                      </a:r>
                    </a:p>
                  </a:txBody>
                  <a:tcPr marL="50800" marR="50800" marT="25400" marB="25400"/>
                </a:tc>
                <a:tc>
                  <a:txBody>
                    <a:bodyPr wrap="square"/>
                    <a:lstStyle/>
                    <a:p>
                      <a:r>
                        <a:rPr b="0" sz="1000" i="0">
                          <a:solidFill>
                            <a:srgbClr val="000000"/>
                          </a:solidFill>
                          <a:latin typeface="Calibri"/>
                        </a:rPr>
                        <a:t>1</a:t>
                      </a:r>
                    </a:p>
                  </a:txBody>
                  <a:tcPr marL="50800" marR="50800" marT="25400" marB="25400"/>
                </a:tc>
                <a:tc>
                  <a:txBody>
                    <a:bodyPr wrap="square"/>
                    <a:lstStyle/>
                    <a:p>
                      <a:r>
                        <a:rPr b="0" sz="1000" i="0">
                          <a:solidFill>
                            <a:srgbClr val="000000"/>
                          </a:solidFill>
                          <a:latin typeface="Calibri"/>
                        </a:rPr>
                        <a:t>6</a:t>
                      </a:r>
                    </a:p>
                  </a:txBody>
                  <a:tcPr marL="50800" marR="50800" marT="25400" marB="25400"/>
                </a:tc>
                <a:tc>
                  <a:txBody>
                    <a:bodyPr wrap="square"/>
                    <a:lstStyle/>
                    <a:p>
                      <a:r>
                        <a:rPr b="0" sz="1000" i="0">
                          <a:solidFill>
                            <a:srgbClr val="000000"/>
                          </a:solidFill>
                          <a:latin typeface="Calibri"/>
                        </a:rPr>
                        <a:t>Low</a:t>
                      </a:r>
                    </a:p>
                  </a:txBody>
                  <a:tcPr marL="50800" marR="50800" marT="25400" marB="25400"/>
                </a:tc>
                <a:tc>
                  <a:txBody>
                    <a:bodyPr wrap="square"/>
                    <a:lstStyle/>
                    <a:p>
                      <a:r>
                        <a:rPr b="0" sz="1000" i="0">
                          <a:solidFill>
                            <a:srgbClr val="000000"/>
                          </a:solidFill>
                          <a:latin typeface="Calibri"/>
                        </a:rPr>
                        <a:t>7</a:t>
                      </a:r>
                    </a:p>
                  </a:txBody>
                  <a:tcPr marL="50800" marR="50800" marT="25400" marB="25400"/>
                </a:tc>
              </a:tr>
              <a:tr h="381000">
                <a:tc>
                  <a:txBody>
                    <a:bodyPr wrap="square"/>
                    <a:lstStyle/>
                    <a:p>
                      <a:r>
                        <a:rPr b="0" sz="1000" i="0">
                          <a:solidFill>
                            <a:srgbClr val="000000"/>
                          </a:solidFill>
                          <a:latin typeface="Calibri"/>
                        </a:rPr>
                        <a:t>AiConversation (ILF)</a:t>
                      </a:r>
                    </a:p>
                  </a:txBody>
                  <a:tcPr marL="50800" marR="50800" marT="25400" marB="25400"/>
                </a:tc>
                <a:tc>
                  <a:txBody>
                    <a:bodyPr wrap="square"/>
                    <a:lstStyle/>
                    <a:p>
                      <a:r>
                        <a:rPr b="0" sz="1000" i="0">
                          <a:solidFill>
                            <a:srgbClr val="000000"/>
                          </a:solidFill>
                          <a:latin typeface="Calibri"/>
                        </a:rPr>
                        <a:t>Id, CompanyId, EmployeeId, Prompt, Response, Tokens, ResponseTime, CreatedAt</a:t>
                      </a:r>
                    </a:p>
                  </a:txBody>
                  <a:tcPr marL="50800" marR="50800" marT="25400" marB="25400"/>
                </a:tc>
                <a:tc>
                  <a:txBody>
                    <a:bodyPr wrap="square"/>
                    <a:lstStyle/>
                    <a:p>
                      <a:r>
                        <a:rPr b="0" sz="1000" i="0">
                          <a:solidFill>
                            <a:srgbClr val="000000"/>
                          </a:solidFill>
                          <a:latin typeface="Calibri"/>
                        </a:rPr>
                        <a:t>1</a:t>
                      </a:r>
                    </a:p>
                  </a:txBody>
                  <a:tcPr marL="50800" marR="50800" marT="25400" marB="25400"/>
                </a:tc>
                <a:tc>
                  <a:txBody>
                    <a:bodyPr wrap="square"/>
                    <a:lstStyle/>
                    <a:p>
                      <a:r>
                        <a:rPr b="0" sz="1000" i="0">
                          <a:solidFill>
                            <a:srgbClr val="000000"/>
                          </a:solidFill>
                          <a:latin typeface="Calibri"/>
                        </a:rPr>
                        <a:t>8</a:t>
                      </a:r>
                    </a:p>
                  </a:txBody>
                  <a:tcPr marL="50800" marR="50800" marT="25400" marB="25400"/>
                </a:tc>
                <a:tc>
                  <a:txBody>
                    <a:bodyPr wrap="square"/>
                    <a:lstStyle/>
                    <a:p>
                      <a:r>
                        <a:rPr b="0" sz="1000" i="0">
                          <a:solidFill>
                            <a:srgbClr val="000000"/>
                          </a:solidFill>
                          <a:latin typeface="Calibri"/>
                        </a:rPr>
                        <a:t>Low</a:t>
                      </a:r>
                    </a:p>
                  </a:txBody>
                  <a:tcPr marL="50800" marR="50800" marT="25400" marB="25400"/>
                </a:tc>
                <a:tc>
                  <a:txBody>
                    <a:bodyPr wrap="square"/>
                    <a:lstStyle/>
                    <a:p>
                      <a:r>
                        <a:rPr b="0" sz="1000" i="0">
                          <a:solidFill>
                            <a:srgbClr val="000000"/>
                          </a:solidFill>
                          <a:latin typeface="Calibri"/>
                        </a:rPr>
                        <a:t>7</a:t>
                      </a:r>
                    </a:p>
                  </a:txBody>
                  <a:tcPr marL="50800" marR="50800" marT="25400" marB="25400"/>
                </a:tc>
              </a:tr>
              <a:tr h="381000">
                <a:tc>
                  <a:txBody>
                    <a:bodyPr wrap="square"/>
                    <a:lstStyle/>
                    <a:p>
                      <a:r>
                        <a:rPr b="0" sz="1000" i="0">
                          <a:solidFill>
                            <a:srgbClr val="000000"/>
                          </a:solidFill>
                          <a:latin typeface="Calibri"/>
                        </a:rPr>
                        <a:t>AiAuditLog (ILF)</a:t>
                      </a:r>
                    </a:p>
                  </a:txBody>
                  <a:tcPr marL="50800" marR="50800" marT="25400" marB="25400"/>
                </a:tc>
                <a:tc>
                  <a:txBody>
                    <a:bodyPr wrap="square"/>
                    <a:lstStyle/>
                    <a:p>
                      <a:r>
                        <a:rPr b="0" sz="1000" i="0">
                          <a:solidFill>
                            <a:srgbClr val="000000"/>
                          </a:solidFill>
                          <a:latin typeface="Calibri"/>
                        </a:rPr>
                        <a:t>Id, CompanyId, EmployeeId, Feature, PromptLength, Tokens, Success, Error, CreatedAt</a:t>
                      </a:r>
                    </a:p>
                  </a:txBody>
                  <a:tcPr marL="50800" marR="50800" marT="25400" marB="25400"/>
                </a:tc>
                <a:tc>
                  <a:txBody>
                    <a:bodyPr wrap="square"/>
                    <a:lstStyle/>
                    <a:p>
                      <a:r>
                        <a:rPr b="0" sz="1000" i="0">
                          <a:solidFill>
                            <a:srgbClr val="000000"/>
                          </a:solidFill>
                          <a:latin typeface="Calibri"/>
                        </a:rPr>
                        <a:t>1</a:t>
                      </a:r>
                    </a:p>
                  </a:txBody>
                  <a:tcPr marL="50800" marR="50800" marT="25400" marB="25400"/>
                </a:tc>
                <a:tc>
                  <a:txBody>
                    <a:bodyPr wrap="square"/>
                    <a:lstStyle/>
                    <a:p>
                      <a:r>
                        <a:rPr b="0" sz="1000" i="0">
                          <a:solidFill>
                            <a:srgbClr val="000000"/>
                          </a:solidFill>
                          <a:latin typeface="Calibri"/>
                        </a:rPr>
                        <a:t>9</a:t>
                      </a:r>
                    </a:p>
                  </a:txBody>
                  <a:tcPr marL="50800" marR="50800" marT="25400" marB="25400"/>
                </a:tc>
                <a:tc>
                  <a:txBody>
                    <a:bodyPr wrap="square"/>
                    <a:lstStyle/>
                    <a:p>
                      <a:r>
                        <a:rPr b="0" sz="1000" i="0">
                          <a:solidFill>
                            <a:srgbClr val="000000"/>
                          </a:solidFill>
                          <a:latin typeface="Calibri"/>
                        </a:rPr>
                        <a:t>Low</a:t>
                      </a:r>
                    </a:p>
                  </a:txBody>
                  <a:tcPr marL="50800" marR="50800" marT="25400" marB="25400"/>
                </a:tc>
                <a:tc>
                  <a:txBody>
                    <a:bodyPr wrap="square"/>
                    <a:lstStyle/>
                    <a:p>
                      <a:r>
                        <a:rPr b="0" sz="1000" i="0">
                          <a:solidFill>
                            <a:srgbClr val="000000"/>
                          </a:solidFill>
                          <a:latin typeface="Calibri"/>
                        </a:rPr>
                        <a:t>7</a:t>
                      </a:r>
                    </a:p>
                  </a:txBody>
                  <a:tcPr marL="50800" marR="50800" marT="25400" marB="25400"/>
                </a:tc>
              </a:tr>
              <a:tr h="381000">
                <a:tc>
                  <a:txBody>
                    <a:bodyPr wrap="square"/>
                    <a:lstStyle/>
                    <a:p>
                      <a:r>
                        <a:rPr b="0" sz="1000" i="0">
                          <a:solidFill>
                            <a:srgbClr val="000000"/>
                          </a:solidFill>
                          <a:latin typeface="Calibri"/>
                        </a:rPr>
                        <a:t>AiReport (ILF)</a:t>
                      </a:r>
                    </a:p>
                  </a:txBody>
                  <a:tcPr marL="50800" marR="50800" marT="25400" marB="25400"/>
                </a:tc>
                <a:tc>
                  <a:txBody>
                    <a:bodyPr wrap="square"/>
                    <a:lstStyle/>
                    <a:p>
                      <a:r>
                        <a:rPr b="0" sz="1000" i="0">
                          <a:solidFill>
                            <a:srgbClr val="000000"/>
                          </a:solidFill>
                          <a:latin typeface="Calibri"/>
                        </a:rPr>
                        <a:t>Id, CompanyId, ReportType, Month, Year, Content, GeneratedBy, GeneratedAt</a:t>
                      </a:r>
                    </a:p>
                  </a:txBody>
                  <a:tcPr marL="50800" marR="50800" marT="25400" marB="25400"/>
                </a:tc>
                <a:tc>
                  <a:txBody>
                    <a:bodyPr wrap="square"/>
                    <a:lstStyle/>
                    <a:p>
                      <a:r>
                        <a:rPr b="0" sz="1000" i="0">
                          <a:solidFill>
                            <a:srgbClr val="000000"/>
                          </a:solidFill>
                          <a:latin typeface="Calibri"/>
                        </a:rPr>
                        <a:t>1</a:t>
                      </a:r>
                    </a:p>
                  </a:txBody>
                  <a:tcPr marL="50800" marR="50800" marT="25400" marB="25400"/>
                </a:tc>
                <a:tc>
                  <a:txBody>
                    <a:bodyPr wrap="square"/>
                    <a:lstStyle/>
                    <a:p>
                      <a:r>
                        <a:rPr b="0" sz="1000" i="0">
                          <a:solidFill>
                            <a:srgbClr val="000000"/>
                          </a:solidFill>
                          <a:latin typeface="Calibri"/>
                        </a:rPr>
                        <a:t>8</a:t>
                      </a:r>
                    </a:p>
                  </a:txBody>
                  <a:tcPr marL="50800" marR="50800" marT="25400" marB="25400"/>
                </a:tc>
                <a:tc>
                  <a:txBody>
                    <a:bodyPr wrap="square"/>
                    <a:lstStyle/>
                    <a:p>
                      <a:r>
                        <a:rPr b="0" sz="1000" i="0">
                          <a:solidFill>
                            <a:srgbClr val="000000"/>
                          </a:solidFill>
                          <a:latin typeface="Calibri"/>
                        </a:rPr>
                        <a:t>Low</a:t>
                      </a:r>
                    </a:p>
                  </a:txBody>
                  <a:tcPr marL="50800" marR="50800" marT="25400" marB="25400"/>
                </a:tc>
                <a:tc>
                  <a:txBody>
                    <a:bodyPr wrap="square"/>
                    <a:lstStyle/>
                    <a:p>
                      <a:r>
                        <a:rPr b="0" sz="1000" i="0">
                          <a:solidFill>
                            <a:srgbClr val="000000"/>
                          </a:solidFill>
                          <a:latin typeface="Calibri"/>
                        </a:rPr>
                        <a:t>7</a:t>
                      </a:r>
                    </a:p>
                  </a:txBody>
                  <a:tcPr marL="50800" marR="50800" marT="25400" marB="25400"/>
                </a:tc>
              </a:tr>
            </a:tbl>
          </a:graphicData>
        </a:graphic>
      </p:graphicFrame>
      <p:sp>
        <p:nvSpPr>
          <p:cNvPr id="6" name="TextBox 5"/>
          <p:cNvSpPr txBox="1"/>
          <p:nvPr/>
        </p:nvSpPr>
        <p:spPr>
          <a:xfrm>
            <a:off x="762000" y="5969000"/>
            <a:ext cx="7620000" cy="304800"/>
          </a:xfrm>
          <a:prstGeom prst="rect">
            <a:avLst/>
          </a:prstGeom>
          <a:noFill/>
        </p:spPr>
        <p:txBody>
          <a:bodyPr wrap="square" lIns="0" rIns="0" tIns="0" bIns="0" anchor="t">
            <a:spAutoFit/>
          </a:bodyPr>
          <a:lstStyle/>
          <a:p>
            <a:pPr algn="ctr"/>
            <a:r>
              <a:rPr b="0" sz="1400" i="0">
                <a:solidFill>
                  <a:srgbClr val="000000"/>
                </a:solidFill>
                <a:latin typeface="Times New Roman"/>
              </a:rPr>
              <a:t>Identifying Complexity (Data Function)</a:t>
            </a:r>
          </a:p>
        </p:txBody>
      </p:sp>
      <p:sp>
        <p:nvSpPr>
          <p:cNvPr id="7" name="TextBox 6"/>
          <p:cNvSpPr txBox="1"/>
          <p:nvPr/>
        </p:nvSpPr>
        <p:spPr>
          <a:xfrm>
            <a:off x="8382000" y="6578600"/>
            <a:ext cx="635000" cy="228600"/>
          </a:xfrm>
          <a:prstGeom prst="rect">
            <a:avLst/>
          </a:prstGeom>
          <a:noFill/>
        </p:spPr>
        <p:txBody>
          <a:bodyPr wrap="square" lIns="0" rIns="0" tIns="0" bIns="0" anchor="t">
            <a:spAutoFit/>
          </a:bodyPr>
          <a:lstStyle/>
          <a:p>
            <a:pPr algn="r"/>
            <a:r>
              <a:rPr b="0" sz="1200" i="0">
                <a:solidFill>
                  <a:srgbClr val="000000"/>
                </a:solidFill>
                <a:latin typeface="Calibr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ubat.jpeg"/>
          <p:cNvPicPr>
            <a:picLocks noChangeAspect="1"/>
          </p:cNvPicPr>
          <p:nvPr/>
        </p:nvPicPr>
        <p:blipFill>
          <a:blip r:embed="rId2"/>
          <a:stretch>
            <a:fillRect/>
          </a:stretch>
        </p:blipFill>
        <p:spPr>
          <a:xfrm>
            <a:off x="50800" y="88900"/>
            <a:ext cx="609600" cy="533400"/>
          </a:xfrm>
          <a:prstGeom prst="rect">
            <a:avLst/>
          </a:prstGeom>
        </p:spPr>
      </p:pic>
      <p:pic>
        <p:nvPicPr>
          <p:cNvPr id="3" name="Picture 2" descr="cse.jpeg"/>
          <p:cNvPicPr>
            <a:picLocks noChangeAspect="1"/>
          </p:cNvPicPr>
          <p:nvPr/>
        </p:nvPicPr>
        <p:blipFill>
          <a:blip r:embed="rId3"/>
          <a:stretch>
            <a:fillRect/>
          </a:stretch>
        </p:blipFill>
        <p:spPr>
          <a:xfrm>
            <a:off x="8534400" y="127000"/>
            <a:ext cx="457200" cy="469900"/>
          </a:xfrm>
          <a:prstGeom prst="rect">
            <a:avLst/>
          </a:prstGeom>
        </p:spPr>
      </p:pic>
      <p:sp>
        <p:nvSpPr>
          <p:cNvPr id="4" name="TextBox 3"/>
          <p:cNvSpPr txBox="1"/>
          <p:nvPr/>
        </p:nvSpPr>
        <p:spPr>
          <a:xfrm>
            <a:off x="762000" y="152400"/>
            <a:ext cx="7620000" cy="558800"/>
          </a:xfrm>
          <a:prstGeom prst="rect">
            <a:avLst/>
          </a:prstGeom>
          <a:noFill/>
        </p:spPr>
        <p:txBody>
          <a:bodyPr wrap="square" lIns="0" rIns="0" tIns="0" bIns="0" anchor="ctr">
            <a:spAutoFit/>
          </a:bodyPr>
          <a:lstStyle/>
          <a:p>
            <a:pPr algn="ctr"/>
            <a:r>
              <a:rPr b="1" sz="3000" i="0">
                <a:solidFill>
                  <a:srgbClr val="000000"/>
                </a:solidFill>
                <a:latin typeface="Times New Roman"/>
              </a:rPr>
              <a:t>System Planning</a:t>
            </a:r>
          </a:p>
        </p:txBody>
      </p:sp>
      <p:graphicFrame>
        <p:nvGraphicFramePr>
          <p:cNvPr id="5" name="Table 4"/>
          <p:cNvGraphicFramePr>
            <a:graphicFrameLocks noGrp="1"/>
          </p:cNvGraphicFramePr>
          <p:nvPr/>
        </p:nvGraphicFramePr>
        <p:xfrm>
          <a:off x="1397000" y="1524000"/>
          <a:ext cx="6350000" cy="3022600"/>
        </p:xfrm>
        <a:graphic>
          <a:graphicData uri="http://schemas.openxmlformats.org/drawingml/2006/table">
            <a:tbl>
              <a:tblPr firstRow="0" bandRow="0">
                <a:tableStyleId>{5940675A-B579-460E-94D1-54222C63F5DA}</a:tableStyleId>
              </a:tblPr>
              <a:tblGrid>
                <a:gridCol w="3175000"/>
                <a:gridCol w="1587500"/>
                <a:gridCol w="1587500"/>
              </a:tblGrid>
              <a:tr h="431800">
                <a:tc>
                  <a:txBody>
                    <a:bodyPr wrap="square"/>
                    <a:lstStyle/>
                    <a:p>
                      <a:r>
                        <a:rPr b="1" sz="1600" i="0">
                          <a:solidFill>
                            <a:srgbClr val="000000"/>
                          </a:solidFill>
                          <a:latin typeface="Calibri"/>
                        </a:rPr>
                        <a:t>Type</a:t>
                      </a:r>
                    </a:p>
                  </a:txBody>
                  <a:tcPr marL="50800" marR="50800" marT="25400" marB="25400">
                    <a:solidFill>
                      <a:srgbClr val="D9D9D9"/>
                    </a:solidFill>
                  </a:tcPr>
                </a:tc>
                <a:tc>
                  <a:txBody>
                    <a:bodyPr wrap="square"/>
                    <a:lstStyle/>
                    <a:p>
                      <a:r>
                        <a:rPr b="1" sz="1600" i="0">
                          <a:solidFill>
                            <a:srgbClr val="000000"/>
                          </a:solidFill>
                          <a:latin typeface="Calibri"/>
                        </a:rPr>
                        <a:t>Count</a:t>
                      </a:r>
                    </a:p>
                  </a:txBody>
                  <a:tcPr marL="50800" marR="50800" marT="25400" marB="25400">
                    <a:solidFill>
                      <a:srgbClr val="D9D9D9"/>
                    </a:solidFill>
                  </a:tcPr>
                </a:tc>
                <a:tc>
                  <a:txBody>
                    <a:bodyPr wrap="square"/>
                    <a:lstStyle/>
                    <a:p>
                      <a:r>
                        <a:rPr b="1" sz="1600" i="0">
                          <a:solidFill>
                            <a:srgbClr val="000000"/>
                          </a:solidFill>
                          <a:latin typeface="Calibri"/>
                        </a:rPr>
                        <a:t>UFP Subtotal</a:t>
                      </a:r>
                    </a:p>
                  </a:txBody>
                  <a:tcPr marL="50800" marR="50800" marT="25400" marB="25400">
                    <a:solidFill>
                      <a:srgbClr val="D9D9D9"/>
                    </a:solidFill>
                  </a:tcPr>
                </a:tc>
              </a:tr>
              <a:tr h="431800">
                <a:tc>
                  <a:txBody>
                    <a:bodyPr wrap="square"/>
                    <a:lstStyle/>
                    <a:p>
                      <a:r>
                        <a:rPr b="0" sz="1600" i="0">
                          <a:solidFill>
                            <a:srgbClr val="000000"/>
                          </a:solidFill>
                          <a:latin typeface="Calibri"/>
                        </a:rPr>
                        <a:t>EI</a:t>
                      </a:r>
                    </a:p>
                  </a:txBody>
                  <a:tcPr marL="50800" marR="50800" marT="25400" marB="25400"/>
                </a:tc>
                <a:tc>
                  <a:txBody>
                    <a:bodyPr wrap="square"/>
                    <a:lstStyle/>
                    <a:p>
                      <a:r>
                        <a:rPr b="0" sz="1600" i="0">
                          <a:solidFill>
                            <a:srgbClr val="000000"/>
                          </a:solidFill>
                          <a:latin typeface="Calibri"/>
                        </a:rPr>
                        <a:t>14</a:t>
                      </a:r>
                    </a:p>
                  </a:txBody>
                  <a:tcPr marL="50800" marR="50800" marT="25400" marB="25400"/>
                </a:tc>
                <a:tc>
                  <a:txBody>
                    <a:bodyPr wrap="square"/>
                    <a:lstStyle/>
                    <a:p>
                      <a:r>
                        <a:rPr b="0" sz="1600" i="0">
                          <a:solidFill>
                            <a:srgbClr val="000000"/>
                          </a:solidFill>
                          <a:latin typeface="Calibri"/>
                        </a:rPr>
                        <a:t>59</a:t>
                      </a:r>
                    </a:p>
                  </a:txBody>
                  <a:tcPr marL="50800" marR="50800" marT="25400" marB="25400"/>
                </a:tc>
              </a:tr>
              <a:tr h="431800">
                <a:tc>
                  <a:txBody>
                    <a:bodyPr wrap="square"/>
                    <a:lstStyle/>
                    <a:p>
                      <a:r>
                        <a:rPr b="0" sz="1600" i="0">
                          <a:solidFill>
                            <a:srgbClr val="000000"/>
                          </a:solidFill>
                          <a:latin typeface="Calibri"/>
                        </a:rPr>
                        <a:t>EO</a:t>
                      </a:r>
                    </a:p>
                  </a:txBody>
                  <a:tcPr marL="50800" marR="50800" marT="25400" marB="25400"/>
                </a:tc>
                <a:tc>
                  <a:txBody>
                    <a:bodyPr wrap="square"/>
                    <a:lstStyle/>
                    <a:p>
                      <a:r>
                        <a:rPr b="0" sz="1600" i="0">
                          <a:solidFill>
                            <a:srgbClr val="000000"/>
                          </a:solidFill>
                          <a:latin typeface="Calibri"/>
                        </a:rPr>
                        <a:t>7</a:t>
                      </a:r>
                    </a:p>
                  </a:txBody>
                  <a:tcPr marL="50800" marR="50800" marT="25400" marB="25400"/>
                </a:tc>
                <a:tc>
                  <a:txBody>
                    <a:bodyPr wrap="square"/>
                    <a:lstStyle/>
                    <a:p>
                      <a:r>
                        <a:rPr b="0" sz="1600" i="0">
                          <a:solidFill>
                            <a:srgbClr val="000000"/>
                          </a:solidFill>
                          <a:latin typeface="Calibri"/>
                        </a:rPr>
                        <a:t>36</a:t>
                      </a:r>
                    </a:p>
                  </a:txBody>
                  <a:tcPr marL="50800" marR="50800" marT="25400" marB="25400"/>
                </a:tc>
              </a:tr>
              <a:tr h="431800">
                <a:tc>
                  <a:txBody>
                    <a:bodyPr wrap="square"/>
                    <a:lstStyle/>
                    <a:p>
                      <a:r>
                        <a:rPr b="0" sz="1600" i="0">
                          <a:solidFill>
                            <a:srgbClr val="000000"/>
                          </a:solidFill>
                          <a:latin typeface="Calibri"/>
                        </a:rPr>
                        <a:t>EQ</a:t>
                      </a:r>
                    </a:p>
                  </a:txBody>
                  <a:tcPr marL="50800" marR="50800" marT="25400" marB="25400"/>
                </a:tc>
                <a:tc>
                  <a:txBody>
                    <a:bodyPr wrap="square"/>
                    <a:lstStyle/>
                    <a:p>
                      <a:r>
                        <a:rPr b="0" sz="1600" i="0">
                          <a:solidFill>
                            <a:srgbClr val="000000"/>
                          </a:solidFill>
                          <a:latin typeface="Calibri"/>
                        </a:rPr>
                        <a:t>11</a:t>
                      </a:r>
                    </a:p>
                  </a:txBody>
                  <a:tcPr marL="50800" marR="50800" marT="25400" marB="25400"/>
                </a:tc>
                <a:tc>
                  <a:txBody>
                    <a:bodyPr wrap="square"/>
                    <a:lstStyle/>
                    <a:p>
                      <a:r>
                        <a:rPr b="0" sz="1600" i="0">
                          <a:solidFill>
                            <a:srgbClr val="000000"/>
                          </a:solidFill>
                          <a:latin typeface="Calibri"/>
                        </a:rPr>
                        <a:t>41</a:t>
                      </a:r>
                    </a:p>
                  </a:txBody>
                  <a:tcPr marL="50800" marR="50800" marT="25400" marB="25400"/>
                </a:tc>
              </a:tr>
              <a:tr h="431800">
                <a:tc>
                  <a:txBody>
                    <a:bodyPr wrap="square"/>
                    <a:lstStyle/>
                    <a:p>
                      <a:r>
                        <a:rPr b="1" sz="1600" i="0">
                          <a:solidFill>
                            <a:srgbClr val="000000"/>
                          </a:solidFill>
                          <a:latin typeface="Calibri"/>
                        </a:rPr>
                        <a:t>Transactional Total</a:t>
                      </a:r>
                    </a:p>
                  </a:txBody>
                  <a:tcPr marL="50800" marR="50800" marT="25400" marB="25400"/>
                </a:tc>
                <a:tc>
                  <a:txBody>
                    <a:bodyPr wrap="square"/>
                    <a:lstStyle/>
                    <a:p>
                      <a:r>
                        <a:rPr b="1" sz="1600" i="0">
                          <a:solidFill>
                            <a:srgbClr val="000000"/>
                          </a:solidFill>
                          <a:latin typeface="Calibri"/>
                        </a:rPr>
                        <a:t>32</a:t>
                      </a:r>
                    </a:p>
                  </a:txBody>
                  <a:tcPr marL="50800" marR="50800" marT="25400" marB="25400"/>
                </a:tc>
                <a:tc>
                  <a:txBody>
                    <a:bodyPr wrap="square"/>
                    <a:lstStyle/>
                    <a:p>
                      <a:r>
                        <a:rPr b="1" sz="1600" i="0">
                          <a:solidFill>
                            <a:srgbClr val="000000"/>
                          </a:solidFill>
                          <a:latin typeface="Calibri"/>
                        </a:rPr>
                        <a:t>136</a:t>
                      </a:r>
                    </a:p>
                  </a:txBody>
                  <a:tcPr marL="50800" marR="50800" marT="25400" marB="25400"/>
                </a:tc>
              </a:tr>
              <a:tr h="431800">
                <a:tc>
                  <a:txBody>
                    <a:bodyPr wrap="square"/>
                    <a:lstStyle/>
                    <a:p>
                      <a:r>
                        <a:rPr b="0" sz="1600" i="0">
                          <a:solidFill>
                            <a:srgbClr val="000000"/>
                          </a:solidFill>
                          <a:latin typeface="Calibri"/>
                        </a:rPr>
                        <a:t>Data Total (12 ILF + 0 EIF)</a:t>
                      </a:r>
                    </a:p>
                  </a:txBody>
                  <a:tcPr marL="50800" marR="50800" marT="25400" marB="25400"/>
                </a:tc>
                <a:tc>
                  <a:txBody>
                    <a:bodyPr wrap="square"/>
                    <a:lstStyle/>
                    <a:p>
                      <a:r>
                        <a:rPr b="0" sz="1600" i="0">
                          <a:solidFill>
                            <a:srgbClr val="000000"/>
                          </a:solidFill>
                          <a:latin typeface="Calibri"/>
                        </a:rPr>
                        <a:t>12</a:t>
                      </a:r>
                    </a:p>
                  </a:txBody>
                  <a:tcPr marL="50800" marR="50800" marT="25400" marB="25400"/>
                </a:tc>
                <a:tc>
                  <a:txBody>
                    <a:bodyPr wrap="square"/>
                    <a:lstStyle/>
                    <a:p>
                      <a:r>
                        <a:rPr b="0" sz="1600" i="0">
                          <a:solidFill>
                            <a:srgbClr val="000000"/>
                          </a:solidFill>
                          <a:latin typeface="Calibri"/>
                        </a:rPr>
                        <a:t>84</a:t>
                      </a:r>
                    </a:p>
                  </a:txBody>
                  <a:tcPr marL="50800" marR="50800" marT="25400" marB="25400"/>
                </a:tc>
              </a:tr>
              <a:tr h="431800">
                <a:tc>
                  <a:txBody>
                    <a:bodyPr wrap="square"/>
                    <a:lstStyle/>
                    <a:p>
                      <a:r>
                        <a:rPr b="1" sz="1600" i="0">
                          <a:solidFill>
                            <a:srgbClr val="000000"/>
                          </a:solidFill>
                          <a:latin typeface="Calibri"/>
                        </a:rPr>
                        <a:t>Total UFP</a:t>
                      </a:r>
                    </a:p>
                  </a:txBody>
                  <a:tcPr marL="50800" marR="50800" marT="25400" marB="25400"/>
                </a:tc>
                <a:tc>
                  <a:txBody>
                    <a:bodyPr wrap="square"/>
                    <a:lstStyle/>
                    <a:p>
                      <a:r>
                        <a:rPr b="1" sz="1600" i="0">
                          <a:solidFill>
                            <a:srgbClr val="000000"/>
                          </a:solidFill>
                          <a:latin typeface="Calibri"/>
                        </a:rPr>
                        <a:t>44</a:t>
                      </a:r>
                    </a:p>
                  </a:txBody>
                  <a:tcPr marL="50800" marR="50800" marT="25400" marB="25400"/>
                </a:tc>
                <a:tc>
                  <a:txBody>
                    <a:bodyPr wrap="square"/>
                    <a:lstStyle/>
                    <a:p>
                      <a:r>
                        <a:rPr b="1" sz="1600" i="0">
                          <a:solidFill>
                            <a:srgbClr val="000000"/>
                          </a:solidFill>
                          <a:latin typeface="Calibri"/>
                        </a:rPr>
                        <a:t>220</a:t>
                      </a:r>
                    </a:p>
                  </a:txBody>
                  <a:tcPr marL="50800" marR="50800" marT="25400" marB="25400"/>
                </a:tc>
              </a:tr>
            </a:tbl>
          </a:graphicData>
        </a:graphic>
      </p:graphicFrame>
      <p:sp>
        <p:nvSpPr>
          <p:cNvPr id="6" name="TextBox 5"/>
          <p:cNvSpPr txBox="1"/>
          <p:nvPr/>
        </p:nvSpPr>
        <p:spPr>
          <a:xfrm>
            <a:off x="762000" y="4826000"/>
            <a:ext cx="7620000" cy="304800"/>
          </a:xfrm>
          <a:prstGeom prst="rect">
            <a:avLst/>
          </a:prstGeom>
          <a:noFill/>
        </p:spPr>
        <p:txBody>
          <a:bodyPr wrap="square" lIns="0" rIns="0" tIns="0" bIns="0" anchor="t">
            <a:spAutoFit/>
          </a:bodyPr>
          <a:lstStyle/>
          <a:p>
            <a:pPr algn="ctr"/>
            <a:r>
              <a:rPr b="0" sz="1600" i="0">
                <a:solidFill>
                  <a:srgbClr val="000000"/>
                </a:solidFill>
                <a:latin typeface="Times New Roman"/>
              </a:rPr>
              <a:t>Transactional &amp; Data UFP Summary</a:t>
            </a:r>
          </a:p>
        </p:txBody>
      </p:sp>
      <p:sp>
        <p:nvSpPr>
          <p:cNvPr id="7" name="TextBox 6"/>
          <p:cNvSpPr txBox="1"/>
          <p:nvPr/>
        </p:nvSpPr>
        <p:spPr>
          <a:xfrm>
            <a:off x="8382000" y="6578600"/>
            <a:ext cx="635000" cy="228600"/>
          </a:xfrm>
          <a:prstGeom prst="rect">
            <a:avLst/>
          </a:prstGeom>
          <a:noFill/>
        </p:spPr>
        <p:txBody>
          <a:bodyPr wrap="square" lIns="0" rIns="0" tIns="0" bIns="0" anchor="t">
            <a:spAutoFit/>
          </a:bodyPr>
          <a:lstStyle/>
          <a:p>
            <a:pPr algn="r"/>
            <a:r>
              <a:rPr b="0" sz="1200" i="0">
                <a:solidFill>
                  <a:srgbClr val="000000"/>
                </a:solidFill>
                <a:latin typeface="Calibr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ubat.jpeg"/>
          <p:cNvPicPr>
            <a:picLocks noChangeAspect="1"/>
          </p:cNvPicPr>
          <p:nvPr/>
        </p:nvPicPr>
        <p:blipFill>
          <a:blip r:embed="rId2"/>
          <a:stretch>
            <a:fillRect/>
          </a:stretch>
        </p:blipFill>
        <p:spPr>
          <a:xfrm>
            <a:off x="50800" y="88900"/>
            <a:ext cx="609600" cy="533400"/>
          </a:xfrm>
          <a:prstGeom prst="rect">
            <a:avLst/>
          </a:prstGeom>
        </p:spPr>
      </p:pic>
      <p:pic>
        <p:nvPicPr>
          <p:cNvPr id="3" name="Picture 2" descr="cse.jpeg"/>
          <p:cNvPicPr>
            <a:picLocks noChangeAspect="1"/>
          </p:cNvPicPr>
          <p:nvPr/>
        </p:nvPicPr>
        <p:blipFill>
          <a:blip r:embed="rId3"/>
          <a:stretch>
            <a:fillRect/>
          </a:stretch>
        </p:blipFill>
        <p:spPr>
          <a:xfrm>
            <a:off x="8534400" y="127000"/>
            <a:ext cx="457200" cy="469900"/>
          </a:xfrm>
          <a:prstGeom prst="rect">
            <a:avLst/>
          </a:prstGeom>
        </p:spPr>
      </p:pic>
      <p:sp>
        <p:nvSpPr>
          <p:cNvPr id="4" name="TextBox 3"/>
          <p:cNvSpPr txBox="1"/>
          <p:nvPr/>
        </p:nvSpPr>
        <p:spPr>
          <a:xfrm>
            <a:off x="762000" y="152400"/>
            <a:ext cx="7620000" cy="558800"/>
          </a:xfrm>
          <a:prstGeom prst="rect">
            <a:avLst/>
          </a:prstGeom>
          <a:noFill/>
        </p:spPr>
        <p:txBody>
          <a:bodyPr wrap="square" lIns="0" rIns="0" tIns="0" bIns="0" anchor="ctr">
            <a:spAutoFit/>
          </a:bodyPr>
          <a:lstStyle/>
          <a:p>
            <a:pPr algn="ctr"/>
            <a:r>
              <a:rPr b="1" sz="3000" i="0">
                <a:solidFill>
                  <a:srgbClr val="000000"/>
                </a:solidFill>
                <a:latin typeface="Times New Roman"/>
              </a:rPr>
              <a:t>System Planning</a:t>
            </a:r>
          </a:p>
        </p:txBody>
      </p:sp>
      <p:graphicFrame>
        <p:nvGraphicFramePr>
          <p:cNvPr id="5" name="Table 4"/>
          <p:cNvGraphicFramePr>
            <a:graphicFrameLocks noGrp="1"/>
          </p:cNvGraphicFramePr>
          <p:nvPr/>
        </p:nvGraphicFramePr>
        <p:xfrm>
          <a:off x="1778000" y="787400"/>
          <a:ext cx="5587999" cy="5080000"/>
        </p:xfrm>
        <a:graphic>
          <a:graphicData uri="http://schemas.openxmlformats.org/drawingml/2006/table">
            <a:tbl>
              <a:tblPr firstRow="0" bandRow="0">
                <a:tableStyleId>{5940675A-B579-460E-94D1-54222C63F5DA}</a:tableStyleId>
              </a:tblPr>
              <a:tblGrid>
                <a:gridCol w="4656666"/>
                <a:gridCol w="931333"/>
              </a:tblGrid>
              <a:tr h="317500">
                <a:tc>
                  <a:txBody>
                    <a:bodyPr wrap="square"/>
                    <a:lstStyle/>
                    <a:p>
                      <a:r>
                        <a:rPr b="1" sz="1100" i="0">
                          <a:solidFill>
                            <a:srgbClr val="000000"/>
                          </a:solidFill>
                          <a:latin typeface="Calibri"/>
                        </a:rPr>
                        <a:t>General System Characteristic</a:t>
                      </a:r>
                    </a:p>
                  </a:txBody>
                  <a:tcPr marL="50800" marR="50800" marT="25400" marB="25400">
                    <a:solidFill>
                      <a:srgbClr val="D9D9D9"/>
                    </a:solidFill>
                  </a:tcPr>
                </a:tc>
                <a:tc>
                  <a:txBody>
                    <a:bodyPr wrap="square"/>
                    <a:lstStyle/>
                    <a:p>
                      <a:r>
                        <a:rPr b="1" sz="1100" i="0">
                          <a:solidFill>
                            <a:srgbClr val="000000"/>
                          </a:solidFill>
                          <a:latin typeface="Calibri"/>
                        </a:rPr>
                        <a:t>DI</a:t>
                      </a:r>
                    </a:p>
                  </a:txBody>
                  <a:tcPr marL="50800" marR="50800" marT="25400" marB="25400">
                    <a:solidFill>
                      <a:srgbClr val="D9D9D9"/>
                    </a:solidFill>
                  </a:tcPr>
                </a:tc>
              </a:tr>
              <a:tr h="317500">
                <a:tc>
                  <a:txBody>
                    <a:bodyPr wrap="square"/>
                    <a:lstStyle/>
                    <a:p>
                      <a:r>
                        <a:rPr b="0" sz="1100" i="0">
                          <a:solidFill>
                            <a:srgbClr val="000000"/>
                          </a:solidFill>
                          <a:latin typeface="Calibri"/>
                        </a:rPr>
                        <a:t>1. Data Communications</a:t>
                      </a:r>
                    </a:p>
                  </a:txBody>
                  <a:tcPr marL="50800" marR="50800" marT="25400" marB="25400"/>
                </a:tc>
                <a:tc>
                  <a:txBody>
                    <a:bodyPr wrap="square"/>
                    <a:lstStyle/>
                    <a:p>
                      <a:r>
                        <a:rPr b="0" sz="1100" i="0">
                          <a:solidFill>
                            <a:srgbClr val="000000"/>
                          </a:solidFill>
                          <a:latin typeface="Calibri"/>
                        </a:rPr>
                        <a:t>4</a:t>
                      </a:r>
                    </a:p>
                  </a:txBody>
                  <a:tcPr marL="50800" marR="50800" marT="25400" marB="25400"/>
                </a:tc>
              </a:tr>
              <a:tr h="317500">
                <a:tc>
                  <a:txBody>
                    <a:bodyPr wrap="square"/>
                    <a:lstStyle/>
                    <a:p>
                      <a:r>
                        <a:rPr b="0" sz="1100" i="0">
                          <a:solidFill>
                            <a:srgbClr val="000000"/>
                          </a:solidFill>
                          <a:latin typeface="Calibri"/>
                        </a:rPr>
                        <a:t>2. Distributed Data Processing</a:t>
                      </a:r>
                    </a:p>
                  </a:txBody>
                  <a:tcPr marL="50800" marR="50800" marT="25400" marB="25400"/>
                </a:tc>
                <a:tc>
                  <a:txBody>
                    <a:bodyPr wrap="square"/>
                    <a:lstStyle/>
                    <a:p>
                      <a:r>
                        <a:rPr b="0" sz="1100" i="0">
                          <a:solidFill>
                            <a:srgbClr val="000000"/>
                          </a:solidFill>
                          <a:latin typeface="Calibri"/>
                        </a:rPr>
                        <a:t>2</a:t>
                      </a:r>
                    </a:p>
                  </a:txBody>
                  <a:tcPr marL="50800" marR="50800" marT="25400" marB="25400"/>
                </a:tc>
              </a:tr>
              <a:tr h="317500">
                <a:tc>
                  <a:txBody>
                    <a:bodyPr wrap="square"/>
                    <a:lstStyle/>
                    <a:p>
                      <a:r>
                        <a:rPr b="0" sz="1100" i="0">
                          <a:solidFill>
                            <a:srgbClr val="000000"/>
                          </a:solidFill>
                          <a:latin typeface="Calibri"/>
                        </a:rPr>
                        <a:t>3. Performance</a:t>
                      </a:r>
                    </a:p>
                  </a:txBody>
                  <a:tcPr marL="50800" marR="50800" marT="25400" marB="25400"/>
                </a:tc>
                <a:tc>
                  <a:txBody>
                    <a:bodyPr wrap="square"/>
                    <a:lstStyle/>
                    <a:p>
                      <a:r>
                        <a:rPr b="0" sz="1100" i="0">
                          <a:solidFill>
                            <a:srgbClr val="000000"/>
                          </a:solidFill>
                          <a:latin typeface="Calibri"/>
                        </a:rPr>
                        <a:t>3</a:t>
                      </a:r>
                    </a:p>
                  </a:txBody>
                  <a:tcPr marL="50800" marR="50800" marT="25400" marB="25400"/>
                </a:tc>
              </a:tr>
              <a:tr h="317500">
                <a:tc>
                  <a:txBody>
                    <a:bodyPr wrap="square"/>
                    <a:lstStyle/>
                    <a:p>
                      <a:r>
                        <a:rPr b="0" sz="1100" i="0">
                          <a:solidFill>
                            <a:srgbClr val="000000"/>
                          </a:solidFill>
                          <a:latin typeface="Calibri"/>
                        </a:rPr>
                        <a:t>4. Heavily Used Configuration</a:t>
                      </a:r>
                    </a:p>
                  </a:txBody>
                  <a:tcPr marL="50800" marR="50800" marT="25400" marB="25400"/>
                </a:tc>
                <a:tc>
                  <a:txBody>
                    <a:bodyPr wrap="square"/>
                    <a:lstStyle/>
                    <a:p>
                      <a:r>
                        <a:rPr b="0" sz="1100" i="0">
                          <a:solidFill>
                            <a:srgbClr val="000000"/>
                          </a:solidFill>
                          <a:latin typeface="Calibri"/>
                        </a:rPr>
                        <a:t>0</a:t>
                      </a:r>
                    </a:p>
                  </a:txBody>
                  <a:tcPr marL="50800" marR="50800" marT="25400" marB="25400"/>
                </a:tc>
              </a:tr>
              <a:tr h="317500">
                <a:tc>
                  <a:txBody>
                    <a:bodyPr wrap="square"/>
                    <a:lstStyle/>
                    <a:p>
                      <a:r>
                        <a:rPr b="0" sz="1100" i="0">
                          <a:solidFill>
                            <a:srgbClr val="000000"/>
                          </a:solidFill>
                          <a:latin typeface="Calibri"/>
                        </a:rPr>
                        <a:t>5. Transaction Rate</a:t>
                      </a:r>
                    </a:p>
                  </a:txBody>
                  <a:tcPr marL="50800" marR="50800" marT="25400" marB="25400"/>
                </a:tc>
                <a:tc>
                  <a:txBody>
                    <a:bodyPr wrap="square"/>
                    <a:lstStyle/>
                    <a:p>
                      <a:r>
                        <a:rPr b="0" sz="1100" i="0">
                          <a:solidFill>
                            <a:srgbClr val="000000"/>
                          </a:solidFill>
                          <a:latin typeface="Calibri"/>
                        </a:rPr>
                        <a:t>2</a:t>
                      </a:r>
                    </a:p>
                  </a:txBody>
                  <a:tcPr marL="50800" marR="50800" marT="25400" marB="25400"/>
                </a:tc>
              </a:tr>
              <a:tr h="317500">
                <a:tc>
                  <a:txBody>
                    <a:bodyPr wrap="square"/>
                    <a:lstStyle/>
                    <a:p>
                      <a:r>
                        <a:rPr b="0" sz="1100" i="0">
                          <a:solidFill>
                            <a:srgbClr val="000000"/>
                          </a:solidFill>
                          <a:latin typeface="Calibri"/>
                        </a:rPr>
                        <a:t>6. Online Data Entry</a:t>
                      </a:r>
                    </a:p>
                  </a:txBody>
                  <a:tcPr marL="50800" marR="50800" marT="25400" marB="25400"/>
                </a:tc>
                <a:tc>
                  <a:txBody>
                    <a:bodyPr wrap="square"/>
                    <a:lstStyle/>
                    <a:p>
                      <a:r>
                        <a:rPr b="0" sz="1100" i="0">
                          <a:solidFill>
                            <a:srgbClr val="000000"/>
                          </a:solidFill>
                          <a:latin typeface="Calibri"/>
                        </a:rPr>
                        <a:t>5</a:t>
                      </a:r>
                    </a:p>
                  </a:txBody>
                  <a:tcPr marL="50800" marR="50800" marT="25400" marB="25400"/>
                </a:tc>
              </a:tr>
              <a:tr h="317500">
                <a:tc>
                  <a:txBody>
                    <a:bodyPr wrap="square"/>
                    <a:lstStyle/>
                    <a:p>
                      <a:r>
                        <a:rPr b="0" sz="1100" i="0">
                          <a:solidFill>
                            <a:srgbClr val="000000"/>
                          </a:solidFill>
                          <a:latin typeface="Calibri"/>
                        </a:rPr>
                        <a:t>7. End-User Efficiency</a:t>
                      </a:r>
                    </a:p>
                  </a:txBody>
                  <a:tcPr marL="50800" marR="50800" marT="25400" marB="25400"/>
                </a:tc>
                <a:tc>
                  <a:txBody>
                    <a:bodyPr wrap="square"/>
                    <a:lstStyle/>
                    <a:p>
                      <a:r>
                        <a:rPr b="0" sz="1100" i="0">
                          <a:solidFill>
                            <a:srgbClr val="000000"/>
                          </a:solidFill>
                          <a:latin typeface="Calibri"/>
                        </a:rPr>
                        <a:t>4</a:t>
                      </a:r>
                    </a:p>
                  </a:txBody>
                  <a:tcPr marL="50800" marR="50800" marT="25400" marB="25400"/>
                </a:tc>
              </a:tr>
              <a:tr h="317500">
                <a:tc>
                  <a:txBody>
                    <a:bodyPr wrap="square"/>
                    <a:lstStyle/>
                    <a:p>
                      <a:r>
                        <a:rPr b="0" sz="1100" i="0">
                          <a:solidFill>
                            <a:srgbClr val="000000"/>
                          </a:solidFill>
                          <a:latin typeface="Calibri"/>
                        </a:rPr>
                        <a:t>8. Online Update</a:t>
                      </a:r>
                    </a:p>
                  </a:txBody>
                  <a:tcPr marL="50800" marR="50800" marT="25400" marB="25400"/>
                </a:tc>
                <a:tc>
                  <a:txBody>
                    <a:bodyPr wrap="square"/>
                    <a:lstStyle/>
                    <a:p>
                      <a:r>
                        <a:rPr b="0" sz="1100" i="0">
                          <a:solidFill>
                            <a:srgbClr val="000000"/>
                          </a:solidFill>
                          <a:latin typeface="Calibri"/>
                        </a:rPr>
                        <a:t>4</a:t>
                      </a:r>
                    </a:p>
                  </a:txBody>
                  <a:tcPr marL="50800" marR="50800" marT="25400" marB="25400"/>
                </a:tc>
              </a:tr>
              <a:tr h="317500">
                <a:tc>
                  <a:txBody>
                    <a:bodyPr wrap="square"/>
                    <a:lstStyle/>
                    <a:p>
                      <a:r>
                        <a:rPr b="0" sz="1100" i="0">
                          <a:solidFill>
                            <a:srgbClr val="000000"/>
                          </a:solidFill>
                          <a:latin typeface="Calibri"/>
                        </a:rPr>
                        <a:t>9. Complex Processing</a:t>
                      </a:r>
                    </a:p>
                  </a:txBody>
                  <a:tcPr marL="50800" marR="50800" marT="25400" marB="25400"/>
                </a:tc>
                <a:tc>
                  <a:txBody>
                    <a:bodyPr wrap="square"/>
                    <a:lstStyle/>
                    <a:p>
                      <a:r>
                        <a:rPr b="0" sz="1100" i="0">
                          <a:solidFill>
                            <a:srgbClr val="000000"/>
                          </a:solidFill>
                          <a:latin typeface="Calibri"/>
                        </a:rPr>
                        <a:t>4</a:t>
                      </a:r>
                    </a:p>
                  </a:txBody>
                  <a:tcPr marL="50800" marR="50800" marT="25400" marB="25400"/>
                </a:tc>
              </a:tr>
              <a:tr h="317500">
                <a:tc>
                  <a:txBody>
                    <a:bodyPr wrap="square"/>
                    <a:lstStyle/>
                    <a:p>
                      <a:r>
                        <a:rPr b="0" sz="1100" i="0">
                          <a:solidFill>
                            <a:srgbClr val="000000"/>
                          </a:solidFill>
                          <a:latin typeface="Calibri"/>
                        </a:rPr>
                        <a:t>10. Reusability</a:t>
                      </a:r>
                    </a:p>
                  </a:txBody>
                  <a:tcPr marL="50800" marR="50800" marT="25400" marB="25400"/>
                </a:tc>
                <a:tc>
                  <a:txBody>
                    <a:bodyPr wrap="square"/>
                    <a:lstStyle/>
                    <a:p>
                      <a:r>
                        <a:rPr b="0" sz="1100" i="0">
                          <a:solidFill>
                            <a:srgbClr val="000000"/>
                          </a:solidFill>
                          <a:latin typeface="Calibri"/>
                        </a:rPr>
                        <a:t>3</a:t>
                      </a:r>
                    </a:p>
                  </a:txBody>
                  <a:tcPr marL="50800" marR="50800" marT="25400" marB="25400"/>
                </a:tc>
              </a:tr>
              <a:tr h="317500">
                <a:tc>
                  <a:txBody>
                    <a:bodyPr wrap="square"/>
                    <a:lstStyle/>
                    <a:p>
                      <a:r>
                        <a:rPr b="0" sz="1100" i="0">
                          <a:solidFill>
                            <a:srgbClr val="000000"/>
                          </a:solidFill>
                          <a:latin typeface="Calibri"/>
                        </a:rPr>
                        <a:t>11. Installation Ease</a:t>
                      </a:r>
                    </a:p>
                  </a:txBody>
                  <a:tcPr marL="50800" marR="50800" marT="25400" marB="25400"/>
                </a:tc>
                <a:tc>
                  <a:txBody>
                    <a:bodyPr wrap="square"/>
                    <a:lstStyle/>
                    <a:p>
                      <a:r>
                        <a:rPr b="0" sz="1100" i="0">
                          <a:solidFill>
                            <a:srgbClr val="000000"/>
                          </a:solidFill>
                          <a:latin typeface="Calibri"/>
                        </a:rPr>
                        <a:t>1</a:t>
                      </a:r>
                    </a:p>
                  </a:txBody>
                  <a:tcPr marL="50800" marR="50800" marT="25400" marB="25400"/>
                </a:tc>
              </a:tr>
              <a:tr h="317500">
                <a:tc>
                  <a:txBody>
                    <a:bodyPr wrap="square"/>
                    <a:lstStyle/>
                    <a:p>
                      <a:r>
                        <a:rPr b="0" sz="1100" i="0">
                          <a:solidFill>
                            <a:srgbClr val="000000"/>
                          </a:solidFill>
                          <a:latin typeface="Calibri"/>
                        </a:rPr>
                        <a:t>12. Operational Ease</a:t>
                      </a:r>
                    </a:p>
                  </a:txBody>
                  <a:tcPr marL="50800" marR="50800" marT="25400" marB="25400"/>
                </a:tc>
                <a:tc>
                  <a:txBody>
                    <a:bodyPr wrap="square"/>
                    <a:lstStyle/>
                    <a:p>
                      <a:r>
                        <a:rPr b="0" sz="1100" i="0">
                          <a:solidFill>
                            <a:srgbClr val="000000"/>
                          </a:solidFill>
                          <a:latin typeface="Calibri"/>
                        </a:rPr>
                        <a:t>3</a:t>
                      </a:r>
                    </a:p>
                  </a:txBody>
                  <a:tcPr marL="50800" marR="50800" marT="25400" marB="25400"/>
                </a:tc>
              </a:tr>
              <a:tr h="317500">
                <a:tc>
                  <a:txBody>
                    <a:bodyPr wrap="square"/>
                    <a:lstStyle/>
                    <a:p>
                      <a:r>
                        <a:rPr b="0" sz="1100" i="0">
                          <a:solidFill>
                            <a:srgbClr val="000000"/>
                          </a:solidFill>
                          <a:latin typeface="Calibri"/>
                        </a:rPr>
                        <a:t>13. Multiple Sites</a:t>
                      </a:r>
                    </a:p>
                  </a:txBody>
                  <a:tcPr marL="50800" marR="50800" marT="25400" marB="25400"/>
                </a:tc>
                <a:tc>
                  <a:txBody>
                    <a:bodyPr wrap="square"/>
                    <a:lstStyle/>
                    <a:p>
                      <a:r>
                        <a:rPr b="0" sz="1100" i="0">
                          <a:solidFill>
                            <a:srgbClr val="000000"/>
                          </a:solidFill>
                          <a:latin typeface="Calibri"/>
                        </a:rPr>
                        <a:t>3</a:t>
                      </a:r>
                    </a:p>
                  </a:txBody>
                  <a:tcPr marL="50800" marR="50800" marT="25400" marB="25400"/>
                </a:tc>
              </a:tr>
              <a:tr h="317500">
                <a:tc>
                  <a:txBody>
                    <a:bodyPr wrap="square"/>
                    <a:lstStyle/>
                    <a:p>
                      <a:r>
                        <a:rPr b="0" sz="1100" i="0">
                          <a:solidFill>
                            <a:srgbClr val="000000"/>
                          </a:solidFill>
                          <a:latin typeface="Calibri"/>
                        </a:rPr>
                        <a:t>14. Facilitate Change</a:t>
                      </a:r>
                    </a:p>
                  </a:txBody>
                  <a:tcPr marL="50800" marR="50800" marT="25400" marB="25400"/>
                </a:tc>
                <a:tc>
                  <a:txBody>
                    <a:bodyPr wrap="square"/>
                    <a:lstStyle/>
                    <a:p>
                      <a:r>
                        <a:rPr b="0" sz="1100" i="0">
                          <a:solidFill>
                            <a:srgbClr val="000000"/>
                          </a:solidFill>
                          <a:latin typeface="Calibri"/>
                        </a:rPr>
                        <a:t>3</a:t>
                      </a:r>
                    </a:p>
                  </a:txBody>
                  <a:tcPr marL="50800" marR="50800" marT="25400" marB="25400"/>
                </a:tc>
              </a:tr>
              <a:tr h="317500">
                <a:tc>
                  <a:txBody>
                    <a:bodyPr wrap="square"/>
                    <a:lstStyle/>
                    <a:p>
                      <a:r>
                        <a:rPr b="1" sz="1100" i="0">
                          <a:solidFill>
                            <a:srgbClr val="000000"/>
                          </a:solidFill>
                          <a:latin typeface="Calibri"/>
                        </a:rPr>
                        <a:t>Total Degree of Influence (TDI)</a:t>
                      </a:r>
                    </a:p>
                  </a:txBody>
                  <a:tcPr marL="50800" marR="50800" marT="25400" marB="25400"/>
                </a:tc>
                <a:tc>
                  <a:txBody>
                    <a:bodyPr wrap="square"/>
                    <a:lstStyle/>
                    <a:p>
                      <a:r>
                        <a:rPr b="1" sz="1100" i="0">
                          <a:solidFill>
                            <a:srgbClr val="000000"/>
                          </a:solidFill>
                          <a:latin typeface="Calibri"/>
                        </a:rPr>
                        <a:t>41</a:t>
                      </a:r>
                    </a:p>
                  </a:txBody>
                  <a:tcPr marL="50800" marR="50800" marT="25400" marB="25400"/>
                </a:tc>
              </a:tr>
            </a:tbl>
          </a:graphicData>
        </a:graphic>
      </p:graphicFrame>
      <p:sp>
        <p:nvSpPr>
          <p:cNvPr id="6" name="TextBox 5"/>
          <p:cNvSpPr txBox="1"/>
          <p:nvPr/>
        </p:nvSpPr>
        <p:spPr>
          <a:xfrm>
            <a:off x="762000" y="5969000"/>
            <a:ext cx="7620000" cy="304800"/>
          </a:xfrm>
          <a:prstGeom prst="rect">
            <a:avLst/>
          </a:prstGeom>
          <a:noFill/>
        </p:spPr>
        <p:txBody>
          <a:bodyPr wrap="square" lIns="0" rIns="0" tIns="0" bIns="0" anchor="t">
            <a:spAutoFit/>
          </a:bodyPr>
          <a:lstStyle/>
          <a:p>
            <a:pPr algn="ctr"/>
            <a:r>
              <a:rPr b="0" sz="1400" i="0">
                <a:solidFill>
                  <a:srgbClr val="000000"/>
                </a:solidFill>
                <a:latin typeface="Times New Roman"/>
              </a:rPr>
              <a:t>General System Characteristics (GSC) Rating</a:t>
            </a:r>
          </a:p>
        </p:txBody>
      </p:sp>
      <p:sp>
        <p:nvSpPr>
          <p:cNvPr id="7" name="TextBox 6"/>
          <p:cNvSpPr txBox="1"/>
          <p:nvPr/>
        </p:nvSpPr>
        <p:spPr>
          <a:xfrm>
            <a:off x="8382000" y="6578600"/>
            <a:ext cx="635000" cy="228600"/>
          </a:xfrm>
          <a:prstGeom prst="rect">
            <a:avLst/>
          </a:prstGeom>
          <a:noFill/>
        </p:spPr>
        <p:txBody>
          <a:bodyPr wrap="square" lIns="0" rIns="0" tIns="0" bIns="0" anchor="t">
            <a:spAutoFit/>
          </a:bodyPr>
          <a:lstStyle/>
          <a:p>
            <a:pPr algn="r"/>
            <a:r>
              <a:rPr b="0" sz="1200" i="0">
                <a:solidFill>
                  <a:srgbClr val="000000"/>
                </a:solidFill>
                <a:latin typeface="Calibr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ubat.jpeg"/>
          <p:cNvPicPr>
            <a:picLocks noChangeAspect="1"/>
          </p:cNvPicPr>
          <p:nvPr/>
        </p:nvPicPr>
        <p:blipFill>
          <a:blip r:embed="rId2"/>
          <a:stretch>
            <a:fillRect/>
          </a:stretch>
        </p:blipFill>
        <p:spPr>
          <a:xfrm>
            <a:off x="50800" y="88900"/>
            <a:ext cx="609600" cy="533400"/>
          </a:xfrm>
          <a:prstGeom prst="rect">
            <a:avLst/>
          </a:prstGeom>
        </p:spPr>
      </p:pic>
      <p:pic>
        <p:nvPicPr>
          <p:cNvPr id="3" name="Picture 2" descr="cse.jpeg"/>
          <p:cNvPicPr>
            <a:picLocks noChangeAspect="1"/>
          </p:cNvPicPr>
          <p:nvPr/>
        </p:nvPicPr>
        <p:blipFill>
          <a:blip r:embed="rId3"/>
          <a:stretch>
            <a:fillRect/>
          </a:stretch>
        </p:blipFill>
        <p:spPr>
          <a:xfrm>
            <a:off x="8534400" y="127000"/>
            <a:ext cx="457200" cy="469900"/>
          </a:xfrm>
          <a:prstGeom prst="rect">
            <a:avLst/>
          </a:prstGeom>
        </p:spPr>
      </p:pic>
      <p:sp>
        <p:nvSpPr>
          <p:cNvPr id="4" name="TextBox 3"/>
          <p:cNvSpPr txBox="1"/>
          <p:nvPr/>
        </p:nvSpPr>
        <p:spPr>
          <a:xfrm>
            <a:off x="762000" y="152400"/>
            <a:ext cx="7620000" cy="558800"/>
          </a:xfrm>
          <a:prstGeom prst="rect">
            <a:avLst/>
          </a:prstGeom>
          <a:noFill/>
        </p:spPr>
        <p:txBody>
          <a:bodyPr wrap="square" lIns="0" rIns="0" tIns="0" bIns="0" anchor="ctr">
            <a:spAutoFit/>
          </a:bodyPr>
          <a:lstStyle/>
          <a:p>
            <a:pPr algn="ctr"/>
            <a:r>
              <a:rPr b="1" sz="3000" i="0">
                <a:solidFill>
                  <a:srgbClr val="000000"/>
                </a:solidFill>
                <a:latin typeface="Times New Roman"/>
              </a:rPr>
              <a:t>System Planning</a:t>
            </a:r>
          </a:p>
        </p:txBody>
      </p:sp>
      <p:sp>
        <p:nvSpPr>
          <p:cNvPr id="5" name="TextBox 4"/>
          <p:cNvSpPr txBox="1"/>
          <p:nvPr/>
        </p:nvSpPr>
        <p:spPr>
          <a:xfrm>
            <a:off x="635000" y="889000"/>
            <a:ext cx="7874000" cy="5588000"/>
          </a:xfrm>
          <a:prstGeom prst="rect">
            <a:avLst/>
          </a:prstGeom>
          <a:noFill/>
        </p:spPr>
        <p:txBody>
          <a:bodyPr wrap="square">
            <a:spAutoFit/>
          </a:bodyPr>
          <a:lstStyle/>
          <a:p>
            <a:pPr algn="l">
              <a:spcAft>
                <a:spcPts val="500"/>
              </a:spcAft>
            </a:pPr>
            <a:r>
              <a:rPr b="0" sz="1600" i="0">
                <a:solidFill>
                  <a:srgbClr val="000000"/>
                </a:solidFill>
                <a:latin typeface="Times New Roman"/>
              </a:rPr>
              <a:t>• </a:t>
            </a:r>
            <a:r>
              <a:rPr b="1" sz="1600" i="0">
                <a:solidFill>
                  <a:srgbClr val="000000"/>
                </a:solidFill>
                <a:latin typeface="Times New Roman"/>
              </a:rPr>
              <a:t>The Value Adjustment Factor (VAF) is calculated as:</a:t>
            </a:r>
          </a:p>
          <a:p>
            <a:pPr algn="ctr">
              <a:spcAft>
                <a:spcPts val="500"/>
              </a:spcAft>
            </a:pPr>
            <a:r>
              <a:rPr b="0" sz="1600" i="0">
                <a:solidFill>
                  <a:srgbClr val="000000"/>
                </a:solidFill>
                <a:latin typeface="Times New Roman"/>
              </a:rPr>
              <a:t>VAF = 0.65 + (0.01 × TDI)</a:t>
            </a:r>
          </a:p>
          <a:p>
            <a:pPr algn="ctr">
              <a:spcAft>
                <a:spcPts val="500"/>
              </a:spcAft>
            </a:pPr>
            <a:r>
              <a:rPr b="0" sz="1600" i="0">
                <a:solidFill>
                  <a:srgbClr val="000000"/>
                </a:solidFill>
                <a:latin typeface="Times New Roman"/>
              </a:rPr>
              <a:t>VAF = 0.65 + (0.01 × 41) = 1.06</a:t>
            </a:r>
          </a:p>
          <a:p>
            <a:pPr algn="l">
              <a:spcAft>
                <a:spcPts val="500"/>
              </a:spcAft>
            </a:pPr>
            <a:r>
              <a:rPr b="0" sz="1600" i="0">
                <a:solidFill>
                  <a:srgbClr val="000000"/>
                </a:solidFill>
                <a:latin typeface="Times New Roman"/>
              </a:rPr>
              <a:t>• </a:t>
            </a:r>
            <a:r>
              <a:rPr b="1" sz="1600" i="0">
                <a:solidFill>
                  <a:srgbClr val="000000"/>
                </a:solidFill>
                <a:latin typeface="Times New Roman"/>
              </a:rPr>
              <a:t>The Unadjusted Function Point (UFP) is:</a:t>
            </a:r>
          </a:p>
          <a:p>
            <a:pPr algn="ctr">
              <a:spcAft>
                <a:spcPts val="500"/>
              </a:spcAft>
            </a:pPr>
            <a:r>
              <a:rPr b="0" sz="1600" i="0">
                <a:solidFill>
                  <a:srgbClr val="000000"/>
                </a:solidFill>
                <a:latin typeface="Times New Roman"/>
              </a:rPr>
              <a:t>UFP = UFP (TF) + UFP (DF)</a:t>
            </a:r>
          </a:p>
          <a:p>
            <a:pPr algn="ctr">
              <a:spcAft>
                <a:spcPts val="500"/>
              </a:spcAft>
            </a:pPr>
            <a:r>
              <a:rPr b="0" sz="1600" i="0">
                <a:solidFill>
                  <a:srgbClr val="000000"/>
                </a:solidFill>
                <a:latin typeface="Times New Roman"/>
              </a:rPr>
              <a:t>UFP = 136 + 84 = 220</a:t>
            </a:r>
          </a:p>
          <a:p>
            <a:pPr algn="l">
              <a:spcAft>
                <a:spcPts val="500"/>
              </a:spcAft>
            </a:pPr>
            <a:r>
              <a:rPr b="0" sz="1600" i="0">
                <a:solidFill>
                  <a:srgbClr val="000000"/>
                </a:solidFill>
                <a:latin typeface="Times New Roman"/>
              </a:rPr>
              <a:t>• </a:t>
            </a:r>
            <a:r>
              <a:rPr b="1" sz="1600" i="0">
                <a:solidFill>
                  <a:srgbClr val="000000"/>
                </a:solidFill>
                <a:latin typeface="Times New Roman"/>
              </a:rPr>
              <a:t>The Adjusted Function Point count (AFP) is:</a:t>
            </a:r>
          </a:p>
          <a:p>
            <a:pPr algn="ctr">
              <a:spcAft>
                <a:spcPts val="500"/>
              </a:spcAft>
            </a:pPr>
            <a:r>
              <a:rPr b="0" sz="1600" i="0">
                <a:solidFill>
                  <a:srgbClr val="000000"/>
                </a:solidFill>
                <a:latin typeface="Times New Roman"/>
              </a:rPr>
              <a:t>AFP = UFP × VAF</a:t>
            </a:r>
          </a:p>
          <a:p>
            <a:pPr algn="ctr">
              <a:spcAft>
                <a:spcPts val="500"/>
              </a:spcAft>
            </a:pPr>
            <a:r>
              <a:rPr b="0" sz="1600" i="0">
                <a:solidFill>
                  <a:srgbClr val="000000"/>
                </a:solidFill>
                <a:latin typeface="Times New Roman"/>
              </a:rPr>
              <a:t>AFP = 220 × 1.06 = 233.2 FP</a:t>
            </a:r>
          </a:p>
          <a:p>
            <a:pPr algn="l">
              <a:spcAft>
                <a:spcPts val="500"/>
              </a:spcAft>
            </a:pPr>
            <a:r>
              <a:rPr b="0" sz="1600" i="0">
                <a:solidFill>
                  <a:srgbClr val="000000"/>
                </a:solidFill>
                <a:latin typeface="Times New Roman"/>
              </a:rPr>
              <a:t>• </a:t>
            </a:r>
            <a:r>
              <a:rPr b="1" sz="1600" i="0">
                <a:solidFill>
                  <a:srgbClr val="000000"/>
                </a:solidFill>
                <a:latin typeface="Times New Roman"/>
              </a:rPr>
              <a:t>Effort of project (actual schedule, 1 developer):</a:t>
            </a:r>
          </a:p>
          <a:p>
            <a:pPr algn="ctr">
              <a:spcAft>
                <a:spcPts val="500"/>
              </a:spcAft>
            </a:pPr>
            <a:r>
              <a:rPr b="0" sz="1600" i="0">
                <a:solidFill>
                  <a:srgbClr val="000000"/>
                </a:solidFill>
                <a:latin typeface="Times New Roman"/>
              </a:rPr>
              <a:t>Effort = 1 × 3 months × 22 days × 8 h = 528 person-hours</a:t>
            </a:r>
          </a:p>
          <a:p>
            <a:pPr algn="ctr">
              <a:spcAft>
                <a:spcPts val="500"/>
              </a:spcAft>
            </a:pPr>
            <a:r>
              <a:rPr b="0" sz="1600" i="0">
                <a:solidFill>
                  <a:srgbClr val="000000"/>
                </a:solidFill>
                <a:latin typeface="Times New Roman"/>
              </a:rPr>
              <a:t>Observed productivity = 528 / 233.2 ≈ 2.26 hours per FP</a:t>
            </a:r>
          </a:p>
          <a:p>
            <a:pPr algn="ctr">
              <a:spcAft>
                <a:spcPts val="500"/>
              </a:spcAft>
            </a:pPr>
            <a:r>
              <a:rPr b="0" sz="1600" i="0">
                <a:solidFill>
                  <a:srgbClr val="000000"/>
                </a:solidFill>
                <a:latin typeface="Times New Roman"/>
              </a:rPr>
              <a:t>= 66 person-days ≈ 3 person-months for one person</a:t>
            </a:r>
          </a:p>
        </p:txBody>
      </p:sp>
      <p:sp>
        <p:nvSpPr>
          <p:cNvPr id="6" name="TextBox 5"/>
          <p:cNvSpPr txBox="1"/>
          <p:nvPr/>
        </p:nvSpPr>
        <p:spPr>
          <a:xfrm>
            <a:off x="8382000" y="6578600"/>
            <a:ext cx="635000" cy="228600"/>
          </a:xfrm>
          <a:prstGeom prst="rect">
            <a:avLst/>
          </a:prstGeom>
          <a:noFill/>
        </p:spPr>
        <p:txBody>
          <a:bodyPr wrap="square" lIns="0" rIns="0" tIns="0" bIns="0" anchor="t">
            <a:spAutoFit/>
          </a:bodyPr>
          <a:lstStyle/>
          <a:p>
            <a:pPr algn="r"/>
            <a:r>
              <a:rPr b="0" sz="1200" i="0">
                <a:solidFill>
                  <a:srgbClr val="000000"/>
                </a:solidFill>
                <a:latin typeface="Calibr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ubat.jpeg"/>
          <p:cNvPicPr>
            <a:picLocks noChangeAspect="1"/>
          </p:cNvPicPr>
          <p:nvPr/>
        </p:nvPicPr>
        <p:blipFill>
          <a:blip r:embed="rId2"/>
          <a:stretch>
            <a:fillRect/>
          </a:stretch>
        </p:blipFill>
        <p:spPr>
          <a:xfrm>
            <a:off x="50800" y="88900"/>
            <a:ext cx="609600" cy="533400"/>
          </a:xfrm>
          <a:prstGeom prst="rect">
            <a:avLst/>
          </a:prstGeom>
        </p:spPr>
      </p:pic>
      <p:pic>
        <p:nvPicPr>
          <p:cNvPr id="3" name="Picture 2" descr="cse.jpeg"/>
          <p:cNvPicPr>
            <a:picLocks noChangeAspect="1"/>
          </p:cNvPicPr>
          <p:nvPr/>
        </p:nvPicPr>
        <p:blipFill>
          <a:blip r:embed="rId3"/>
          <a:stretch>
            <a:fillRect/>
          </a:stretch>
        </p:blipFill>
        <p:spPr>
          <a:xfrm>
            <a:off x="8534400" y="127000"/>
            <a:ext cx="457200" cy="469900"/>
          </a:xfrm>
          <a:prstGeom prst="rect">
            <a:avLst/>
          </a:prstGeom>
        </p:spPr>
      </p:pic>
      <p:sp>
        <p:nvSpPr>
          <p:cNvPr id="4" name="TextBox 3"/>
          <p:cNvSpPr txBox="1"/>
          <p:nvPr/>
        </p:nvSpPr>
        <p:spPr>
          <a:xfrm>
            <a:off x="762000" y="152400"/>
            <a:ext cx="7620000" cy="558800"/>
          </a:xfrm>
          <a:prstGeom prst="rect">
            <a:avLst/>
          </a:prstGeom>
          <a:noFill/>
        </p:spPr>
        <p:txBody>
          <a:bodyPr wrap="square" lIns="0" rIns="0" tIns="0" bIns="0" anchor="ctr">
            <a:spAutoFit/>
          </a:bodyPr>
          <a:lstStyle/>
          <a:p>
            <a:pPr algn="ctr"/>
            <a:r>
              <a:rPr b="1" sz="3000" i="0">
                <a:solidFill>
                  <a:srgbClr val="000000"/>
                </a:solidFill>
                <a:latin typeface="Times New Roman"/>
              </a:rPr>
              <a:t>Cost Estimation</a:t>
            </a:r>
          </a:p>
        </p:txBody>
      </p:sp>
      <p:graphicFrame>
        <p:nvGraphicFramePr>
          <p:cNvPr id="5" name="Table 4"/>
          <p:cNvGraphicFramePr>
            <a:graphicFrameLocks noGrp="1"/>
          </p:cNvGraphicFramePr>
          <p:nvPr/>
        </p:nvGraphicFramePr>
        <p:xfrm>
          <a:off x="1397000" y="1778000"/>
          <a:ext cx="6349999" cy="3048000"/>
        </p:xfrm>
        <a:graphic>
          <a:graphicData uri="http://schemas.openxmlformats.org/drawingml/2006/table">
            <a:tbl>
              <a:tblPr firstRow="0" bandRow="0">
                <a:tableStyleId>{5940675A-B579-460E-94D1-54222C63F5DA}</a:tableStyleId>
              </a:tblPr>
              <a:tblGrid>
                <a:gridCol w="4233333"/>
                <a:gridCol w="2116666"/>
              </a:tblGrid>
              <a:tr h="508000">
                <a:tc>
                  <a:txBody>
                    <a:bodyPr wrap="square"/>
                    <a:lstStyle/>
                    <a:p>
                      <a:r>
                        <a:rPr b="1" sz="1600" i="0">
                          <a:solidFill>
                            <a:srgbClr val="000000"/>
                          </a:solidFill>
                          <a:latin typeface="Calibri"/>
                        </a:rPr>
                        <a:t>Particulars</a:t>
                      </a:r>
                    </a:p>
                  </a:txBody>
                  <a:tcPr marL="50800" marR="50800" marT="25400" marB="25400">
                    <a:solidFill>
                      <a:srgbClr val="D9D9D9"/>
                    </a:solidFill>
                  </a:tcPr>
                </a:tc>
                <a:tc>
                  <a:txBody>
                    <a:bodyPr wrap="square"/>
                    <a:lstStyle/>
                    <a:p>
                      <a:r>
                        <a:rPr b="1" sz="1600" i="0">
                          <a:solidFill>
                            <a:srgbClr val="000000"/>
                          </a:solidFill>
                          <a:latin typeface="Calibri"/>
                        </a:rPr>
                        <a:t>Cost (BDT)</a:t>
                      </a:r>
                    </a:p>
                  </a:txBody>
                  <a:tcPr marL="50800" marR="50800" marT="25400" marB="25400">
                    <a:solidFill>
                      <a:srgbClr val="D9D9D9"/>
                    </a:solidFill>
                  </a:tcPr>
                </a:tc>
              </a:tr>
              <a:tr h="508000">
                <a:tc>
                  <a:txBody>
                    <a:bodyPr wrap="square"/>
                    <a:lstStyle/>
                    <a:p>
                      <a:r>
                        <a:rPr b="0" sz="1600" i="0">
                          <a:solidFill>
                            <a:srgbClr val="000000"/>
                          </a:solidFill>
                          <a:latin typeface="Calibri"/>
                        </a:rPr>
                        <a:t>Personnel Cost (528 h × 227.27)</a:t>
                      </a:r>
                    </a:p>
                  </a:txBody>
                  <a:tcPr marL="50800" marR="50800" marT="25400" marB="25400"/>
                </a:tc>
                <a:tc>
                  <a:txBody>
                    <a:bodyPr wrap="square"/>
                    <a:lstStyle/>
                    <a:p>
                      <a:r>
                        <a:rPr b="0" sz="1600" i="0">
                          <a:solidFill>
                            <a:srgbClr val="000000"/>
                          </a:solidFill>
                          <a:latin typeface="Calibri"/>
                        </a:rPr>
                        <a:t>120,000.00</a:t>
                      </a:r>
                    </a:p>
                  </a:txBody>
                  <a:tcPr marL="50800" marR="50800" marT="25400" marB="25400"/>
                </a:tc>
              </a:tr>
              <a:tr h="508000">
                <a:tc>
                  <a:txBody>
                    <a:bodyPr wrap="square"/>
                    <a:lstStyle/>
                    <a:p>
                      <a:r>
                        <a:rPr b="0" sz="1600" i="0">
                          <a:solidFill>
                            <a:srgbClr val="000000"/>
                          </a:solidFill>
                          <a:latin typeface="Calibri"/>
                        </a:rPr>
                        <a:t>Hardware Cost (depreciation, 3 months)</a:t>
                      </a:r>
                    </a:p>
                  </a:txBody>
                  <a:tcPr marL="50800" marR="50800" marT="25400" marB="25400"/>
                </a:tc>
                <a:tc>
                  <a:txBody>
                    <a:bodyPr wrap="square"/>
                    <a:lstStyle/>
                    <a:p>
                      <a:r>
                        <a:rPr b="0" sz="1600" i="0">
                          <a:solidFill>
                            <a:srgbClr val="000000"/>
                          </a:solidFill>
                          <a:latin typeface="Calibri"/>
                        </a:rPr>
                        <a:t>3,083.33</a:t>
                      </a:r>
                    </a:p>
                  </a:txBody>
                  <a:tcPr marL="50800" marR="50800" marT="25400" marB="25400"/>
                </a:tc>
              </a:tr>
              <a:tr h="508000">
                <a:tc>
                  <a:txBody>
                    <a:bodyPr wrap="square"/>
                    <a:lstStyle/>
                    <a:p>
                      <a:r>
                        <a:rPr b="0" sz="1600" i="0">
                          <a:solidFill>
                            <a:srgbClr val="000000"/>
                          </a:solidFill>
                          <a:latin typeface="Calibri"/>
                        </a:rPr>
                        <a:t>Software &amp; Hosting Cost (open source / free tier)</a:t>
                      </a:r>
                    </a:p>
                  </a:txBody>
                  <a:tcPr marL="50800" marR="50800" marT="25400" marB="25400"/>
                </a:tc>
                <a:tc>
                  <a:txBody>
                    <a:bodyPr wrap="square"/>
                    <a:lstStyle/>
                    <a:p>
                      <a:r>
                        <a:rPr b="0" sz="1600" i="0">
                          <a:solidFill>
                            <a:srgbClr val="000000"/>
                          </a:solidFill>
                          <a:latin typeface="Calibri"/>
                        </a:rPr>
                        <a:t>0.00</a:t>
                      </a:r>
                    </a:p>
                  </a:txBody>
                  <a:tcPr marL="50800" marR="50800" marT="25400" marB="25400"/>
                </a:tc>
              </a:tr>
              <a:tr h="508000">
                <a:tc>
                  <a:txBody>
                    <a:bodyPr wrap="square"/>
                    <a:lstStyle/>
                    <a:p>
                      <a:r>
                        <a:rPr b="0" sz="1600" i="0">
                          <a:solidFill>
                            <a:srgbClr val="000000"/>
                          </a:solidFill>
                          <a:latin typeface="Calibri"/>
                        </a:rPr>
                        <a:t>Other Costs (internet, electricity, backup)</a:t>
                      </a:r>
                    </a:p>
                  </a:txBody>
                  <a:tcPr marL="50800" marR="50800" marT="25400" marB="25400"/>
                </a:tc>
                <a:tc>
                  <a:txBody>
                    <a:bodyPr wrap="square"/>
                    <a:lstStyle/>
                    <a:p>
                      <a:r>
                        <a:rPr b="0" sz="1600" i="0">
                          <a:solidFill>
                            <a:srgbClr val="000000"/>
                          </a:solidFill>
                          <a:latin typeface="Calibri"/>
                        </a:rPr>
                        <a:t>12,450.00</a:t>
                      </a:r>
                    </a:p>
                  </a:txBody>
                  <a:tcPr marL="50800" marR="50800" marT="25400" marB="25400"/>
                </a:tc>
              </a:tr>
              <a:tr h="508000">
                <a:tc>
                  <a:txBody>
                    <a:bodyPr wrap="square"/>
                    <a:lstStyle/>
                    <a:p>
                      <a:r>
                        <a:rPr b="1" sz="1600" i="0">
                          <a:solidFill>
                            <a:srgbClr val="000000"/>
                          </a:solidFill>
                          <a:latin typeface="Calibri"/>
                        </a:rPr>
                        <a:t>Total Estimated Project Cost (BDT)</a:t>
                      </a:r>
                    </a:p>
                  </a:txBody>
                  <a:tcPr marL="50800" marR="50800" marT="25400" marB="25400"/>
                </a:tc>
                <a:tc>
                  <a:txBody>
                    <a:bodyPr wrap="square"/>
                    <a:lstStyle/>
                    <a:p>
                      <a:r>
                        <a:rPr b="1" sz="1600" i="0">
                          <a:solidFill>
                            <a:srgbClr val="000000"/>
                          </a:solidFill>
                          <a:latin typeface="Calibri"/>
                        </a:rPr>
                        <a:t>135,533.33</a:t>
                      </a:r>
                    </a:p>
                  </a:txBody>
                  <a:tcPr marL="50800" marR="50800" marT="25400" marB="25400"/>
                </a:tc>
              </a:tr>
            </a:tbl>
          </a:graphicData>
        </a:graphic>
      </p:graphicFrame>
      <p:sp>
        <p:nvSpPr>
          <p:cNvPr id="6" name="TextBox 5"/>
          <p:cNvSpPr txBox="1"/>
          <p:nvPr/>
        </p:nvSpPr>
        <p:spPr>
          <a:xfrm>
            <a:off x="762000" y="5080000"/>
            <a:ext cx="7620000" cy="508000"/>
          </a:xfrm>
          <a:prstGeom prst="rect">
            <a:avLst/>
          </a:prstGeom>
          <a:noFill/>
        </p:spPr>
        <p:txBody>
          <a:bodyPr wrap="square" lIns="0" rIns="0" tIns="0" bIns="0" anchor="t">
            <a:spAutoFit/>
          </a:bodyPr>
          <a:lstStyle/>
          <a:p>
            <a:pPr algn="ctr"/>
            <a:r>
              <a:rPr b="0" sz="1200" i="1">
                <a:solidFill>
                  <a:srgbClr val="000000"/>
                </a:solidFill>
                <a:latin typeface="Times New Roman"/>
              </a:rPr>
              <a:t>Assumed developer salary BDT </a:t>
            </a:r>
            <a:r>
              <a:rPr sz="1200" i="1">
                <a:solidFill>
                  <a:srgbClr val="000000"/>
                </a:solidFill>
                <a:highlight>
                  <a:srgbClr val="FFFF00"/>
                </a:highlight>
                <a:latin typeface="Times New Roman"/>
              </a:rPr>
              <a:t>40,000</a:t>
            </a:r>
            <a:r>
              <a:rPr b="0" sz="1200" i="1">
                <a:solidFill>
                  <a:srgbClr val="000000"/>
                </a:solidFill>
                <a:latin typeface="Times New Roman"/>
              </a:rPr>
              <a:t>/month; laptop BDT </a:t>
            </a:r>
            <a:r>
              <a:rPr sz="1200" i="1">
                <a:solidFill>
                  <a:srgbClr val="000000"/>
                </a:solidFill>
                <a:highlight>
                  <a:srgbClr val="FFFF00"/>
                </a:highlight>
                <a:latin typeface="Times New Roman"/>
              </a:rPr>
              <a:t>85,000</a:t>
            </a:r>
            <a:r>
              <a:rPr b="0" sz="1200" i="1">
                <a:solidFill>
                  <a:srgbClr val="000000"/>
                </a:solidFill>
                <a:latin typeface="Times New Roman"/>
              </a:rPr>
              <a:t> and router BDT </a:t>
            </a:r>
            <a:r>
              <a:rPr sz="1200" i="1">
                <a:solidFill>
                  <a:srgbClr val="000000"/>
                </a:solidFill>
                <a:highlight>
                  <a:srgbClr val="FFFF00"/>
                </a:highlight>
                <a:latin typeface="Times New Roman"/>
              </a:rPr>
              <a:t>15,000</a:t>
            </a:r>
            <a:r>
              <a:rPr b="0" sz="1200" i="1">
                <a:solidFill>
                  <a:srgbClr val="000000"/>
                </a:solidFill>
                <a:latin typeface="Times New Roman"/>
              </a:rPr>
              <a:t> depreciated over the 3-month project.</a:t>
            </a:r>
          </a:p>
        </p:txBody>
      </p:sp>
      <p:sp>
        <p:nvSpPr>
          <p:cNvPr id="7" name="TextBox 6"/>
          <p:cNvSpPr txBox="1"/>
          <p:nvPr/>
        </p:nvSpPr>
        <p:spPr>
          <a:xfrm>
            <a:off x="8382000" y="6578600"/>
            <a:ext cx="635000" cy="228600"/>
          </a:xfrm>
          <a:prstGeom prst="rect">
            <a:avLst/>
          </a:prstGeom>
          <a:noFill/>
        </p:spPr>
        <p:txBody>
          <a:bodyPr wrap="square" lIns="0" rIns="0" tIns="0" bIns="0" anchor="t">
            <a:spAutoFit/>
          </a:bodyPr>
          <a:lstStyle/>
          <a:p>
            <a:pPr algn="r"/>
            <a:r>
              <a:rPr b="0" sz="1200" i="0">
                <a:solidFill>
                  <a:srgbClr val="000000"/>
                </a:solidFill>
                <a:latin typeface="Calibr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ubat.jpeg"/>
          <p:cNvPicPr>
            <a:picLocks noChangeAspect="1"/>
          </p:cNvPicPr>
          <p:nvPr/>
        </p:nvPicPr>
        <p:blipFill>
          <a:blip r:embed="rId2"/>
          <a:stretch>
            <a:fillRect/>
          </a:stretch>
        </p:blipFill>
        <p:spPr>
          <a:xfrm>
            <a:off x="50800" y="88900"/>
            <a:ext cx="609600" cy="533400"/>
          </a:xfrm>
          <a:prstGeom prst="rect">
            <a:avLst/>
          </a:prstGeom>
        </p:spPr>
      </p:pic>
      <p:pic>
        <p:nvPicPr>
          <p:cNvPr id="3" name="Picture 2" descr="cse.jpeg"/>
          <p:cNvPicPr>
            <a:picLocks noChangeAspect="1"/>
          </p:cNvPicPr>
          <p:nvPr/>
        </p:nvPicPr>
        <p:blipFill>
          <a:blip r:embed="rId3"/>
          <a:stretch>
            <a:fillRect/>
          </a:stretch>
        </p:blipFill>
        <p:spPr>
          <a:xfrm>
            <a:off x="8534400" y="127000"/>
            <a:ext cx="457200" cy="469900"/>
          </a:xfrm>
          <a:prstGeom prst="rect">
            <a:avLst/>
          </a:prstGeom>
        </p:spPr>
      </p:pic>
      <p:sp>
        <p:nvSpPr>
          <p:cNvPr id="4" name="TextBox 3"/>
          <p:cNvSpPr txBox="1"/>
          <p:nvPr/>
        </p:nvSpPr>
        <p:spPr>
          <a:xfrm>
            <a:off x="762000" y="152400"/>
            <a:ext cx="7620000" cy="558800"/>
          </a:xfrm>
          <a:prstGeom prst="rect">
            <a:avLst/>
          </a:prstGeom>
          <a:noFill/>
        </p:spPr>
        <p:txBody>
          <a:bodyPr wrap="square" lIns="0" rIns="0" tIns="0" bIns="0" anchor="ctr">
            <a:spAutoFit/>
          </a:bodyPr>
          <a:lstStyle/>
          <a:p>
            <a:pPr algn="ctr"/>
            <a:r>
              <a:rPr b="1" sz="3000" i="0">
                <a:solidFill>
                  <a:srgbClr val="000000"/>
                </a:solidFill>
                <a:latin typeface="Times New Roman"/>
              </a:rPr>
              <a:t>Entity Relationship Diagram</a:t>
            </a:r>
          </a:p>
        </p:txBody>
      </p:sp>
      <p:sp>
        <p:nvSpPr>
          <p:cNvPr id="5" name="Rectangle 4"/>
          <p:cNvSpPr/>
          <p:nvPr/>
        </p:nvSpPr>
        <p:spPr>
          <a:xfrm>
            <a:off x="508000" y="812800"/>
            <a:ext cx="8128000" cy="5080000"/>
          </a:xfrm>
          <a:prstGeom prst="rect">
            <a:avLst/>
          </a:prstGeom>
          <a:solidFill>
            <a:srgbClr val="FAFAFA"/>
          </a:solidFill>
          <a:ln w="12700">
            <a:solidFill>
              <a:srgbClr val="595959"/>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i="1">
                <a:solidFill>
                  <a:srgbClr val="595959"/>
                </a:solidFill>
                <a:latin typeface="Calibri"/>
                <a:highlight>
                  <a:srgbClr val="FFFF00"/>
                </a:highlight>
              </a:rPr>
              <a:t>[Insert image: Entity Relationship Diagram]</a:t>
            </a:r>
          </a:p>
          <a:p>
            <a:pPr algn="ctr"/>
            <a:r>
              <a:rPr sz="1100" i="1">
                <a:solidFill>
                  <a:srgbClr val="595959"/>
                </a:solidFill>
                <a:latin typeface="Calibri"/>
              </a:rPr>
              <a:t>Company, Department, Role, Employee, Attendance, LeaveType, LeaveRequest, Payroll, RefreshToken, AiConversation, AiAuditLog, AiReport</a:t>
            </a:r>
          </a:p>
        </p:txBody>
      </p:sp>
      <p:sp>
        <p:nvSpPr>
          <p:cNvPr id="6" name="TextBox 5"/>
          <p:cNvSpPr txBox="1"/>
          <p:nvPr/>
        </p:nvSpPr>
        <p:spPr>
          <a:xfrm>
            <a:off x="762000" y="5969000"/>
            <a:ext cx="7620000" cy="304800"/>
          </a:xfrm>
          <a:prstGeom prst="rect">
            <a:avLst/>
          </a:prstGeom>
          <a:noFill/>
        </p:spPr>
        <p:txBody>
          <a:bodyPr wrap="square" lIns="0" rIns="0" tIns="0" bIns="0" anchor="t">
            <a:spAutoFit/>
          </a:bodyPr>
          <a:lstStyle/>
          <a:p>
            <a:pPr algn="ctr"/>
            <a:r>
              <a:rPr b="0" sz="1600" i="0">
                <a:solidFill>
                  <a:srgbClr val="000000"/>
                </a:solidFill>
                <a:latin typeface="Times New Roman"/>
              </a:rPr>
              <a:t>Entity Relationship Diagram</a:t>
            </a:r>
          </a:p>
        </p:txBody>
      </p:sp>
      <p:sp>
        <p:nvSpPr>
          <p:cNvPr id="7" name="TextBox 6"/>
          <p:cNvSpPr txBox="1"/>
          <p:nvPr/>
        </p:nvSpPr>
        <p:spPr>
          <a:xfrm>
            <a:off x="8382000" y="6578600"/>
            <a:ext cx="635000" cy="228600"/>
          </a:xfrm>
          <a:prstGeom prst="rect">
            <a:avLst/>
          </a:prstGeom>
          <a:noFill/>
        </p:spPr>
        <p:txBody>
          <a:bodyPr wrap="square" lIns="0" rIns="0" tIns="0" bIns="0" anchor="t">
            <a:spAutoFit/>
          </a:bodyPr>
          <a:lstStyle/>
          <a:p>
            <a:pPr algn="r"/>
            <a:r>
              <a:rPr b="0" sz="1200" i="0">
                <a:solidFill>
                  <a:srgbClr val="000000"/>
                </a:solidFill>
                <a:latin typeface="Calibr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ubat.jpeg"/>
          <p:cNvPicPr>
            <a:picLocks noChangeAspect="1"/>
          </p:cNvPicPr>
          <p:nvPr/>
        </p:nvPicPr>
        <p:blipFill>
          <a:blip r:embed="rId2"/>
          <a:stretch>
            <a:fillRect/>
          </a:stretch>
        </p:blipFill>
        <p:spPr>
          <a:xfrm>
            <a:off x="50800" y="88900"/>
            <a:ext cx="609600" cy="533400"/>
          </a:xfrm>
          <a:prstGeom prst="rect">
            <a:avLst/>
          </a:prstGeom>
        </p:spPr>
      </p:pic>
      <p:pic>
        <p:nvPicPr>
          <p:cNvPr id="3" name="Picture 2" descr="cse.jpeg"/>
          <p:cNvPicPr>
            <a:picLocks noChangeAspect="1"/>
          </p:cNvPicPr>
          <p:nvPr/>
        </p:nvPicPr>
        <p:blipFill>
          <a:blip r:embed="rId3"/>
          <a:stretch>
            <a:fillRect/>
          </a:stretch>
        </p:blipFill>
        <p:spPr>
          <a:xfrm>
            <a:off x="8534400" y="127000"/>
            <a:ext cx="457200" cy="469900"/>
          </a:xfrm>
          <a:prstGeom prst="rect">
            <a:avLst/>
          </a:prstGeom>
        </p:spPr>
      </p:pic>
      <p:sp>
        <p:nvSpPr>
          <p:cNvPr id="4" name="TextBox 3"/>
          <p:cNvSpPr txBox="1"/>
          <p:nvPr/>
        </p:nvSpPr>
        <p:spPr>
          <a:xfrm>
            <a:off x="762000" y="152400"/>
            <a:ext cx="7620000" cy="558800"/>
          </a:xfrm>
          <a:prstGeom prst="rect">
            <a:avLst/>
          </a:prstGeom>
          <a:noFill/>
        </p:spPr>
        <p:txBody>
          <a:bodyPr wrap="square" lIns="0" rIns="0" tIns="0" bIns="0" anchor="ctr">
            <a:spAutoFit/>
          </a:bodyPr>
          <a:lstStyle/>
          <a:p>
            <a:pPr algn="ctr"/>
            <a:r>
              <a:rPr b="1" sz="3000" i="0">
                <a:solidFill>
                  <a:srgbClr val="000000"/>
                </a:solidFill>
                <a:latin typeface="Times New Roman"/>
              </a:rPr>
              <a:t>Data Flow Diagram</a:t>
            </a:r>
          </a:p>
        </p:txBody>
      </p:sp>
      <p:sp>
        <p:nvSpPr>
          <p:cNvPr id="5" name="Rectangle 4"/>
          <p:cNvSpPr/>
          <p:nvPr/>
        </p:nvSpPr>
        <p:spPr>
          <a:xfrm>
            <a:off x="508000" y="812800"/>
            <a:ext cx="8128000" cy="5080000"/>
          </a:xfrm>
          <a:prstGeom prst="rect">
            <a:avLst/>
          </a:prstGeom>
          <a:solidFill>
            <a:srgbClr val="FAFAFA"/>
          </a:solidFill>
          <a:ln w="12700">
            <a:solidFill>
              <a:srgbClr val="595959"/>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i="1">
                <a:solidFill>
                  <a:srgbClr val="595959"/>
                </a:solidFill>
                <a:latin typeface="Calibri"/>
                <a:highlight>
                  <a:srgbClr val="FFFF00"/>
                </a:highlight>
              </a:rPr>
              <a:t>[Insert image: Level 0 DFD]</a:t>
            </a:r>
          </a:p>
          <a:p>
            <a:pPr algn="ctr"/>
            <a:r>
              <a:rPr sz="1100" i="1">
                <a:solidFill>
                  <a:srgbClr val="595959"/>
                </a:solidFill>
                <a:latin typeface="Calibri"/>
              </a:rPr>
              <a:t>Entities: Super Admin, Company Admin, Employee, LLM Provider ↔ HRM System</a:t>
            </a:r>
          </a:p>
        </p:txBody>
      </p:sp>
      <p:sp>
        <p:nvSpPr>
          <p:cNvPr id="6" name="TextBox 5"/>
          <p:cNvSpPr txBox="1"/>
          <p:nvPr/>
        </p:nvSpPr>
        <p:spPr>
          <a:xfrm>
            <a:off x="762000" y="5969000"/>
            <a:ext cx="7620000" cy="304800"/>
          </a:xfrm>
          <a:prstGeom prst="rect">
            <a:avLst/>
          </a:prstGeom>
          <a:noFill/>
        </p:spPr>
        <p:txBody>
          <a:bodyPr wrap="square" lIns="0" rIns="0" tIns="0" bIns="0" anchor="t">
            <a:spAutoFit/>
          </a:bodyPr>
          <a:lstStyle/>
          <a:p>
            <a:pPr algn="ctr"/>
            <a:r>
              <a:rPr b="0" sz="1600" i="0">
                <a:solidFill>
                  <a:srgbClr val="000000"/>
                </a:solidFill>
                <a:latin typeface="Times New Roman"/>
              </a:rPr>
              <a:t>Level 0 DFD</a:t>
            </a:r>
          </a:p>
        </p:txBody>
      </p:sp>
      <p:sp>
        <p:nvSpPr>
          <p:cNvPr id="7" name="TextBox 6"/>
          <p:cNvSpPr txBox="1"/>
          <p:nvPr/>
        </p:nvSpPr>
        <p:spPr>
          <a:xfrm>
            <a:off x="8382000" y="6578600"/>
            <a:ext cx="635000" cy="228600"/>
          </a:xfrm>
          <a:prstGeom prst="rect">
            <a:avLst/>
          </a:prstGeom>
          <a:noFill/>
        </p:spPr>
        <p:txBody>
          <a:bodyPr wrap="square" lIns="0" rIns="0" tIns="0" bIns="0" anchor="t">
            <a:spAutoFit/>
          </a:bodyPr>
          <a:lstStyle/>
          <a:p>
            <a:pPr algn="r"/>
            <a:r>
              <a:rPr b="0" sz="1200" i="0">
                <a:solidFill>
                  <a:srgbClr val="000000"/>
                </a:solidFill>
                <a:latin typeface="Calibr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ubat.jpeg"/>
          <p:cNvPicPr>
            <a:picLocks noChangeAspect="1"/>
          </p:cNvPicPr>
          <p:nvPr/>
        </p:nvPicPr>
        <p:blipFill>
          <a:blip r:embed="rId2"/>
          <a:stretch>
            <a:fillRect/>
          </a:stretch>
        </p:blipFill>
        <p:spPr>
          <a:xfrm>
            <a:off x="50800" y="88900"/>
            <a:ext cx="609600" cy="533400"/>
          </a:xfrm>
          <a:prstGeom prst="rect">
            <a:avLst/>
          </a:prstGeom>
        </p:spPr>
      </p:pic>
      <p:pic>
        <p:nvPicPr>
          <p:cNvPr id="3" name="Picture 2" descr="cse.jpeg"/>
          <p:cNvPicPr>
            <a:picLocks noChangeAspect="1"/>
          </p:cNvPicPr>
          <p:nvPr/>
        </p:nvPicPr>
        <p:blipFill>
          <a:blip r:embed="rId3"/>
          <a:stretch>
            <a:fillRect/>
          </a:stretch>
        </p:blipFill>
        <p:spPr>
          <a:xfrm>
            <a:off x="8534400" y="127000"/>
            <a:ext cx="457200" cy="469900"/>
          </a:xfrm>
          <a:prstGeom prst="rect">
            <a:avLst/>
          </a:prstGeom>
        </p:spPr>
      </p:pic>
      <p:sp>
        <p:nvSpPr>
          <p:cNvPr id="4" name="TextBox 3"/>
          <p:cNvSpPr txBox="1"/>
          <p:nvPr/>
        </p:nvSpPr>
        <p:spPr>
          <a:xfrm>
            <a:off x="762000" y="152400"/>
            <a:ext cx="7620000" cy="558800"/>
          </a:xfrm>
          <a:prstGeom prst="rect">
            <a:avLst/>
          </a:prstGeom>
          <a:noFill/>
        </p:spPr>
        <p:txBody>
          <a:bodyPr wrap="square" lIns="0" rIns="0" tIns="0" bIns="0" anchor="ctr">
            <a:spAutoFit/>
          </a:bodyPr>
          <a:lstStyle/>
          <a:p>
            <a:pPr algn="ctr"/>
            <a:r>
              <a:rPr b="1" sz="3000" i="0">
                <a:solidFill>
                  <a:srgbClr val="000000"/>
                </a:solidFill>
                <a:latin typeface="Times New Roman"/>
              </a:rPr>
              <a:t>Data Flow Diagram</a:t>
            </a:r>
          </a:p>
        </p:txBody>
      </p:sp>
      <p:sp>
        <p:nvSpPr>
          <p:cNvPr id="5" name="Rectangle 4"/>
          <p:cNvSpPr/>
          <p:nvPr/>
        </p:nvSpPr>
        <p:spPr>
          <a:xfrm>
            <a:off x="508000" y="812800"/>
            <a:ext cx="8128000" cy="5080000"/>
          </a:xfrm>
          <a:prstGeom prst="rect">
            <a:avLst/>
          </a:prstGeom>
          <a:solidFill>
            <a:srgbClr val="FAFAFA"/>
          </a:solidFill>
          <a:ln w="12700">
            <a:solidFill>
              <a:srgbClr val="595959"/>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i="1">
                <a:solidFill>
                  <a:srgbClr val="595959"/>
                </a:solidFill>
                <a:latin typeface="Calibri"/>
                <a:highlight>
                  <a:srgbClr val="FFFF00"/>
                </a:highlight>
              </a:rPr>
              <a:t>[Insert image: Level 1 DFD]</a:t>
            </a:r>
          </a:p>
          <a:p>
            <a:pPr algn="ctr"/>
            <a:r>
              <a:rPr sz="1100" i="1">
                <a:solidFill>
                  <a:srgbClr val="595959"/>
                </a:solidFill>
                <a:latin typeface="Calibri"/>
              </a:rPr>
              <a:t>Processes 1–6: Authentication, Organization Mgmt, Attendance, Leave, Payroll, AI Assistant</a:t>
            </a:r>
          </a:p>
        </p:txBody>
      </p:sp>
      <p:sp>
        <p:nvSpPr>
          <p:cNvPr id="6" name="TextBox 5"/>
          <p:cNvSpPr txBox="1"/>
          <p:nvPr/>
        </p:nvSpPr>
        <p:spPr>
          <a:xfrm>
            <a:off x="762000" y="5969000"/>
            <a:ext cx="7620000" cy="304800"/>
          </a:xfrm>
          <a:prstGeom prst="rect">
            <a:avLst/>
          </a:prstGeom>
          <a:noFill/>
        </p:spPr>
        <p:txBody>
          <a:bodyPr wrap="square" lIns="0" rIns="0" tIns="0" bIns="0" anchor="t">
            <a:spAutoFit/>
          </a:bodyPr>
          <a:lstStyle/>
          <a:p>
            <a:pPr algn="ctr"/>
            <a:r>
              <a:rPr b="0" sz="1600" i="0">
                <a:solidFill>
                  <a:srgbClr val="000000"/>
                </a:solidFill>
                <a:latin typeface="Times New Roman"/>
              </a:rPr>
              <a:t>Level 1 DFD</a:t>
            </a:r>
          </a:p>
        </p:txBody>
      </p:sp>
      <p:sp>
        <p:nvSpPr>
          <p:cNvPr id="7" name="TextBox 6"/>
          <p:cNvSpPr txBox="1"/>
          <p:nvPr/>
        </p:nvSpPr>
        <p:spPr>
          <a:xfrm>
            <a:off x="8382000" y="6578600"/>
            <a:ext cx="635000" cy="228600"/>
          </a:xfrm>
          <a:prstGeom prst="rect">
            <a:avLst/>
          </a:prstGeom>
          <a:noFill/>
        </p:spPr>
        <p:txBody>
          <a:bodyPr wrap="square" lIns="0" rIns="0" tIns="0" bIns="0" anchor="t">
            <a:spAutoFit/>
          </a:bodyPr>
          <a:lstStyle/>
          <a:p>
            <a:pPr algn="r"/>
            <a:r>
              <a:rPr b="0" sz="1200" i="0">
                <a:solidFill>
                  <a:srgbClr val="000000"/>
                </a:solidFill>
                <a:latin typeface="Calibri"/>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ubat.jpeg"/>
          <p:cNvPicPr>
            <a:picLocks noChangeAspect="1"/>
          </p:cNvPicPr>
          <p:nvPr/>
        </p:nvPicPr>
        <p:blipFill>
          <a:blip r:embed="rId2"/>
          <a:stretch>
            <a:fillRect/>
          </a:stretch>
        </p:blipFill>
        <p:spPr>
          <a:xfrm>
            <a:off x="50800" y="88900"/>
            <a:ext cx="609600" cy="533400"/>
          </a:xfrm>
          <a:prstGeom prst="rect">
            <a:avLst/>
          </a:prstGeom>
        </p:spPr>
      </p:pic>
      <p:pic>
        <p:nvPicPr>
          <p:cNvPr id="3" name="Picture 2" descr="cse.jpeg"/>
          <p:cNvPicPr>
            <a:picLocks noChangeAspect="1"/>
          </p:cNvPicPr>
          <p:nvPr/>
        </p:nvPicPr>
        <p:blipFill>
          <a:blip r:embed="rId3"/>
          <a:stretch>
            <a:fillRect/>
          </a:stretch>
        </p:blipFill>
        <p:spPr>
          <a:xfrm>
            <a:off x="8534400" y="127000"/>
            <a:ext cx="457200" cy="469900"/>
          </a:xfrm>
          <a:prstGeom prst="rect">
            <a:avLst/>
          </a:prstGeom>
        </p:spPr>
      </p:pic>
      <p:sp>
        <p:nvSpPr>
          <p:cNvPr id="4" name="TextBox 3"/>
          <p:cNvSpPr txBox="1"/>
          <p:nvPr/>
        </p:nvSpPr>
        <p:spPr>
          <a:xfrm>
            <a:off x="762000" y="152400"/>
            <a:ext cx="7620000" cy="558800"/>
          </a:xfrm>
          <a:prstGeom prst="rect">
            <a:avLst/>
          </a:prstGeom>
          <a:noFill/>
        </p:spPr>
        <p:txBody>
          <a:bodyPr wrap="square" lIns="0" rIns="0" tIns="0" bIns="0" anchor="ctr">
            <a:spAutoFit/>
          </a:bodyPr>
          <a:lstStyle/>
          <a:p>
            <a:pPr algn="ctr"/>
            <a:r>
              <a:rPr b="1" sz="3000" i="0">
                <a:solidFill>
                  <a:srgbClr val="000000"/>
                </a:solidFill>
                <a:latin typeface="Times New Roman"/>
              </a:rPr>
              <a:t>Data Flow Diagram</a:t>
            </a:r>
          </a:p>
        </p:txBody>
      </p:sp>
      <p:sp>
        <p:nvSpPr>
          <p:cNvPr id="5" name="Rectangle 4"/>
          <p:cNvSpPr/>
          <p:nvPr/>
        </p:nvSpPr>
        <p:spPr>
          <a:xfrm>
            <a:off x="508000" y="812800"/>
            <a:ext cx="8128000" cy="5080000"/>
          </a:xfrm>
          <a:prstGeom prst="rect">
            <a:avLst/>
          </a:prstGeom>
          <a:solidFill>
            <a:srgbClr val="FAFAFA"/>
          </a:solidFill>
          <a:ln w="12700">
            <a:solidFill>
              <a:srgbClr val="595959"/>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i="1">
                <a:solidFill>
                  <a:srgbClr val="595959"/>
                </a:solidFill>
                <a:latin typeface="Calibri"/>
                <a:highlight>
                  <a:srgbClr val="FFFF00"/>
                </a:highlight>
              </a:rPr>
              <a:t>[Insert image: Level 2 DFD Process 1]</a:t>
            </a:r>
          </a:p>
          <a:p>
            <a:pPr algn="ctr"/>
            <a:r>
              <a:rPr sz="1100" i="1">
                <a:solidFill>
                  <a:srgbClr val="595959"/>
                </a:solidFill>
                <a:latin typeface="Calibri"/>
              </a:rPr>
              <a:t>Authentication – login, refresh, logout, authorize</a:t>
            </a:r>
          </a:p>
        </p:txBody>
      </p:sp>
      <p:sp>
        <p:nvSpPr>
          <p:cNvPr id="6" name="TextBox 5"/>
          <p:cNvSpPr txBox="1"/>
          <p:nvPr/>
        </p:nvSpPr>
        <p:spPr>
          <a:xfrm>
            <a:off x="762000" y="5969000"/>
            <a:ext cx="7620000" cy="304800"/>
          </a:xfrm>
          <a:prstGeom prst="rect">
            <a:avLst/>
          </a:prstGeom>
          <a:noFill/>
        </p:spPr>
        <p:txBody>
          <a:bodyPr wrap="square" lIns="0" rIns="0" tIns="0" bIns="0" anchor="t">
            <a:spAutoFit/>
          </a:bodyPr>
          <a:lstStyle/>
          <a:p>
            <a:pPr algn="ctr"/>
            <a:r>
              <a:rPr b="0" sz="1600" i="0">
                <a:solidFill>
                  <a:srgbClr val="000000"/>
                </a:solidFill>
                <a:latin typeface="Times New Roman"/>
              </a:rPr>
              <a:t>Level 2 DFD Process 1</a:t>
            </a:r>
          </a:p>
        </p:txBody>
      </p:sp>
      <p:sp>
        <p:nvSpPr>
          <p:cNvPr id="7" name="TextBox 6"/>
          <p:cNvSpPr txBox="1"/>
          <p:nvPr/>
        </p:nvSpPr>
        <p:spPr>
          <a:xfrm>
            <a:off x="8382000" y="6578600"/>
            <a:ext cx="635000" cy="228600"/>
          </a:xfrm>
          <a:prstGeom prst="rect">
            <a:avLst/>
          </a:prstGeom>
          <a:noFill/>
        </p:spPr>
        <p:txBody>
          <a:bodyPr wrap="square" lIns="0" rIns="0" tIns="0" bIns="0" anchor="t">
            <a:spAutoFit/>
          </a:bodyPr>
          <a:lstStyle/>
          <a:p>
            <a:pPr algn="r"/>
            <a:r>
              <a:rPr b="0" sz="1200" i="0">
                <a:solidFill>
                  <a:srgbClr val="000000"/>
                </a:solidFill>
                <a:latin typeface="Calibri"/>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ubat.jpeg"/>
          <p:cNvPicPr>
            <a:picLocks noChangeAspect="1"/>
          </p:cNvPicPr>
          <p:nvPr/>
        </p:nvPicPr>
        <p:blipFill>
          <a:blip r:embed="rId2"/>
          <a:stretch>
            <a:fillRect/>
          </a:stretch>
        </p:blipFill>
        <p:spPr>
          <a:xfrm>
            <a:off x="50800" y="88900"/>
            <a:ext cx="609600" cy="533400"/>
          </a:xfrm>
          <a:prstGeom prst="rect">
            <a:avLst/>
          </a:prstGeom>
        </p:spPr>
      </p:pic>
      <p:pic>
        <p:nvPicPr>
          <p:cNvPr id="3" name="Picture 2" descr="cse.jpeg"/>
          <p:cNvPicPr>
            <a:picLocks noChangeAspect="1"/>
          </p:cNvPicPr>
          <p:nvPr/>
        </p:nvPicPr>
        <p:blipFill>
          <a:blip r:embed="rId3"/>
          <a:stretch>
            <a:fillRect/>
          </a:stretch>
        </p:blipFill>
        <p:spPr>
          <a:xfrm>
            <a:off x="8534400" y="127000"/>
            <a:ext cx="457200" cy="469900"/>
          </a:xfrm>
          <a:prstGeom prst="rect">
            <a:avLst/>
          </a:prstGeom>
        </p:spPr>
      </p:pic>
      <p:sp>
        <p:nvSpPr>
          <p:cNvPr id="4" name="TextBox 3"/>
          <p:cNvSpPr txBox="1"/>
          <p:nvPr/>
        </p:nvSpPr>
        <p:spPr>
          <a:xfrm>
            <a:off x="762000" y="152400"/>
            <a:ext cx="7620000" cy="558800"/>
          </a:xfrm>
          <a:prstGeom prst="rect">
            <a:avLst/>
          </a:prstGeom>
          <a:noFill/>
        </p:spPr>
        <p:txBody>
          <a:bodyPr wrap="square" lIns="0" rIns="0" tIns="0" bIns="0" anchor="ctr">
            <a:spAutoFit/>
          </a:bodyPr>
          <a:lstStyle/>
          <a:p>
            <a:pPr algn="ctr"/>
            <a:r>
              <a:rPr b="1" sz="3000" i="0">
                <a:solidFill>
                  <a:srgbClr val="000000"/>
                </a:solidFill>
                <a:latin typeface="Times New Roman"/>
              </a:rPr>
              <a:t>Data Flow Diagram</a:t>
            </a:r>
          </a:p>
        </p:txBody>
      </p:sp>
      <p:sp>
        <p:nvSpPr>
          <p:cNvPr id="5" name="Rectangle 4"/>
          <p:cNvSpPr/>
          <p:nvPr/>
        </p:nvSpPr>
        <p:spPr>
          <a:xfrm>
            <a:off x="508000" y="812800"/>
            <a:ext cx="8128000" cy="5080000"/>
          </a:xfrm>
          <a:prstGeom prst="rect">
            <a:avLst/>
          </a:prstGeom>
          <a:solidFill>
            <a:srgbClr val="FAFAFA"/>
          </a:solidFill>
          <a:ln w="12700">
            <a:solidFill>
              <a:srgbClr val="595959"/>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i="1">
                <a:solidFill>
                  <a:srgbClr val="595959"/>
                </a:solidFill>
                <a:latin typeface="Calibri"/>
                <a:highlight>
                  <a:srgbClr val="FFFF00"/>
                </a:highlight>
              </a:rPr>
              <a:t>[Insert image: Level 2 DFD Process 2]</a:t>
            </a:r>
          </a:p>
          <a:p>
            <a:pPr algn="ctr"/>
            <a:r>
              <a:rPr sz="1100" i="1">
                <a:solidFill>
                  <a:srgbClr val="595959"/>
                </a:solidFill>
                <a:latin typeface="Calibri"/>
              </a:rPr>
              <a:t>Organization Management – company, department, role, employee</a:t>
            </a:r>
          </a:p>
        </p:txBody>
      </p:sp>
      <p:sp>
        <p:nvSpPr>
          <p:cNvPr id="6" name="TextBox 5"/>
          <p:cNvSpPr txBox="1"/>
          <p:nvPr/>
        </p:nvSpPr>
        <p:spPr>
          <a:xfrm>
            <a:off x="762000" y="5969000"/>
            <a:ext cx="7620000" cy="304800"/>
          </a:xfrm>
          <a:prstGeom prst="rect">
            <a:avLst/>
          </a:prstGeom>
          <a:noFill/>
        </p:spPr>
        <p:txBody>
          <a:bodyPr wrap="square" lIns="0" rIns="0" tIns="0" bIns="0" anchor="t">
            <a:spAutoFit/>
          </a:bodyPr>
          <a:lstStyle/>
          <a:p>
            <a:pPr algn="ctr"/>
            <a:r>
              <a:rPr b="0" sz="1600" i="0">
                <a:solidFill>
                  <a:srgbClr val="000000"/>
                </a:solidFill>
                <a:latin typeface="Times New Roman"/>
              </a:rPr>
              <a:t>Level 2 DFD Process 2</a:t>
            </a:r>
          </a:p>
        </p:txBody>
      </p:sp>
      <p:sp>
        <p:nvSpPr>
          <p:cNvPr id="7" name="TextBox 6"/>
          <p:cNvSpPr txBox="1"/>
          <p:nvPr/>
        </p:nvSpPr>
        <p:spPr>
          <a:xfrm>
            <a:off x="8382000" y="6578600"/>
            <a:ext cx="635000" cy="228600"/>
          </a:xfrm>
          <a:prstGeom prst="rect">
            <a:avLst/>
          </a:prstGeom>
          <a:noFill/>
        </p:spPr>
        <p:txBody>
          <a:bodyPr wrap="square" lIns="0" rIns="0" tIns="0" bIns="0" anchor="t">
            <a:spAutoFit/>
          </a:bodyPr>
          <a:lstStyle/>
          <a:p>
            <a:pPr algn="r"/>
            <a:r>
              <a:rPr b="0" sz="1200" i="0">
                <a:solidFill>
                  <a:srgbClr val="000000"/>
                </a:solidFill>
                <a:latin typeface="Calibri"/>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ubat.jpeg"/>
          <p:cNvPicPr>
            <a:picLocks noChangeAspect="1"/>
          </p:cNvPicPr>
          <p:nvPr/>
        </p:nvPicPr>
        <p:blipFill>
          <a:blip r:embed="rId2"/>
          <a:stretch>
            <a:fillRect/>
          </a:stretch>
        </p:blipFill>
        <p:spPr>
          <a:xfrm>
            <a:off x="50800" y="88900"/>
            <a:ext cx="609600" cy="533400"/>
          </a:xfrm>
          <a:prstGeom prst="rect">
            <a:avLst/>
          </a:prstGeom>
        </p:spPr>
      </p:pic>
      <p:pic>
        <p:nvPicPr>
          <p:cNvPr id="3" name="Picture 2" descr="cse.jpeg"/>
          <p:cNvPicPr>
            <a:picLocks noChangeAspect="1"/>
          </p:cNvPicPr>
          <p:nvPr/>
        </p:nvPicPr>
        <p:blipFill>
          <a:blip r:embed="rId3"/>
          <a:stretch>
            <a:fillRect/>
          </a:stretch>
        </p:blipFill>
        <p:spPr>
          <a:xfrm>
            <a:off x="8534400" y="127000"/>
            <a:ext cx="457200" cy="469900"/>
          </a:xfrm>
          <a:prstGeom prst="rect">
            <a:avLst/>
          </a:prstGeom>
        </p:spPr>
      </p:pic>
      <p:sp>
        <p:nvSpPr>
          <p:cNvPr id="4" name="TextBox 3"/>
          <p:cNvSpPr txBox="1"/>
          <p:nvPr/>
        </p:nvSpPr>
        <p:spPr>
          <a:xfrm>
            <a:off x="762000" y="152400"/>
            <a:ext cx="7620000" cy="558800"/>
          </a:xfrm>
          <a:prstGeom prst="rect">
            <a:avLst/>
          </a:prstGeom>
          <a:noFill/>
        </p:spPr>
        <p:txBody>
          <a:bodyPr wrap="square" lIns="0" rIns="0" tIns="0" bIns="0" anchor="ctr">
            <a:spAutoFit/>
          </a:bodyPr>
          <a:lstStyle/>
          <a:p>
            <a:pPr algn="ctr"/>
            <a:r>
              <a:rPr b="1" sz="3000" i="0">
                <a:solidFill>
                  <a:srgbClr val="000000"/>
                </a:solidFill>
                <a:latin typeface="Times New Roman"/>
              </a:rPr>
              <a:t>Data Flow Diagram</a:t>
            </a:r>
          </a:p>
        </p:txBody>
      </p:sp>
      <p:sp>
        <p:nvSpPr>
          <p:cNvPr id="5" name="Rectangle 4"/>
          <p:cNvSpPr/>
          <p:nvPr/>
        </p:nvSpPr>
        <p:spPr>
          <a:xfrm>
            <a:off x="508000" y="812800"/>
            <a:ext cx="8128000" cy="5080000"/>
          </a:xfrm>
          <a:prstGeom prst="rect">
            <a:avLst/>
          </a:prstGeom>
          <a:solidFill>
            <a:srgbClr val="FAFAFA"/>
          </a:solidFill>
          <a:ln w="12700">
            <a:solidFill>
              <a:srgbClr val="595959"/>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i="1">
                <a:solidFill>
                  <a:srgbClr val="595959"/>
                </a:solidFill>
                <a:latin typeface="Calibri"/>
                <a:highlight>
                  <a:srgbClr val="FFFF00"/>
                </a:highlight>
              </a:rPr>
              <a:t>[Insert image: Level 2 DFD Process 3]</a:t>
            </a:r>
          </a:p>
          <a:p>
            <a:pPr algn="ctr"/>
            <a:r>
              <a:rPr sz="1100" i="1">
                <a:solidFill>
                  <a:srgbClr val="595959"/>
                </a:solidFill>
                <a:latin typeface="Calibri"/>
              </a:rPr>
              <a:t>Attendance – check-in/out, scheduled absent marking, summaries</a:t>
            </a:r>
          </a:p>
        </p:txBody>
      </p:sp>
      <p:sp>
        <p:nvSpPr>
          <p:cNvPr id="6" name="TextBox 5"/>
          <p:cNvSpPr txBox="1"/>
          <p:nvPr/>
        </p:nvSpPr>
        <p:spPr>
          <a:xfrm>
            <a:off x="762000" y="5969000"/>
            <a:ext cx="7620000" cy="304800"/>
          </a:xfrm>
          <a:prstGeom prst="rect">
            <a:avLst/>
          </a:prstGeom>
          <a:noFill/>
        </p:spPr>
        <p:txBody>
          <a:bodyPr wrap="square" lIns="0" rIns="0" tIns="0" bIns="0" anchor="t">
            <a:spAutoFit/>
          </a:bodyPr>
          <a:lstStyle/>
          <a:p>
            <a:pPr algn="ctr"/>
            <a:r>
              <a:rPr b="0" sz="1600" i="0">
                <a:solidFill>
                  <a:srgbClr val="000000"/>
                </a:solidFill>
                <a:latin typeface="Times New Roman"/>
              </a:rPr>
              <a:t>Level 2 DFD Process 3</a:t>
            </a:r>
          </a:p>
        </p:txBody>
      </p:sp>
      <p:sp>
        <p:nvSpPr>
          <p:cNvPr id="7" name="TextBox 6"/>
          <p:cNvSpPr txBox="1"/>
          <p:nvPr/>
        </p:nvSpPr>
        <p:spPr>
          <a:xfrm>
            <a:off x="8382000" y="6578600"/>
            <a:ext cx="635000" cy="228600"/>
          </a:xfrm>
          <a:prstGeom prst="rect">
            <a:avLst/>
          </a:prstGeom>
          <a:noFill/>
        </p:spPr>
        <p:txBody>
          <a:bodyPr wrap="square" lIns="0" rIns="0" tIns="0" bIns="0" anchor="t">
            <a:spAutoFit/>
          </a:bodyPr>
          <a:lstStyle/>
          <a:p>
            <a:pPr algn="r"/>
            <a:r>
              <a:rPr b="0" sz="1200" i="0">
                <a:solidFill>
                  <a:srgbClr val="000000"/>
                </a:solidFill>
                <a:latin typeface="Calibri"/>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ubat.jpeg"/>
          <p:cNvPicPr>
            <a:picLocks noChangeAspect="1"/>
          </p:cNvPicPr>
          <p:nvPr/>
        </p:nvPicPr>
        <p:blipFill>
          <a:blip r:embed="rId2"/>
          <a:stretch>
            <a:fillRect/>
          </a:stretch>
        </p:blipFill>
        <p:spPr>
          <a:xfrm>
            <a:off x="50800" y="88900"/>
            <a:ext cx="609600" cy="533400"/>
          </a:xfrm>
          <a:prstGeom prst="rect">
            <a:avLst/>
          </a:prstGeom>
        </p:spPr>
      </p:pic>
      <p:pic>
        <p:nvPicPr>
          <p:cNvPr id="3" name="Picture 2" descr="cse.jpeg"/>
          <p:cNvPicPr>
            <a:picLocks noChangeAspect="1"/>
          </p:cNvPicPr>
          <p:nvPr/>
        </p:nvPicPr>
        <p:blipFill>
          <a:blip r:embed="rId3"/>
          <a:stretch>
            <a:fillRect/>
          </a:stretch>
        </p:blipFill>
        <p:spPr>
          <a:xfrm>
            <a:off x="8534400" y="127000"/>
            <a:ext cx="457200" cy="469900"/>
          </a:xfrm>
          <a:prstGeom prst="rect">
            <a:avLst/>
          </a:prstGeom>
        </p:spPr>
      </p:pic>
      <p:sp>
        <p:nvSpPr>
          <p:cNvPr id="4" name="TextBox 3"/>
          <p:cNvSpPr txBox="1"/>
          <p:nvPr/>
        </p:nvSpPr>
        <p:spPr>
          <a:xfrm>
            <a:off x="762000" y="152400"/>
            <a:ext cx="7620000" cy="558800"/>
          </a:xfrm>
          <a:prstGeom prst="rect">
            <a:avLst/>
          </a:prstGeom>
          <a:noFill/>
        </p:spPr>
        <p:txBody>
          <a:bodyPr wrap="square" lIns="0" rIns="0" tIns="0" bIns="0" anchor="ctr">
            <a:spAutoFit/>
          </a:bodyPr>
          <a:lstStyle/>
          <a:p>
            <a:pPr algn="ctr"/>
            <a:r>
              <a:rPr b="1" sz="3000" i="0">
                <a:solidFill>
                  <a:srgbClr val="000000"/>
                </a:solidFill>
                <a:latin typeface="Times New Roman"/>
              </a:rPr>
              <a:t>Data Flow Diagram</a:t>
            </a:r>
          </a:p>
        </p:txBody>
      </p:sp>
      <p:sp>
        <p:nvSpPr>
          <p:cNvPr id="5" name="Rectangle 4"/>
          <p:cNvSpPr/>
          <p:nvPr/>
        </p:nvSpPr>
        <p:spPr>
          <a:xfrm>
            <a:off x="508000" y="812800"/>
            <a:ext cx="8128000" cy="5080000"/>
          </a:xfrm>
          <a:prstGeom prst="rect">
            <a:avLst/>
          </a:prstGeom>
          <a:solidFill>
            <a:srgbClr val="FAFAFA"/>
          </a:solidFill>
          <a:ln w="12700">
            <a:solidFill>
              <a:srgbClr val="595959"/>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i="1">
                <a:solidFill>
                  <a:srgbClr val="595959"/>
                </a:solidFill>
                <a:latin typeface="Calibri"/>
                <a:highlight>
                  <a:srgbClr val="FFFF00"/>
                </a:highlight>
              </a:rPr>
              <a:t>[Insert image: Level 2 DFD Process 4]</a:t>
            </a:r>
          </a:p>
          <a:p>
            <a:pPr algn="ctr"/>
            <a:r>
              <a:rPr sz="1100" i="1">
                <a:solidFill>
                  <a:srgbClr val="595959"/>
                </a:solidFill>
                <a:latin typeface="Calibri"/>
              </a:rPr>
              <a:t>Leave Management – submit, approve/reject, On-Leave days</a:t>
            </a:r>
          </a:p>
        </p:txBody>
      </p:sp>
      <p:sp>
        <p:nvSpPr>
          <p:cNvPr id="6" name="TextBox 5"/>
          <p:cNvSpPr txBox="1"/>
          <p:nvPr/>
        </p:nvSpPr>
        <p:spPr>
          <a:xfrm>
            <a:off x="762000" y="5969000"/>
            <a:ext cx="7620000" cy="304800"/>
          </a:xfrm>
          <a:prstGeom prst="rect">
            <a:avLst/>
          </a:prstGeom>
          <a:noFill/>
        </p:spPr>
        <p:txBody>
          <a:bodyPr wrap="square" lIns="0" rIns="0" tIns="0" bIns="0" anchor="t">
            <a:spAutoFit/>
          </a:bodyPr>
          <a:lstStyle/>
          <a:p>
            <a:pPr algn="ctr"/>
            <a:r>
              <a:rPr b="0" sz="1600" i="0">
                <a:solidFill>
                  <a:srgbClr val="000000"/>
                </a:solidFill>
                <a:latin typeface="Times New Roman"/>
              </a:rPr>
              <a:t>Level 2 DFD Process 4</a:t>
            </a:r>
          </a:p>
        </p:txBody>
      </p:sp>
      <p:sp>
        <p:nvSpPr>
          <p:cNvPr id="7" name="TextBox 6"/>
          <p:cNvSpPr txBox="1"/>
          <p:nvPr/>
        </p:nvSpPr>
        <p:spPr>
          <a:xfrm>
            <a:off x="8382000" y="6578600"/>
            <a:ext cx="635000" cy="228600"/>
          </a:xfrm>
          <a:prstGeom prst="rect">
            <a:avLst/>
          </a:prstGeom>
          <a:noFill/>
        </p:spPr>
        <p:txBody>
          <a:bodyPr wrap="square" lIns="0" rIns="0" tIns="0" bIns="0" anchor="t">
            <a:spAutoFit/>
          </a:bodyPr>
          <a:lstStyle/>
          <a:p>
            <a:pPr algn="r"/>
            <a:r>
              <a:rPr b="0" sz="1200" i="0">
                <a:solidFill>
                  <a:srgbClr val="000000"/>
                </a:solidFill>
                <a:latin typeface="Calibri"/>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ubat.jpeg"/>
          <p:cNvPicPr>
            <a:picLocks noChangeAspect="1"/>
          </p:cNvPicPr>
          <p:nvPr/>
        </p:nvPicPr>
        <p:blipFill>
          <a:blip r:embed="rId2"/>
          <a:stretch>
            <a:fillRect/>
          </a:stretch>
        </p:blipFill>
        <p:spPr>
          <a:xfrm>
            <a:off x="50800" y="88900"/>
            <a:ext cx="609600" cy="533400"/>
          </a:xfrm>
          <a:prstGeom prst="rect">
            <a:avLst/>
          </a:prstGeom>
        </p:spPr>
      </p:pic>
      <p:pic>
        <p:nvPicPr>
          <p:cNvPr id="3" name="Picture 2" descr="cse.jpeg"/>
          <p:cNvPicPr>
            <a:picLocks noChangeAspect="1"/>
          </p:cNvPicPr>
          <p:nvPr/>
        </p:nvPicPr>
        <p:blipFill>
          <a:blip r:embed="rId3"/>
          <a:stretch>
            <a:fillRect/>
          </a:stretch>
        </p:blipFill>
        <p:spPr>
          <a:xfrm>
            <a:off x="8534400" y="127000"/>
            <a:ext cx="457200" cy="469900"/>
          </a:xfrm>
          <a:prstGeom prst="rect">
            <a:avLst/>
          </a:prstGeom>
        </p:spPr>
      </p:pic>
      <p:sp>
        <p:nvSpPr>
          <p:cNvPr id="4" name="TextBox 3"/>
          <p:cNvSpPr txBox="1"/>
          <p:nvPr/>
        </p:nvSpPr>
        <p:spPr>
          <a:xfrm>
            <a:off x="762000" y="152400"/>
            <a:ext cx="7620000" cy="558800"/>
          </a:xfrm>
          <a:prstGeom prst="rect">
            <a:avLst/>
          </a:prstGeom>
          <a:noFill/>
        </p:spPr>
        <p:txBody>
          <a:bodyPr wrap="square" lIns="0" rIns="0" tIns="0" bIns="0" anchor="ctr">
            <a:spAutoFit/>
          </a:bodyPr>
          <a:lstStyle/>
          <a:p>
            <a:pPr algn="ctr"/>
            <a:r>
              <a:rPr b="1" sz="3000" i="0">
                <a:solidFill>
                  <a:srgbClr val="000000"/>
                </a:solidFill>
                <a:latin typeface="Times New Roman"/>
              </a:rPr>
              <a:t>Data Flow Diagram</a:t>
            </a:r>
          </a:p>
        </p:txBody>
      </p:sp>
      <p:sp>
        <p:nvSpPr>
          <p:cNvPr id="5" name="Rectangle 4"/>
          <p:cNvSpPr/>
          <p:nvPr/>
        </p:nvSpPr>
        <p:spPr>
          <a:xfrm>
            <a:off x="508000" y="812800"/>
            <a:ext cx="8128000" cy="5080000"/>
          </a:xfrm>
          <a:prstGeom prst="rect">
            <a:avLst/>
          </a:prstGeom>
          <a:solidFill>
            <a:srgbClr val="FAFAFA"/>
          </a:solidFill>
          <a:ln w="12700">
            <a:solidFill>
              <a:srgbClr val="595959"/>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i="1">
                <a:solidFill>
                  <a:srgbClr val="595959"/>
                </a:solidFill>
                <a:latin typeface="Calibri"/>
                <a:highlight>
                  <a:srgbClr val="FFFF00"/>
                </a:highlight>
              </a:rPr>
              <a:t>[Insert image: Level 2 DFD Process 5]</a:t>
            </a:r>
          </a:p>
          <a:p>
            <a:pPr algn="ctr"/>
            <a:r>
              <a:rPr sz="1100" i="1">
                <a:solidFill>
                  <a:srgbClr val="595959"/>
                </a:solidFill>
                <a:latin typeface="Calibri"/>
              </a:rPr>
              <a:t>Payroll – scheduled generation, view, live projection</a:t>
            </a:r>
          </a:p>
        </p:txBody>
      </p:sp>
      <p:sp>
        <p:nvSpPr>
          <p:cNvPr id="6" name="TextBox 5"/>
          <p:cNvSpPr txBox="1"/>
          <p:nvPr/>
        </p:nvSpPr>
        <p:spPr>
          <a:xfrm>
            <a:off x="762000" y="5969000"/>
            <a:ext cx="7620000" cy="304800"/>
          </a:xfrm>
          <a:prstGeom prst="rect">
            <a:avLst/>
          </a:prstGeom>
          <a:noFill/>
        </p:spPr>
        <p:txBody>
          <a:bodyPr wrap="square" lIns="0" rIns="0" tIns="0" bIns="0" anchor="t">
            <a:spAutoFit/>
          </a:bodyPr>
          <a:lstStyle/>
          <a:p>
            <a:pPr algn="ctr"/>
            <a:r>
              <a:rPr b="0" sz="1600" i="0">
                <a:solidFill>
                  <a:srgbClr val="000000"/>
                </a:solidFill>
                <a:latin typeface="Times New Roman"/>
              </a:rPr>
              <a:t>Level 2 DFD Process 5</a:t>
            </a:r>
          </a:p>
        </p:txBody>
      </p:sp>
      <p:sp>
        <p:nvSpPr>
          <p:cNvPr id="7" name="TextBox 6"/>
          <p:cNvSpPr txBox="1"/>
          <p:nvPr/>
        </p:nvSpPr>
        <p:spPr>
          <a:xfrm>
            <a:off x="8382000" y="6578600"/>
            <a:ext cx="635000" cy="228600"/>
          </a:xfrm>
          <a:prstGeom prst="rect">
            <a:avLst/>
          </a:prstGeom>
          <a:noFill/>
        </p:spPr>
        <p:txBody>
          <a:bodyPr wrap="square" lIns="0" rIns="0" tIns="0" bIns="0" anchor="t">
            <a:spAutoFit/>
          </a:bodyPr>
          <a:lstStyle/>
          <a:p>
            <a:pPr algn="r"/>
            <a:r>
              <a:rPr b="0" sz="1200" i="0">
                <a:solidFill>
                  <a:srgbClr val="000000"/>
                </a:solidFill>
                <a:latin typeface="Calibri"/>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ubat.jpeg"/>
          <p:cNvPicPr>
            <a:picLocks noChangeAspect="1"/>
          </p:cNvPicPr>
          <p:nvPr/>
        </p:nvPicPr>
        <p:blipFill>
          <a:blip r:embed="rId2"/>
          <a:stretch>
            <a:fillRect/>
          </a:stretch>
        </p:blipFill>
        <p:spPr>
          <a:xfrm>
            <a:off x="50800" y="88900"/>
            <a:ext cx="609600" cy="533400"/>
          </a:xfrm>
          <a:prstGeom prst="rect">
            <a:avLst/>
          </a:prstGeom>
        </p:spPr>
      </p:pic>
      <p:pic>
        <p:nvPicPr>
          <p:cNvPr id="3" name="Picture 2" descr="cse.jpeg"/>
          <p:cNvPicPr>
            <a:picLocks noChangeAspect="1"/>
          </p:cNvPicPr>
          <p:nvPr/>
        </p:nvPicPr>
        <p:blipFill>
          <a:blip r:embed="rId3"/>
          <a:stretch>
            <a:fillRect/>
          </a:stretch>
        </p:blipFill>
        <p:spPr>
          <a:xfrm>
            <a:off x="8534400" y="127000"/>
            <a:ext cx="457200" cy="469900"/>
          </a:xfrm>
          <a:prstGeom prst="rect">
            <a:avLst/>
          </a:prstGeom>
        </p:spPr>
      </p:pic>
      <p:sp>
        <p:nvSpPr>
          <p:cNvPr id="4" name="TextBox 3"/>
          <p:cNvSpPr txBox="1"/>
          <p:nvPr/>
        </p:nvSpPr>
        <p:spPr>
          <a:xfrm>
            <a:off x="762000" y="152400"/>
            <a:ext cx="7620000" cy="558800"/>
          </a:xfrm>
          <a:prstGeom prst="rect">
            <a:avLst/>
          </a:prstGeom>
          <a:noFill/>
        </p:spPr>
        <p:txBody>
          <a:bodyPr wrap="square" lIns="0" rIns="0" tIns="0" bIns="0" anchor="ctr">
            <a:spAutoFit/>
          </a:bodyPr>
          <a:lstStyle/>
          <a:p>
            <a:pPr algn="ctr"/>
            <a:r>
              <a:rPr b="1" sz="3000" i="0">
                <a:solidFill>
                  <a:srgbClr val="000000"/>
                </a:solidFill>
                <a:latin typeface="Times New Roman"/>
              </a:rPr>
              <a:t>Data Flow Diagram</a:t>
            </a:r>
          </a:p>
        </p:txBody>
      </p:sp>
      <p:sp>
        <p:nvSpPr>
          <p:cNvPr id="5" name="Rectangle 4"/>
          <p:cNvSpPr/>
          <p:nvPr/>
        </p:nvSpPr>
        <p:spPr>
          <a:xfrm>
            <a:off x="508000" y="812800"/>
            <a:ext cx="8128000" cy="5080000"/>
          </a:xfrm>
          <a:prstGeom prst="rect">
            <a:avLst/>
          </a:prstGeom>
          <a:solidFill>
            <a:srgbClr val="FAFAFA"/>
          </a:solidFill>
          <a:ln w="12700">
            <a:solidFill>
              <a:srgbClr val="595959"/>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i="1">
                <a:solidFill>
                  <a:srgbClr val="595959"/>
                </a:solidFill>
                <a:latin typeface="Calibri"/>
                <a:highlight>
                  <a:srgbClr val="FFFF00"/>
                </a:highlight>
              </a:rPr>
              <a:t>[Insert image: Level 2 DFD Process 6]</a:t>
            </a:r>
          </a:p>
          <a:p>
            <a:pPr algn="ctr"/>
            <a:r>
              <a:rPr sz="1100" i="1">
                <a:solidFill>
                  <a:srgbClr val="595959"/>
                </a:solidFill>
                <a:latin typeface="Calibri"/>
              </a:rPr>
              <a:t>AI Assistant – question → tool call → answer + tools used</a:t>
            </a:r>
          </a:p>
        </p:txBody>
      </p:sp>
      <p:sp>
        <p:nvSpPr>
          <p:cNvPr id="6" name="TextBox 5"/>
          <p:cNvSpPr txBox="1"/>
          <p:nvPr/>
        </p:nvSpPr>
        <p:spPr>
          <a:xfrm>
            <a:off x="762000" y="5969000"/>
            <a:ext cx="7620000" cy="304800"/>
          </a:xfrm>
          <a:prstGeom prst="rect">
            <a:avLst/>
          </a:prstGeom>
          <a:noFill/>
        </p:spPr>
        <p:txBody>
          <a:bodyPr wrap="square" lIns="0" rIns="0" tIns="0" bIns="0" anchor="t">
            <a:spAutoFit/>
          </a:bodyPr>
          <a:lstStyle/>
          <a:p>
            <a:pPr algn="ctr"/>
            <a:r>
              <a:rPr b="0" sz="1600" i="0">
                <a:solidFill>
                  <a:srgbClr val="000000"/>
                </a:solidFill>
                <a:latin typeface="Times New Roman"/>
              </a:rPr>
              <a:t>Level 2 DFD Process 6</a:t>
            </a:r>
          </a:p>
        </p:txBody>
      </p:sp>
      <p:sp>
        <p:nvSpPr>
          <p:cNvPr id="7" name="TextBox 6"/>
          <p:cNvSpPr txBox="1"/>
          <p:nvPr/>
        </p:nvSpPr>
        <p:spPr>
          <a:xfrm>
            <a:off x="8382000" y="6578600"/>
            <a:ext cx="635000" cy="228600"/>
          </a:xfrm>
          <a:prstGeom prst="rect">
            <a:avLst/>
          </a:prstGeom>
          <a:noFill/>
        </p:spPr>
        <p:txBody>
          <a:bodyPr wrap="square" lIns="0" rIns="0" tIns="0" bIns="0" anchor="t">
            <a:spAutoFit/>
          </a:bodyPr>
          <a:lstStyle/>
          <a:p>
            <a:pPr algn="r"/>
            <a:r>
              <a:rPr b="0" sz="1200" i="0">
                <a:solidFill>
                  <a:srgbClr val="000000"/>
                </a:solidFill>
                <a:latin typeface="Calibri"/>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ubat.jpeg"/>
          <p:cNvPicPr>
            <a:picLocks noChangeAspect="1"/>
          </p:cNvPicPr>
          <p:nvPr/>
        </p:nvPicPr>
        <p:blipFill>
          <a:blip r:embed="rId2"/>
          <a:stretch>
            <a:fillRect/>
          </a:stretch>
        </p:blipFill>
        <p:spPr>
          <a:xfrm>
            <a:off x="50800" y="88900"/>
            <a:ext cx="609600" cy="533400"/>
          </a:xfrm>
          <a:prstGeom prst="rect">
            <a:avLst/>
          </a:prstGeom>
        </p:spPr>
      </p:pic>
      <p:pic>
        <p:nvPicPr>
          <p:cNvPr id="3" name="Picture 2" descr="cse.jpeg"/>
          <p:cNvPicPr>
            <a:picLocks noChangeAspect="1"/>
          </p:cNvPicPr>
          <p:nvPr/>
        </p:nvPicPr>
        <p:blipFill>
          <a:blip r:embed="rId3"/>
          <a:stretch>
            <a:fillRect/>
          </a:stretch>
        </p:blipFill>
        <p:spPr>
          <a:xfrm>
            <a:off x="8534400" y="127000"/>
            <a:ext cx="457200" cy="469900"/>
          </a:xfrm>
          <a:prstGeom prst="rect">
            <a:avLst/>
          </a:prstGeom>
        </p:spPr>
      </p:pic>
      <p:sp>
        <p:nvSpPr>
          <p:cNvPr id="4" name="TextBox 3"/>
          <p:cNvSpPr txBox="1"/>
          <p:nvPr/>
        </p:nvSpPr>
        <p:spPr>
          <a:xfrm>
            <a:off x="762000" y="152400"/>
            <a:ext cx="7620000" cy="558800"/>
          </a:xfrm>
          <a:prstGeom prst="rect">
            <a:avLst/>
          </a:prstGeom>
          <a:noFill/>
        </p:spPr>
        <p:txBody>
          <a:bodyPr wrap="square" lIns="0" rIns="0" tIns="0" bIns="0" anchor="ctr">
            <a:spAutoFit/>
          </a:bodyPr>
          <a:lstStyle/>
          <a:p>
            <a:pPr algn="ctr"/>
            <a:r>
              <a:rPr b="1" sz="3000" i="0">
                <a:solidFill>
                  <a:srgbClr val="000000"/>
                </a:solidFill>
                <a:latin typeface="Times New Roman"/>
              </a:rPr>
              <a:t>Risk Management</a:t>
            </a:r>
          </a:p>
        </p:txBody>
      </p:sp>
      <p:sp>
        <p:nvSpPr>
          <p:cNvPr id="5" name="TextBox 4"/>
          <p:cNvSpPr txBox="1"/>
          <p:nvPr/>
        </p:nvSpPr>
        <p:spPr>
          <a:xfrm>
            <a:off x="546100" y="1016000"/>
            <a:ext cx="8128000" cy="381000"/>
          </a:xfrm>
          <a:prstGeom prst="rect">
            <a:avLst/>
          </a:prstGeom>
          <a:noFill/>
        </p:spPr>
        <p:txBody>
          <a:bodyPr wrap="square">
            <a:spAutoFit/>
          </a:bodyPr>
          <a:lstStyle/>
          <a:p>
            <a:pPr>
              <a:spcAft>
                <a:spcPts val="800"/>
              </a:spcAft>
            </a:pPr>
            <a:r>
              <a:rPr b="0" sz="1800" i="0">
                <a:solidFill>
                  <a:srgbClr val="000000"/>
                </a:solidFill>
                <a:latin typeface="Times New Roman"/>
              </a:rPr>
              <a:t>Stages of Risk Management-</a:t>
            </a:r>
          </a:p>
        </p:txBody>
      </p:sp>
      <p:sp>
        <p:nvSpPr>
          <p:cNvPr id="6" name="TextBox 5"/>
          <p:cNvSpPr txBox="1"/>
          <p:nvPr/>
        </p:nvSpPr>
        <p:spPr>
          <a:xfrm>
            <a:off x="762000" y="1422400"/>
            <a:ext cx="8128000" cy="1905000"/>
          </a:xfrm>
          <a:prstGeom prst="rect">
            <a:avLst/>
          </a:prstGeom>
          <a:noFill/>
        </p:spPr>
        <p:txBody>
          <a:bodyPr wrap="square" lIns="0" rIns="0">
            <a:spAutoFit/>
          </a:bodyPr>
          <a:lstStyle/>
          <a:p>
            <a:pPr marL="342900" indent="-342900">
              <a:spcAft>
                <a:spcPts val="800"/>
              </a:spcAft>
              <a:buFont typeface="Arial"/>
              <a:buChar char="•"/>
            </a:pPr>
            <a:r>
              <a:rPr b="0" sz="1800" i="0">
                <a:solidFill>
                  <a:srgbClr val="000000"/>
                </a:solidFill>
                <a:latin typeface="Calibri"/>
              </a:rPr>
              <a:t>Risk Identification</a:t>
            </a:r>
          </a:p>
          <a:p>
            <a:pPr marL="342900" indent="-342900">
              <a:spcAft>
                <a:spcPts val="800"/>
              </a:spcAft>
              <a:buFont typeface="Arial"/>
              <a:buChar char="•"/>
            </a:pPr>
            <a:r>
              <a:rPr b="0" sz="1800" i="0">
                <a:solidFill>
                  <a:srgbClr val="000000"/>
                </a:solidFill>
                <a:latin typeface="Calibri"/>
              </a:rPr>
              <a:t>Risk Analysis</a:t>
            </a:r>
          </a:p>
          <a:p>
            <a:pPr marL="342900" indent="-342900">
              <a:spcAft>
                <a:spcPts val="800"/>
              </a:spcAft>
              <a:buFont typeface="Arial"/>
              <a:buChar char="•"/>
            </a:pPr>
            <a:r>
              <a:rPr b="0" sz="1800" i="0">
                <a:solidFill>
                  <a:srgbClr val="000000"/>
                </a:solidFill>
                <a:latin typeface="Calibri"/>
              </a:rPr>
              <a:t>Risk Planning</a:t>
            </a:r>
          </a:p>
          <a:p>
            <a:pPr marL="342900" indent="-342900">
              <a:spcAft>
                <a:spcPts val="800"/>
              </a:spcAft>
              <a:buFont typeface="Arial"/>
              <a:buChar char="•"/>
            </a:pPr>
            <a:r>
              <a:rPr b="0" sz="1800" i="0">
                <a:solidFill>
                  <a:srgbClr val="000000"/>
                </a:solidFill>
                <a:latin typeface="Calibri"/>
              </a:rPr>
              <a:t>Risk Monitoring</a:t>
            </a:r>
          </a:p>
        </p:txBody>
      </p:sp>
      <p:sp>
        <p:nvSpPr>
          <p:cNvPr id="7" name="TextBox 6"/>
          <p:cNvSpPr txBox="1"/>
          <p:nvPr/>
        </p:nvSpPr>
        <p:spPr>
          <a:xfrm>
            <a:off x="546100" y="3683000"/>
            <a:ext cx="8128000" cy="381000"/>
          </a:xfrm>
          <a:prstGeom prst="rect">
            <a:avLst/>
          </a:prstGeom>
          <a:noFill/>
        </p:spPr>
        <p:txBody>
          <a:bodyPr wrap="square">
            <a:spAutoFit/>
          </a:bodyPr>
          <a:lstStyle/>
          <a:p>
            <a:pPr>
              <a:spcAft>
                <a:spcPts val="800"/>
              </a:spcAft>
            </a:pPr>
            <a:r>
              <a:rPr b="0" sz="1800" i="0">
                <a:solidFill>
                  <a:srgbClr val="000000"/>
                </a:solidFill>
                <a:latin typeface="Times New Roman"/>
              </a:rPr>
              <a:t>Categories of Risk-</a:t>
            </a:r>
          </a:p>
        </p:txBody>
      </p:sp>
      <p:sp>
        <p:nvSpPr>
          <p:cNvPr id="8" name="TextBox 7"/>
          <p:cNvSpPr txBox="1"/>
          <p:nvPr/>
        </p:nvSpPr>
        <p:spPr>
          <a:xfrm>
            <a:off x="762000" y="4089400"/>
            <a:ext cx="8128000" cy="1524000"/>
          </a:xfrm>
          <a:prstGeom prst="rect">
            <a:avLst/>
          </a:prstGeom>
          <a:noFill/>
        </p:spPr>
        <p:txBody>
          <a:bodyPr wrap="square" lIns="0" rIns="0">
            <a:spAutoFit/>
          </a:bodyPr>
          <a:lstStyle/>
          <a:p>
            <a:pPr marL="342900" indent="-342900">
              <a:spcAft>
                <a:spcPts val="800"/>
              </a:spcAft>
              <a:buFont typeface="Arial"/>
              <a:buChar char="•"/>
            </a:pPr>
            <a:r>
              <a:rPr b="0" sz="1800" i="0">
                <a:solidFill>
                  <a:srgbClr val="000000"/>
                </a:solidFill>
                <a:latin typeface="Calibri"/>
              </a:rPr>
              <a:t>Technology Risks</a:t>
            </a:r>
          </a:p>
          <a:p>
            <a:pPr marL="342900" indent="-342900">
              <a:spcAft>
                <a:spcPts val="800"/>
              </a:spcAft>
              <a:buFont typeface="Arial"/>
              <a:buChar char="•"/>
            </a:pPr>
            <a:r>
              <a:rPr b="0" sz="1800" i="0">
                <a:solidFill>
                  <a:srgbClr val="000000"/>
                </a:solidFill>
                <a:latin typeface="Calibri"/>
              </a:rPr>
              <a:t>People Risks</a:t>
            </a:r>
          </a:p>
          <a:p>
            <a:pPr marL="342900" indent="-342900">
              <a:spcAft>
                <a:spcPts val="800"/>
              </a:spcAft>
              <a:buFont typeface="Arial"/>
              <a:buChar char="•"/>
            </a:pPr>
            <a:r>
              <a:rPr b="0" sz="1800" i="0">
                <a:solidFill>
                  <a:srgbClr val="000000"/>
                </a:solidFill>
                <a:latin typeface="Calibri"/>
              </a:rPr>
              <a:t>Organizational Risks</a:t>
            </a:r>
          </a:p>
        </p:txBody>
      </p:sp>
      <p:sp>
        <p:nvSpPr>
          <p:cNvPr id="9" name="TextBox 8"/>
          <p:cNvSpPr txBox="1"/>
          <p:nvPr/>
        </p:nvSpPr>
        <p:spPr>
          <a:xfrm>
            <a:off x="8382000" y="6578600"/>
            <a:ext cx="635000" cy="228600"/>
          </a:xfrm>
          <a:prstGeom prst="rect">
            <a:avLst/>
          </a:prstGeom>
          <a:noFill/>
        </p:spPr>
        <p:txBody>
          <a:bodyPr wrap="square" lIns="0" rIns="0" tIns="0" bIns="0" anchor="t">
            <a:spAutoFit/>
          </a:bodyPr>
          <a:lstStyle/>
          <a:p>
            <a:pPr algn="r"/>
            <a:r>
              <a:rPr b="0" sz="1200" i="0">
                <a:solidFill>
                  <a:srgbClr val="000000"/>
                </a:solidFill>
                <a:latin typeface="Calibri"/>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ubat.jpeg"/>
          <p:cNvPicPr>
            <a:picLocks noChangeAspect="1"/>
          </p:cNvPicPr>
          <p:nvPr/>
        </p:nvPicPr>
        <p:blipFill>
          <a:blip r:embed="rId2"/>
          <a:stretch>
            <a:fillRect/>
          </a:stretch>
        </p:blipFill>
        <p:spPr>
          <a:xfrm>
            <a:off x="50800" y="88900"/>
            <a:ext cx="609600" cy="533400"/>
          </a:xfrm>
          <a:prstGeom prst="rect">
            <a:avLst/>
          </a:prstGeom>
        </p:spPr>
      </p:pic>
      <p:pic>
        <p:nvPicPr>
          <p:cNvPr id="3" name="Picture 2" descr="cse.jpeg"/>
          <p:cNvPicPr>
            <a:picLocks noChangeAspect="1"/>
          </p:cNvPicPr>
          <p:nvPr/>
        </p:nvPicPr>
        <p:blipFill>
          <a:blip r:embed="rId3"/>
          <a:stretch>
            <a:fillRect/>
          </a:stretch>
        </p:blipFill>
        <p:spPr>
          <a:xfrm>
            <a:off x="8534400" y="127000"/>
            <a:ext cx="457200" cy="469900"/>
          </a:xfrm>
          <a:prstGeom prst="rect">
            <a:avLst/>
          </a:prstGeom>
        </p:spPr>
      </p:pic>
      <p:sp>
        <p:nvSpPr>
          <p:cNvPr id="4" name="TextBox 3"/>
          <p:cNvSpPr txBox="1"/>
          <p:nvPr/>
        </p:nvSpPr>
        <p:spPr>
          <a:xfrm>
            <a:off x="762000" y="152400"/>
            <a:ext cx="7620000" cy="558800"/>
          </a:xfrm>
          <a:prstGeom prst="rect">
            <a:avLst/>
          </a:prstGeom>
          <a:noFill/>
        </p:spPr>
        <p:txBody>
          <a:bodyPr wrap="square" lIns="0" rIns="0" tIns="0" bIns="0" anchor="ctr">
            <a:spAutoFit/>
          </a:bodyPr>
          <a:lstStyle/>
          <a:p>
            <a:pPr algn="ctr"/>
            <a:r>
              <a:rPr b="1" sz="3000" i="0">
                <a:solidFill>
                  <a:srgbClr val="000000"/>
                </a:solidFill>
                <a:latin typeface="Times New Roman"/>
              </a:rPr>
              <a:t>Risk Identification</a:t>
            </a:r>
          </a:p>
        </p:txBody>
      </p:sp>
      <p:graphicFrame>
        <p:nvGraphicFramePr>
          <p:cNvPr id="5" name="Table 4"/>
          <p:cNvGraphicFramePr>
            <a:graphicFrameLocks noGrp="1"/>
          </p:cNvGraphicFramePr>
          <p:nvPr/>
        </p:nvGraphicFramePr>
        <p:xfrm>
          <a:off x="508000" y="838200"/>
          <a:ext cx="8127999" cy="4876800"/>
        </p:xfrm>
        <a:graphic>
          <a:graphicData uri="http://schemas.openxmlformats.org/drawingml/2006/table">
            <a:tbl>
              <a:tblPr firstRow="0" bandRow="0">
                <a:tableStyleId>{5940675A-B579-460E-94D1-54222C63F5DA}</a:tableStyleId>
              </a:tblPr>
              <a:tblGrid>
                <a:gridCol w="5259294"/>
                <a:gridCol w="2868705"/>
              </a:tblGrid>
              <a:tr h="609600">
                <a:tc>
                  <a:txBody>
                    <a:bodyPr wrap="square"/>
                    <a:lstStyle/>
                    <a:p>
                      <a:r>
                        <a:rPr b="1" sz="1300" i="0">
                          <a:solidFill>
                            <a:srgbClr val="000000"/>
                          </a:solidFill>
                          <a:latin typeface="Calibri"/>
                        </a:rPr>
                        <a:t>Description</a:t>
                      </a:r>
                    </a:p>
                  </a:txBody>
                  <a:tcPr marL="50800" marR="50800" marT="25400" marB="25400">
                    <a:solidFill>
                      <a:srgbClr val="D9D9D9"/>
                    </a:solidFill>
                  </a:tcPr>
                </a:tc>
                <a:tc>
                  <a:txBody>
                    <a:bodyPr wrap="square"/>
                    <a:lstStyle/>
                    <a:p>
                      <a:r>
                        <a:rPr b="1" sz="1300" i="0">
                          <a:solidFill>
                            <a:srgbClr val="000000"/>
                          </a:solidFill>
                          <a:latin typeface="Calibri"/>
                        </a:rPr>
                        <a:t>Risk Area</a:t>
                      </a:r>
                    </a:p>
                  </a:txBody>
                  <a:tcPr marL="50800" marR="50800" marT="25400" marB="25400">
                    <a:solidFill>
                      <a:srgbClr val="D9D9D9"/>
                    </a:solidFill>
                  </a:tcPr>
                </a:tc>
              </a:tr>
              <a:tr h="609600">
                <a:tc>
                  <a:txBody>
                    <a:bodyPr wrap="square"/>
                    <a:lstStyle/>
                    <a:p>
                      <a:r>
                        <a:rPr b="0" sz="1300" i="0">
                          <a:solidFill>
                            <a:srgbClr val="000000"/>
                          </a:solidFill>
                          <a:latin typeface="Calibri"/>
                        </a:rPr>
                        <a:t>Unauthorized users may access employee, salary or attendance data, or a user of one company may reach another company’s data</a:t>
                      </a:r>
                    </a:p>
                  </a:txBody>
                  <a:tcPr marL="50800" marR="50800" marT="25400" marB="25400"/>
                </a:tc>
                <a:tc>
                  <a:txBody>
                    <a:bodyPr wrap="square"/>
                    <a:lstStyle/>
                    <a:p>
                      <a:r>
                        <a:rPr b="0" sz="1300" i="0">
                          <a:solidFill>
                            <a:srgbClr val="000000"/>
                          </a:solidFill>
                          <a:latin typeface="Calibri"/>
                        </a:rPr>
                        <a:t>Tenant Isolation / Access Control</a:t>
                      </a:r>
                    </a:p>
                  </a:txBody>
                  <a:tcPr marL="50800" marR="50800" marT="25400" marB="25400"/>
                </a:tc>
              </a:tr>
              <a:tr h="609600">
                <a:tc>
                  <a:txBody>
                    <a:bodyPr wrap="square"/>
                    <a:lstStyle/>
                    <a:p>
                      <a:r>
                        <a:rPr b="0" sz="1300" i="0">
                          <a:solidFill>
                            <a:srgbClr val="000000"/>
                          </a:solidFill>
                          <a:latin typeface="Calibri"/>
                        </a:rPr>
                        <a:t>The absent-marking job may not run or may mark a late employee absent</a:t>
                      </a:r>
                    </a:p>
                  </a:txBody>
                  <a:tcPr marL="50800" marR="50800" marT="25400" marB="25400"/>
                </a:tc>
                <a:tc>
                  <a:txBody>
                    <a:bodyPr wrap="square"/>
                    <a:lstStyle/>
                    <a:p>
                      <a:r>
                        <a:rPr b="0" sz="1300" i="0">
                          <a:solidFill>
                            <a:srgbClr val="000000"/>
                          </a:solidFill>
                          <a:latin typeface="Calibri"/>
                        </a:rPr>
                        <a:t>Scheduled Jobs / Attendance Integrity</a:t>
                      </a:r>
                    </a:p>
                  </a:txBody>
                  <a:tcPr marL="50800" marR="50800" marT="25400" marB="25400"/>
                </a:tc>
              </a:tr>
              <a:tr h="609600">
                <a:tc>
                  <a:txBody>
                    <a:bodyPr wrap="square"/>
                    <a:lstStyle/>
                    <a:p>
                      <a:r>
                        <a:rPr b="0" sz="1300" i="0">
                          <a:solidFill>
                            <a:srgbClr val="000000"/>
                          </a:solidFill>
                          <a:latin typeface="Calibri"/>
                        </a:rPr>
                        <a:t>Payroll may be generated twice or with wrong deductions</a:t>
                      </a:r>
                    </a:p>
                  </a:txBody>
                  <a:tcPr marL="50800" marR="50800" marT="25400" marB="25400"/>
                </a:tc>
                <a:tc>
                  <a:txBody>
                    <a:bodyPr wrap="square"/>
                    <a:lstStyle/>
                    <a:p>
                      <a:r>
                        <a:rPr b="0" sz="1300" i="0">
                          <a:solidFill>
                            <a:srgbClr val="000000"/>
                          </a:solidFill>
                          <a:latin typeface="Calibri"/>
                        </a:rPr>
                        <a:t>Payroll Integrity</a:t>
                      </a:r>
                    </a:p>
                  </a:txBody>
                  <a:tcPr marL="50800" marR="50800" marT="25400" marB="25400"/>
                </a:tc>
              </a:tr>
              <a:tr h="609600">
                <a:tc>
                  <a:txBody>
                    <a:bodyPr wrap="square"/>
                    <a:lstStyle/>
                    <a:p>
                      <a:r>
                        <a:rPr b="0" sz="1300" i="0">
                          <a:solidFill>
                            <a:srgbClr val="000000"/>
                          </a:solidFill>
                          <a:latin typeface="Calibri"/>
                        </a:rPr>
                        <a:t>The LLM provider may be unavailable, retire the model or answer wrongly</a:t>
                      </a:r>
                    </a:p>
                  </a:txBody>
                  <a:tcPr marL="50800" marR="50800" marT="25400" marB="25400"/>
                </a:tc>
                <a:tc>
                  <a:txBody>
                    <a:bodyPr wrap="square"/>
                    <a:lstStyle/>
                    <a:p>
                      <a:r>
                        <a:rPr b="0" sz="1300" i="0">
                          <a:solidFill>
                            <a:srgbClr val="000000"/>
                          </a:solidFill>
                          <a:latin typeface="Calibri"/>
                        </a:rPr>
                        <a:t>AI Assistant / External Service</a:t>
                      </a:r>
                    </a:p>
                  </a:txBody>
                  <a:tcPr marL="50800" marR="50800" marT="25400" marB="25400"/>
                </a:tc>
              </a:tr>
              <a:tr h="609600">
                <a:tc>
                  <a:txBody>
                    <a:bodyPr wrap="square"/>
                    <a:lstStyle/>
                    <a:p>
                      <a:r>
                        <a:rPr b="0" sz="1300" i="0">
                          <a:solidFill>
                            <a:srgbClr val="000000"/>
                          </a:solidFill>
                          <a:latin typeface="Calibri"/>
                        </a:rPr>
                        <a:t>SQL Server or the API server may become unavailable</a:t>
                      </a:r>
                    </a:p>
                  </a:txBody>
                  <a:tcPr marL="50800" marR="50800" marT="25400" marB="25400"/>
                </a:tc>
                <a:tc>
                  <a:txBody>
                    <a:bodyPr wrap="square"/>
                    <a:lstStyle/>
                    <a:p>
                      <a:r>
                        <a:rPr b="0" sz="1300" i="0">
                          <a:solidFill>
                            <a:srgbClr val="000000"/>
                          </a:solidFill>
                          <a:latin typeface="Calibri"/>
                        </a:rPr>
                        <a:t>Database / System Availability</a:t>
                      </a:r>
                    </a:p>
                  </a:txBody>
                  <a:tcPr marL="50800" marR="50800" marT="25400" marB="25400"/>
                </a:tc>
              </a:tr>
              <a:tr h="609600">
                <a:tc>
                  <a:txBody>
                    <a:bodyPr wrap="square"/>
                    <a:lstStyle/>
                    <a:p>
                      <a:r>
                        <a:rPr b="0" sz="1300" i="0">
                          <a:solidFill>
                            <a:srgbClr val="000000"/>
                          </a:solidFill>
                          <a:latin typeface="Calibri"/>
                        </a:rPr>
                        <a:t>Administrators or employees may operate the system incorrectly</a:t>
                      </a:r>
                    </a:p>
                  </a:txBody>
                  <a:tcPr marL="50800" marR="50800" marT="25400" marB="25400"/>
                </a:tc>
                <a:tc>
                  <a:txBody>
                    <a:bodyPr wrap="square"/>
                    <a:lstStyle/>
                    <a:p>
                      <a:r>
                        <a:rPr b="0" sz="1300" i="0">
                          <a:solidFill>
                            <a:srgbClr val="000000"/>
                          </a:solidFill>
                          <a:latin typeface="Calibri"/>
                        </a:rPr>
                        <a:t>People / Training</a:t>
                      </a:r>
                    </a:p>
                  </a:txBody>
                  <a:tcPr marL="50800" marR="50800" marT="25400" marB="25400"/>
                </a:tc>
              </a:tr>
              <a:tr h="609600">
                <a:tc>
                  <a:txBody>
                    <a:bodyPr wrap="square"/>
                    <a:lstStyle/>
                    <a:p>
                      <a:r>
                        <a:rPr b="0" sz="1300" i="0">
                          <a:solidFill>
                            <a:srgbClr val="000000"/>
                          </a:solidFill>
                          <a:latin typeface="Calibri"/>
                        </a:rPr>
                        <a:t>Changes in shift rules, holidays or deduction policy may create inconsistencies</a:t>
                      </a:r>
                    </a:p>
                  </a:txBody>
                  <a:tcPr marL="50800" marR="50800" marT="25400" marB="25400"/>
                </a:tc>
                <a:tc>
                  <a:txBody>
                    <a:bodyPr wrap="square"/>
                    <a:lstStyle/>
                    <a:p>
                      <a:r>
                        <a:rPr b="0" sz="1300" i="0">
                          <a:solidFill>
                            <a:srgbClr val="000000"/>
                          </a:solidFill>
                          <a:latin typeface="Calibri"/>
                        </a:rPr>
                        <a:t>Organizational / Policy</a:t>
                      </a:r>
                    </a:p>
                  </a:txBody>
                  <a:tcPr marL="50800" marR="50800" marT="25400" marB="25400"/>
                </a:tc>
              </a:tr>
            </a:tbl>
          </a:graphicData>
        </a:graphic>
      </p:graphicFrame>
      <p:sp>
        <p:nvSpPr>
          <p:cNvPr id="6" name="TextBox 5"/>
          <p:cNvSpPr txBox="1"/>
          <p:nvPr/>
        </p:nvSpPr>
        <p:spPr>
          <a:xfrm>
            <a:off x="8382000" y="6578600"/>
            <a:ext cx="635000" cy="228600"/>
          </a:xfrm>
          <a:prstGeom prst="rect">
            <a:avLst/>
          </a:prstGeom>
          <a:noFill/>
        </p:spPr>
        <p:txBody>
          <a:bodyPr wrap="square" lIns="0" rIns="0" tIns="0" bIns="0" anchor="t">
            <a:spAutoFit/>
          </a:bodyPr>
          <a:lstStyle/>
          <a:p>
            <a:pPr algn="r"/>
            <a:r>
              <a:rPr b="0" sz="1200" i="0">
                <a:solidFill>
                  <a:srgbClr val="000000"/>
                </a:solidFill>
                <a:latin typeface="Calibri"/>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ubat.jpeg"/>
          <p:cNvPicPr>
            <a:picLocks noChangeAspect="1"/>
          </p:cNvPicPr>
          <p:nvPr/>
        </p:nvPicPr>
        <p:blipFill>
          <a:blip r:embed="rId2"/>
          <a:stretch>
            <a:fillRect/>
          </a:stretch>
        </p:blipFill>
        <p:spPr>
          <a:xfrm>
            <a:off x="50800" y="88900"/>
            <a:ext cx="609600" cy="533400"/>
          </a:xfrm>
          <a:prstGeom prst="rect">
            <a:avLst/>
          </a:prstGeom>
        </p:spPr>
      </p:pic>
      <p:pic>
        <p:nvPicPr>
          <p:cNvPr id="3" name="Picture 2" descr="cse.jpeg"/>
          <p:cNvPicPr>
            <a:picLocks noChangeAspect="1"/>
          </p:cNvPicPr>
          <p:nvPr/>
        </p:nvPicPr>
        <p:blipFill>
          <a:blip r:embed="rId3"/>
          <a:stretch>
            <a:fillRect/>
          </a:stretch>
        </p:blipFill>
        <p:spPr>
          <a:xfrm>
            <a:off x="8534400" y="127000"/>
            <a:ext cx="457200" cy="469900"/>
          </a:xfrm>
          <a:prstGeom prst="rect">
            <a:avLst/>
          </a:prstGeom>
        </p:spPr>
      </p:pic>
      <p:sp>
        <p:nvSpPr>
          <p:cNvPr id="4" name="TextBox 3"/>
          <p:cNvSpPr txBox="1"/>
          <p:nvPr/>
        </p:nvSpPr>
        <p:spPr>
          <a:xfrm>
            <a:off x="762000" y="152400"/>
            <a:ext cx="7620000" cy="558800"/>
          </a:xfrm>
          <a:prstGeom prst="rect">
            <a:avLst/>
          </a:prstGeom>
          <a:noFill/>
        </p:spPr>
        <p:txBody>
          <a:bodyPr wrap="square" lIns="0" rIns="0" tIns="0" bIns="0" anchor="ctr">
            <a:spAutoFit/>
          </a:bodyPr>
          <a:lstStyle/>
          <a:p>
            <a:pPr algn="ctr"/>
            <a:r>
              <a:rPr b="1" sz="3000" i="0">
                <a:solidFill>
                  <a:srgbClr val="000000"/>
                </a:solidFill>
                <a:latin typeface="Times New Roman"/>
              </a:rPr>
              <a:t>Risk Analysis</a:t>
            </a:r>
          </a:p>
        </p:txBody>
      </p:sp>
      <p:graphicFrame>
        <p:nvGraphicFramePr>
          <p:cNvPr id="5" name="Table 4"/>
          <p:cNvGraphicFramePr>
            <a:graphicFrameLocks noGrp="1"/>
          </p:cNvGraphicFramePr>
          <p:nvPr/>
        </p:nvGraphicFramePr>
        <p:xfrm>
          <a:off x="508000" y="1016000"/>
          <a:ext cx="8127998" cy="4470400"/>
        </p:xfrm>
        <a:graphic>
          <a:graphicData uri="http://schemas.openxmlformats.org/drawingml/2006/table">
            <a:tbl>
              <a:tblPr firstRow="0" bandRow="0">
                <a:tableStyleId>{5940675A-B579-460E-94D1-54222C63F5DA}</a:tableStyleId>
              </a:tblPr>
              <a:tblGrid>
                <a:gridCol w="3483428"/>
                <a:gridCol w="1548190"/>
                <a:gridCol w="1548190"/>
                <a:gridCol w="1548190"/>
              </a:tblGrid>
              <a:tr h="558800">
                <a:tc>
                  <a:txBody>
                    <a:bodyPr wrap="square"/>
                    <a:lstStyle/>
                    <a:p>
                      <a:r>
                        <a:rPr b="1" sz="1400" i="0">
                          <a:solidFill>
                            <a:srgbClr val="000000"/>
                          </a:solidFill>
                          <a:latin typeface="Calibri"/>
                        </a:rPr>
                        <a:t>Risk</a:t>
                      </a:r>
                    </a:p>
                  </a:txBody>
                  <a:tcPr marL="50800" marR="50800" marT="25400" marB="25400">
                    <a:solidFill>
                      <a:srgbClr val="D9D9D9"/>
                    </a:solidFill>
                  </a:tcPr>
                </a:tc>
                <a:tc>
                  <a:txBody>
                    <a:bodyPr wrap="square"/>
                    <a:lstStyle/>
                    <a:p>
                      <a:r>
                        <a:rPr b="1" sz="1400" i="0">
                          <a:solidFill>
                            <a:srgbClr val="000000"/>
                          </a:solidFill>
                          <a:latin typeface="Calibri"/>
                        </a:rPr>
                        <a:t>Probability</a:t>
                      </a:r>
                    </a:p>
                  </a:txBody>
                  <a:tcPr marL="50800" marR="50800" marT="25400" marB="25400">
                    <a:solidFill>
                      <a:srgbClr val="D9D9D9"/>
                    </a:solidFill>
                  </a:tcPr>
                </a:tc>
                <a:tc>
                  <a:txBody>
                    <a:bodyPr wrap="square"/>
                    <a:lstStyle/>
                    <a:p>
                      <a:r>
                        <a:rPr b="1" sz="1400" i="0">
                          <a:solidFill>
                            <a:srgbClr val="000000"/>
                          </a:solidFill>
                          <a:latin typeface="Calibri"/>
                        </a:rPr>
                        <a:t>Impact</a:t>
                      </a:r>
                    </a:p>
                  </a:txBody>
                  <a:tcPr marL="50800" marR="50800" marT="25400" marB="25400">
                    <a:solidFill>
                      <a:srgbClr val="D9D9D9"/>
                    </a:solidFill>
                  </a:tcPr>
                </a:tc>
                <a:tc>
                  <a:txBody>
                    <a:bodyPr wrap="square"/>
                    <a:lstStyle/>
                    <a:p>
                      <a:r>
                        <a:rPr b="1" sz="1400" i="0">
                          <a:solidFill>
                            <a:srgbClr val="000000"/>
                          </a:solidFill>
                          <a:latin typeface="Calibri"/>
                        </a:rPr>
                        <a:t>Risk Level</a:t>
                      </a:r>
                    </a:p>
                  </a:txBody>
                  <a:tcPr marL="50800" marR="50800" marT="25400" marB="25400">
                    <a:solidFill>
                      <a:srgbClr val="D9D9D9"/>
                    </a:solidFill>
                  </a:tcPr>
                </a:tc>
              </a:tr>
              <a:tr h="558800">
                <a:tc>
                  <a:txBody>
                    <a:bodyPr wrap="square"/>
                    <a:lstStyle/>
                    <a:p>
                      <a:r>
                        <a:rPr b="0" sz="1400" i="0">
                          <a:solidFill>
                            <a:srgbClr val="000000"/>
                          </a:solidFill>
                          <a:latin typeface="Calibri"/>
                        </a:rPr>
                        <a:t>Unauthorized / cross-company access</a:t>
                      </a:r>
                    </a:p>
                  </a:txBody>
                  <a:tcPr marL="50800" marR="50800" marT="25400" marB="25400"/>
                </a:tc>
                <a:tc>
                  <a:txBody>
                    <a:bodyPr wrap="square"/>
                    <a:lstStyle/>
                    <a:p>
                      <a:r>
                        <a:rPr b="0" sz="1400" i="0">
                          <a:solidFill>
                            <a:srgbClr val="000000"/>
                          </a:solidFill>
                          <a:latin typeface="Calibri"/>
                        </a:rPr>
                        <a:t>Moderate</a:t>
                      </a:r>
                    </a:p>
                  </a:txBody>
                  <a:tcPr marL="50800" marR="50800" marT="25400" marB="25400"/>
                </a:tc>
                <a:tc>
                  <a:txBody>
                    <a:bodyPr wrap="square"/>
                    <a:lstStyle/>
                    <a:p>
                      <a:r>
                        <a:rPr b="0" sz="1400" i="0">
                          <a:solidFill>
                            <a:srgbClr val="000000"/>
                          </a:solidFill>
                          <a:latin typeface="Calibri"/>
                        </a:rPr>
                        <a:t>Catastrophic</a:t>
                      </a:r>
                    </a:p>
                  </a:txBody>
                  <a:tcPr marL="50800" marR="50800" marT="25400" marB="25400"/>
                </a:tc>
                <a:tc>
                  <a:txBody>
                    <a:bodyPr wrap="square"/>
                    <a:lstStyle/>
                    <a:p>
                      <a:r>
                        <a:rPr b="0" sz="1400" i="0">
                          <a:solidFill>
                            <a:srgbClr val="000000"/>
                          </a:solidFill>
                          <a:latin typeface="Calibri"/>
                        </a:rPr>
                        <a:t>Critical</a:t>
                      </a:r>
                    </a:p>
                  </a:txBody>
                  <a:tcPr marL="50800" marR="50800" marT="25400" marB="25400"/>
                </a:tc>
              </a:tr>
              <a:tr h="558800">
                <a:tc>
                  <a:txBody>
                    <a:bodyPr wrap="square"/>
                    <a:lstStyle/>
                    <a:p>
                      <a:r>
                        <a:rPr b="0" sz="1400" i="0">
                          <a:solidFill>
                            <a:srgbClr val="000000"/>
                          </a:solidFill>
                          <a:latin typeface="Calibri"/>
                        </a:rPr>
                        <a:t>Duplicate or wrong payroll</a:t>
                      </a:r>
                    </a:p>
                  </a:txBody>
                  <a:tcPr marL="50800" marR="50800" marT="25400" marB="25400"/>
                </a:tc>
                <a:tc>
                  <a:txBody>
                    <a:bodyPr wrap="square"/>
                    <a:lstStyle/>
                    <a:p>
                      <a:r>
                        <a:rPr b="0" sz="1400" i="0">
                          <a:solidFill>
                            <a:srgbClr val="000000"/>
                          </a:solidFill>
                          <a:latin typeface="Calibri"/>
                        </a:rPr>
                        <a:t>Moderate</a:t>
                      </a:r>
                    </a:p>
                  </a:txBody>
                  <a:tcPr marL="50800" marR="50800" marT="25400" marB="25400"/>
                </a:tc>
                <a:tc>
                  <a:txBody>
                    <a:bodyPr wrap="square"/>
                    <a:lstStyle/>
                    <a:p>
                      <a:r>
                        <a:rPr b="0" sz="1400" i="0">
                          <a:solidFill>
                            <a:srgbClr val="000000"/>
                          </a:solidFill>
                          <a:latin typeface="Calibri"/>
                        </a:rPr>
                        <a:t>Catastrophic</a:t>
                      </a:r>
                    </a:p>
                  </a:txBody>
                  <a:tcPr marL="50800" marR="50800" marT="25400" marB="25400"/>
                </a:tc>
                <a:tc>
                  <a:txBody>
                    <a:bodyPr wrap="square"/>
                    <a:lstStyle/>
                    <a:p>
                      <a:r>
                        <a:rPr b="0" sz="1400" i="0">
                          <a:solidFill>
                            <a:srgbClr val="000000"/>
                          </a:solidFill>
                          <a:latin typeface="Calibri"/>
                        </a:rPr>
                        <a:t>Critical</a:t>
                      </a:r>
                    </a:p>
                  </a:txBody>
                  <a:tcPr marL="50800" marR="50800" marT="25400" marB="25400"/>
                </a:tc>
              </a:tr>
              <a:tr h="558800">
                <a:tc>
                  <a:txBody>
                    <a:bodyPr wrap="square"/>
                    <a:lstStyle/>
                    <a:p>
                      <a:r>
                        <a:rPr b="0" sz="1400" i="0">
                          <a:solidFill>
                            <a:srgbClr val="000000"/>
                          </a:solidFill>
                          <a:latin typeface="Calibri"/>
                        </a:rPr>
                        <a:t>Incorrect attendance from auto-absent job</a:t>
                      </a:r>
                    </a:p>
                  </a:txBody>
                  <a:tcPr marL="50800" marR="50800" marT="25400" marB="25400"/>
                </a:tc>
                <a:tc>
                  <a:txBody>
                    <a:bodyPr wrap="square"/>
                    <a:lstStyle/>
                    <a:p>
                      <a:r>
                        <a:rPr b="0" sz="1400" i="0">
                          <a:solidFill>
                            <a:srgbClr val="000000"/>
                          </a:solidFill>
                          <a:latin typeface="Calibri"/>
                        </a:rPr>
                        <a:t>High</a:t>
                      </a:r>
                    </a:p>
                  </a:txBody>
                  <a:tcPr marL="50800" marR="50800" marT="25400" marB="25400"/>
                </a:tc>
                <a:tc>
                  <a:txBody>
                    <a:bodyPr wrap="square"/>
                    <a:lstStyle/>
                    <a:p>
                      <a:r>
                        <a:rPr b="0" sz="1400" i="0">
                          <a:solidFill>
                            <a:srgbClr val="000000"/>
                          </a:solidFill>
                          <a:latin typeface="Calibri"/>
                        </a:rPr>
                        <a:t>Serious</a:t>
                      </a:r>
                    </a:p>
                  </a:txBody>
                  <a:tcPr marL="50800" marR="50800" marT="25400" marB="25400"/>
                </a:tc>
                <a:tc>
                  <a:txBody>
                    <a:bodyPr wrap="square"/>
                    <a:lstStyle/>
                    <a:p>
                      <a:r>
                        <a:rPr b="0" sz="1400" i="0">
                          <a:solidFill>
                            <a:srgbClr val="000000"/>
                          </a:solidFill>
                          <a:latin typeface="Calibri"/>
                        </a:rPr>
                        <a:t>High</a:t>
                      </a:r>
                    </a:p>
                  </a:txBody>
                  <a:tcPr marL="50800" marR="50800" marT="25400" marB="25400"/>
                </a:tc>
              </a:tr>
              <a:tr h="558800">
                <a:tc>
                  <a:txBody>
                    <a:bodyPr wrap="square"/>
                    <a:lstStyle/>
                    <a:p>
                      <a:r>
                        <a:rPr b="0" sz="1400" i="0">
                          <a:solidFill>
                            <a:srgbClr val="000000"/>
                          </a:solidFill>
                          <a:latin typeface="Calibri"/>
                        </a:rPr>
                        <a:t>Database or server failure</a:t>
                      </a:r>
                    </a:p>
                  </a:txBody>
                  <a:tcPr marL="50800" marR="50800" marT="25400" marB="25400"/>
                </a:tc>
                <a:tc>
                  <a:txBody>
                    <a:bodyPr wrap="square"/>
                    <a:lstStyle/>
                    <a:p>
                      <a:r>
                        <a:rPr b="0" sz="1400" i="0">
                          <a:solidFill>
                            <a:srgbClr val="000000"/>
                          </a:solidFill>
                          <a:latin typeface="Calibri"/>
                        </a:rPr>
                        <a:t>Moderate</a:t>
                      </a:r>
                    </a:p>
                  </a:txBody>
                  <a:tcPr marL="50800" marR="50800" marT="25400" marB="25400"/>
                </a:tc>
                <a:tc>
                  <a:txBody>
                    <a:bodyPr wrap="square"/>
                    <a:lstStyle/>
                    <a:p>
                      <a:r>
                        <a:rPr b="0" sz="1400" i="0">
                          <a:solidFill>
                            <a:srgbClr val="000000"/>
                          </a:solidFill>
                          <a:latin typeface="Calibri"/>
                        </a:rPr>
                        <a:t>Serious</a:t>
                      </a:r>
                    </a:p>
                  </a:txBody>
                  <a:tcPr marL="50800" marR="50800" marT="25400" marB="25400"/>
                </a:tc>
                <a:tc>
                  <a:txBody>
                    <a:bodyPr wrap="square"/>
                    <a:lstStyle/>
                    <a:p>
                      <a:r>
                        <a:rPr b="0" sz="1400" i="0">
                          <a:solidFill>
                            <a:srgbClr val="000000"/>
                          </a:solidFill>
                          <a:latin typeface="Calibri"/>
                        </a:rPr>
                        <a:t>High</a:t>
                      </a:r>
                    </a:p>
                  </a:txBody>
                  <a:tcPr marL="50800" marR="50800" marT="25400" marB="25400"/>
                </a:tc>
              </a:tr>
              <a:tr h="558800">
                <a:tc>
                  <a:txBody>
                    <a:bodyPr wrap="square"/>
                    <a:lstStyle/>
                    <a:p>
                      <a:r>
                        <a:rPr b="0" sz="1400" i="0">
                          <a:solidFill>
                            <a:srgbClr val="000000"/>
                          </a:solidFill>
                          <a:latin typeface="Calibri"/>
                        </a:rPr>
                        <a:t>LLM provider failure / wrong answer</a:t>
                      </a:r>
                    </a:p>
                  </a:txBody>
                  <a:tcPr marL="50800" marR="50800" marT="25400" marB="25400"/>
                </a:tc>
                <a:tc>
                  <a:txBody>
                    <a:bodyPr wrap="square"/>
                    <a:lstStyle/>
                    <a:p>
                      <a:r>
                        <a:rPr b="0" sz="1400" i="0">
                          <a:solidFill>
                            <a:srgbClr val="000000"/>
                          </a:solidFill>
                          <a:latin typeface="Calibri"/>
                        </a:rPr>
                        <a:t>High</a:t>
                      </a:r>
                    </a:p>
                  </a:txBody>
                  <a:tcPr marL="50800" marR="50800" marT="25400" marB="25400"/>
                </a:tc>
                <a:tc>
                  <a:txBody>
                    <a:bodyPr wrap="square"/>
                    <a:lstStyle/>
                    <a:p>
                      <a:r>
                        <a:rPr b="0" sz="1400" i="0">
                          <a:solidFill>
                            <a:srgbClr val="000000"/>
                          </a:solidFill>
                          <a:latin typeface="Calibri"/>
                        </a:rPr>
                        <a:t>Tolerable</a:t>
                      </a:r>
                    </a:p>
                  </a:txBody>
                  <a:tcPr marL="50800" marR="50800" marT="25400" marB="25400"/>
                </a:tc>
                <a:tc>
                  <a:txBody>
                    <a:bodyPr wrap="square"/>
                    <a:lstStyle/>
                    <a:p>
                      <a:r>
                        <a:rPr b="0" sz="1400" i="0">
                          <a:solidFill>
                            <a:srgbClr val="000000"/>
                          </a:solidFill>
                          <a:latin typeface="Calibri"/>
                        </a:rPr>
                        <a:t>Medium</a:t>
                      </a:r>
                    </a:p>
                  </a:txBody>
                  <a:tcPr marL="50800" marR="50800" marT="25400" marB="25400"/>
                </a:tc>
              </a:tr>
              <a:tr h="558800">
                <a:tc>
                  <a:txBody>
                    <a:bodyPr wrap="square"/>
                    <a:lstStyle/>
                    <a:p>
                      <a:r>
                        <a:rPr b="0" sz="1400" i="0">
                          <a:solidFill>
                            <a:srgbClr val="000000"/>
                          </a:solidFill>
                          <a:latin typeface="Calibri"/>
                        </a:rPr>
                        <a:t>User operation error</a:t>
                      </a:r>
                    </a:p>
                  </a:txBody>
                  <a:tcPr marL="50800" marR="50800" marT="25400" marB="25400"/>
                </a:tc>
                <a:tc>
                  <a:txBody>
                    <a:bodyPr wrap="square"/>
                    <a:lstStyle/>
                    <a:p>
                      <a:r>
                        <a:rPr b="0" sz="1400" i="0">
                          <a:solidFill>
                            <a:srgbClr val="000000"/>
                          </a:solidFill>
                          <a:latin typeface="Calibri"/>
                        </a:rPr>
                        <a:t>Moderate</a:t>
                      </a:r>
                    </a:p>
                  </a:txBody>
                  <a:tcPr marL="50800" marR="50800" marT="25400" marB="25400"/>
                </a:tc>
                <a:tc>
                  <a:txBody>
                    <a:bodyPr wrap="square"/>
                    <a:lstStyle/>
                    <a:p>
                      <a:r>
                        <a:rPr b="0" sz="1400" i="0">
                          <a:solidFill>
                            <a:srgbClr val="000000"/>
                          </a:solidFill>
                          <a:latin typeface="Calibri"/>
                        </a:rPr>
                        <a:t>Tolerable</a:t>
                      </a:r>
                    </a:p>
                  </a:txBody>
                  <a:tcPr marL="50800" marR="50800" marT="25400" marB="25400"/>
                </a:tc>
                <a:tc>
                  <a:txBody>
                    <a:bodyPr wrap="square"/>
                    <a:lstStyle/>
                    <a:p>
                      <a:r>
                        <a:rPr b="0" sz="1400" i="0">
                          <a:solidFill>
                            <a:srgbClr val="000000"/>
                          </a:solidFill>
                          <a:latin typeface="Calibri"/>
                        </a:rPr>
                        <a:t>Medium</a:t>
                      </a:r>
                    </a:p>
                  </a:txBody>
                  <a:tcPr marL="50800" marR="50800" marT="25400" marB="25400"/>
                </a:tc>
              </a:tr>
              <a:tr h="558800">
                <a:tc>
                  <a:txBody>
                    <a:bodyPr wrap="square"/>
                    <a:lstStyle/>
                    <a:p>
                      <a:r>
                        <a:rPr b="0" sz="1400" i="0">
                          <a:solidFill>
                            <a:srgbClr val="000000"/>
                          </a:solidFill>
                          <a:latin typeface="Calibri"/>
                        </a:rPr>
                        <a:t>Policy / organizational inconsistency</a:t>
                      </a:r>
                    </a:p>
                  </a:txBody>
                  <a:tcPr marL="50800" marR="50800" marT="25400" marB="25400"/>
                </a:tc>
                <a:tc>
                  <a:txBody>
                    <a:bodyPr wrap="square"/>
                    <a:lstStyle/>
                    <a:p>
                      <a:r>
                        <a:rPr b="0" sz="1400" i="0">
                          <a:solidFill>
                            <a:srgbClr val="000000"/>
                          </a:solidFill>
                          <a:latin typeface="Calibri"/>
                        </a:rPr>
                        <a:t>Moderate</a:t>
                      </a:r>
                    </a:p>
                  </a:txBody>
                  <a:tcPr marL="50800" marR="50800" marT="25400" marB="25400"/>
                </a:tc>
                <a:tc>
                  <a:txBody>
                    <a:bodyPr wrap="square"/>
                    <a:lstStyle/>
                    <a:p>
                      <a:r>
                        <a:rPr b="0" sz="1400" i="0">
                          <a:solidFill>
                            <a:srgbClr val="000000"/>
                          </a:solidFill>
                          <a:latin typeface="Calibri"/>
                        </a:rPr>
                        <a:t>Tolerable</a:t>
                      </a:r>
                    </a:p>
                  </a:txBody>
                  <a:tcPr marL="50800" marR="50800" marT="25400" marB="25400"/>
                </a:tc>
                <a:tc>
                  <a:txBody>
                    <a:bodyPr wrap="square"/>
                    <a:lstStyle/>
                    <a:p>
                      <a:r>
                        <a:rPr b="0" sz="1400" i="0">
                          <a:solidFill>
                            <a:srgbClr val="000000"/>
                          </a:solidFill>
                          <a:latin typeface="Calibri"/>
                        </a:rPr>
                        <a:t>Medium</a:t>
                      </a:r>
                    </a:p>
                  </a:txBody>
                  <a:tcPr marL="50800" marR="50800" marT="25400" marB="25400"/>
                </a:tc>
              </a:tr>
            </a:tbl>
          </a:graphicData>
        </a:graphic>
      </p:graphicFrame>
      <p:sp>
        <p:nvSpPr>
          <p:cNvPr id="6" name="TextBox 5"/>
          <p:cNvSpPr txBox="1"/>
          <p:nvPr/>
        </p:nvSpPr>
        <p:spPr>
          <a:xfrm>
            <a:off x="8382000" y="6578600"/>
            <a:ext cx="635000" cy="228600"/>
          </a:xfrm>
          <a:prstGeom prst="rect">
            <a:avLst/>
          </a:prstGeom>
          <a:noFill/>
        </p:spPr>
        <p:txBody>
          <a:bodyPr wrap="square" lIns="0" rIns="0" tIns="0" bIns="0" anchor="t">
            <a:spAutoFit/>
          </a:bodyPr>
          <a:lstStyle/>
          <a:p>
            <a:pPr algn="r"/>
            <a:r>
              <a:rPr b="0" sz="1200" i="0">
                <a:solidFill>
                  <a:srgbClr val="000000"/>
                </a:solidFill>
                <a:latin typeface="Calibri"/>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ubat.jpeg"/>
          <p:cNvPicPr>
            <a:picLocks noChangeAspect="1"/>
          </p:cNvPicPr>
          <p:nvPr/>
        </p:nvPicPr>
        <p:blipFill>
          <a:blip r:embed="rId2"/>
          <a:stretch>
            <a:fillRect/>
          </a:stretch>
        </p:blipFill>
        <p:spPr>
          <a:xfrm>
            <a:off x="50800" y="88900"/>
            <a:ext cx="609600" cy="533400"/>
          </a:xfrm>
          <a:prstGeom prst="rect">
            <a:avLst/>
          </a:prstGeom>
        </p:spPr>
      </p:pic>
      <p:pic>
        <p:nvPicPr>
          <p:cNvPr id="3" name="Picture 2" descr="cse.jpeg"/>
          <p:cNvPicPr>
            <a:picLocks noChangeAspect="1"/>
          </p:cNvPicPr>
          <p:nvPr/>
        </p:nvPicPr>
        <p:blipFill>
          <a:blip r:embed="rId3"/>
          <a:stretch>
            <a:fillRect/>
          </a:stretch>
        </p:blipFill>
        <p:spPr>
          <a:xfrm>
            <a:off x="8534400" y="127000"/>
            <a:ext cx="457200" cy="469900"/>
          </a:xfrm>
          <a:prstGeom prst="rect">
            <a:avLst/>
          </a:prstGeom>
        </p:spPr>
      </p:pic>
      <p:sp>
        <p:nvSpPr>
          <p:cNvPr id="4" name="TextBox 3"/>
          <p:cNvSpPr txBox="1"/>
          <p:nvPr/>
        </p:nvSpPr>
        <p:spPr>
          <a:xfrm>
            <a:off x="762000" y="152400"/>
            <a:ext cx="7620000" cy="558800"/>
          </a:xfrm>
          <a:prstGeom prst="rect">
            <a:avLst/>
          </a:prstGeom>
          <a:noFill/>
        </p:spPr>
        <p:txBody>
          <a:bodyPr wrap="square" lIns="0" rIns="0" tIns="0" bIns="0" anchor="ctr">
            <a:spAutoFit/>
          </a:bodyPr>
          <a:lstStyle/>
          <a:p>
            <a:pPr algn="ctr"/>
            <a:r>
              <a:rPr b="1" sz="3000" i="0">
                <a:solidFill>
                  <a:srgbClr val="000000"/>
                </a:solidFill>
                <a:latin typeface="Times New Roman"/>
              </a:rPr>
              <a:t>Risk Planning</a:t>
            </a:r>
          </a:p>
        </p:txBody>
      </p:sp>
      <p:graphicFrame>
        <p:nvGraphicFramePr>
          <p:cNvPr id="5" name="Table 4"/>
          <p:cNvGraphicFramePr>
            <a:graphicFrameLocks noGrp="1"/>
          </p:cNvGraphicFramePr>
          <p:nvPr/>
        </p:nvGraphicFramePr>
        <p:xfrm>
          <a:off x="508000" y="889000"/>
          <a:ext cx="8127999" cy="4572000"/>
        </p:xfrm>
        <a:graphic>
          <a:graphicData uri="http://schemas.openxmlformats.org/drawingml/2006/table">
            <a:tbl>
              <a:tblPr firstRow="0" bandRow="0">
                <a:tableStyleId>{5940675A-B579-460E-94D1-54222C63F5DA}</a:tableStyleId>
              </a:tblPr>
              <a:tblGrid>
                <a:gridCol w="2257777"/>
                <a:gridCol w="5870222"/>
              </a:tblGrid>
              <a:tr h="762000">
                <a:tc>
                  <a:txBody>
                    <a:bodyPr wrap="square"/>
                    <a:lstStyle/>
                    <a:p>
                      <a:r>
                        <a:rPr b="1" sz="1300" i="0">
                          <a:solidFill>
                            <a:srgbClr val="000000"/>
                          </a:solidFill>
                          <a:latin typeface="Calibri"/>
                        </a:rPr>
                        <a:t>Risk</a:t>
                      </a:r>
                    </a:p>
                  </a:txBody>
                  <a:tcPr marL="50800" marR="50800" marT="25400" marB="25400">
                    <a:solidFill>
                      <a:srgbClr val="D9D9D9"/>
                    </a:solidFill>
                  </a:tcPr>
                </a:tc>
                <a:tc>
                  <a:txBody>
                    <a:bodyPr wrap="square"/>
                    <a:lstStyle/>
                    <a:p>
                      <a:r>
                        <a:rPr b="1" sz="1300" i="0">
                          <a:solidFill>
                            <a:srgbClr val="000000"/>
                          </a:solidFill>
                          <a:latin typeface="Calibri"/>
                        </a:rPr>
                        <a:t>Avoidance Strategy</a:t>
                      </a:r>
                    </a:p>
                  </a:txBody>
                  <a:tcPr marL="50800" marR="50800" marT="25400" marB="25400">
                    <a:solidFill>
                      <a:srgbClr val="D9D9D9"/>
                    </a:solidFill>
                  </a:tcPr>
                </a:tc>
              </a:tr>
              <a:tr h="762000">
                <a:tc>
                  <a:txBody>
                    <a:bodyPr wrap="square"/>
                    <a:lstStyle/>
                    <a:p>
                      <a:r>
                        <a:rPr b="0" sz="1300" i="0">
                          <a:solidFill>
                            <a:srgbClr val="000000"/>
                          </a:solidFill>
                          <a:latin typeface="Calibri"/>
                        </a:rPr>
                        <a:t>Unauthorized access</a:t>
                      </a:r>
                    </a:p>
                  </a:txBody>
                  <a:tcPr marL="50800" marR="50800" marT="25400" marB="25400"/>
                </a:tc>
                <a:tc>
                  <a:txBody>
                    <a:bodyPr wrap="square"/>
                    <a:lstStyle/>
                    <a:p>
                      <a:r>
                        <a:rPr b="0" sz="1300" i="0">
                          <a:solidFill>
                            <a:srgbClr val="000000"/>
                          </a:solidFill>
                          <a:latin typeface="Calibri"/>
                        </a:rPr>
                        <a:t>JWT bearer auth on every endpoint, role-based [Authorize], company id from token only, BCrypt hashing, refresh-token rotation</a:t>
                      </a:r>
                    </a:p>
                  </a:txBody>
                  <a:tcPr marL="50800" marR="50800" marT="25400" marB="25400"/>
                </a:tc>
              </a:tr>
              <a:tr h="762000">
                <a:tc>
                  <a:txBody>
                    <a:bodyPr wrap="square"/>
                    <a:lstStyle/>
                    <a:p>
                      <a:r>
                        <a:rPr b="0" sz="1300" i="0">
                          <a:solidFill>
                            <a:srgbClr val="000000"/>
                          </a:solidFill>
                          <a:latin typeface="Calibri"/>
                        </a:rPr>
                        <a:t>Incorrect attendance</a:t>
                      </a:r>
                    </a:p>
                  </a:txBody>
                  <a:tcPr marL="50800" marR="50800" marT="25400" marB="25400"/>
                </a:tc>
                <a:tc>
                  <a:txBody>
                    <a:bodyPr wrap="square"/>
                    <a:lstStyle/>
                    <a:p>
                      <a:r>
                        <a:rPr b="0" sz="1300" i="0">
                          <a:solidFill>
                            <a:srgbClr val="000000"/>
                          </a:solidFill>
                          <a:latin typeface="Calibri"/>
                        </a:rPr>
                        <a:t>Idempotent stored procedure, holiday calendar, approved-leave exclusion, startup catch-up, Absent→Late conversion</a:t>
                      </a:r>
                    </a:p>
                  </a:txBody>
                  <a:tcPr marL="50800" marR="50800" marT="25400" marB="25400"/>
                </a:tc>
              </a:tr>
              <a:tr h="762000">
                <a:tc>
                  <a:txBody>
                    <a:bodyPr wrap="square"/>
                    <a:lstStyle/>
                    <a:p>
                      <a:r>
                        <a:rPr b="0" sz="1300" i="0">
                          <a:solidFill>
                            <a:srgbClr val="000000"/>
                          </a:solidFill>
                          <a:latin typeface="Calibri"/>
                        </a:rPr>
                        <a:t>Wrong / duplicate payroll</a:t>
                      </a:r>
                    </a:p>
                  </a:txBody>
                  <a:tcPr marL="50800" marR="50800" marT="25400" marB="25400"/>
                </a:tc>
                <a:tc>
                  <a:txBody>
                    <a:bodyPr wrap="square"/>
                    <a:lstStyle/>
                    <a:p>
                      <a:r>
                        <a:rPr b="0" sz="1300" i="0">
                          <a:solidFill>
                            <a:srgbClr val="000000"/>
                          </a:solidFill>
                          <a:latin typeface="Calibri"/>
                        </a:rPr>
                        <a:t>Existence check before generation; single deduction formula shared by generation and live projection</a:t>
                      </a:r>
                    </a:p>
                  </a:txBody>
                  <a:tcPr marL="50800" marR="50800" marT="25400" marB="25400"/>
                </a:tc>
              </a:tr>
              <a:tr h="762000">
                <a:tc>
                  <a:txBody>
                    <a:bodyPr wrap="square"/>
                    <a:lstStyle/>
                    <a:p>
                      <a:r>
                        <a:rPr b="0" sz="1300" i="0">
                          <a:solidFill>
                            <a:srgbClr val="000000"/>
                          </a:solidFill>
                          <a:latin typeface="Calibri"/>
                        </a:rPr>
                        <a:t>LLM failure</a:t>
                      </a:r>
                    </a:p>
                  </a:txBody>
                  <a:tcPr marL="50800" marR="50800" marT="25400" marB="25400"/>
                </a:tc>
                <a:tc>
                  <a:txBody>
                    <a:bodyPr wrap="square"/>
                    <a:lstStyle/>
                    <a:p>
                      <a:r>
                        <a:rPr b="0" sz="1300" i="0">
                          <a:solidFill>
                            <a:srgbClr val="000000"/>
                          </a:solidFill>
                          <a:latin typeface="Calibri"/>
                        </a:rPr>
                        <a:t>Provider-agnostic client (model configurable), read-only company-scoped tools, prompt forbids inventing data, toolsUsed returned</a:t>
                      </a:r>
                    </a:p>
                  </a:txBody>
                  <a:tcPr marL="50800" marR="50800" marT="25400" marB="25400"/>
                </a:tc>
              </a:tr>
              <a:tr h="762000">
                <a:tc>
                  <a:txBody>
                    <a:bodyPr wrap="square"/>
                    <a:lstStyle/>
                    <a:p>
                      <a:r>
                        <a:rPr b="0" sz="1300" i="0">
                          <a:solidFill>
                            <a:srgbClr val="000000"/>
                          </a:solidFill>
                          <a:latin typeface="Calibri"/>
                        </a:rPr>
                        <a:t>Database / server failure</a:t>
                      </a:r>
                    </a:p>
                  </a:txBody>
                  <a:tcPr marL="50800" marR="50800" marT="25400" marB="25400"/>
                </a:tc>
                <a:tc>
                  <a:txBody>
                    <a:bodyPr wrap="square"/>
                    <a:lstStyle/>
                    <a:p>
                      <a:r>
                        <a:rPr b="0" sz="1300" i="0">
                          <a:solidFill>
                            <a:srgbClr val="000000"/>
                          </a:solidFill>
                          <a:latin typeface="Calibri"/>
                        </a:rPr>
                        <a:t>Regular backups, EF Core transactions, health monitoring, automatic job recovery</a:t>
                      </a:r>
                    </a:p>
                  </a:txBody>
                  <a:tcPr marL="50800" marR="50800" marT="25400" marB="25400"/>
                </a:tc>
              </a:tr>
            </a:tbl>
          </a:graphicData>
        </a:graphic>
      </p:graphicFrame>
      <p:sp>
        <p:nvSpPr>
          <p:cNvPr id="6" name="TextBox 5"/>
          <p:cNvSpPr txBox="1"/>
          <p:nvPr/>
        </p:nvSpPr>
        <p:spPr>
          <a:xfrm>
            <a:off x="8382000" y="6578600"/>
            <a:ext cx="635000" cy="228600"/>
          </a:xfrm>
          <a:prstGeom prst="rect">
            <a:avLst/>
          </a:prstGeom>
          <a:noFill/>
        </p:spPr>
        <p:txBody>
          <a:bodyPr wrap="square" lIns="0" rIns="0" tIns="0" bIns="0" anchor="t">
            <a:spAutoFit/>
          </a:bodyPr>
          <a:lstStyle/>
          <a:p>
            <a:pPr algn="r"/>
            <a:r>
              <a:rPr b="0" sz="1200" i="0">
                <a:solidFill>
                  <a:srgbClr val="000000"/>
                </a:solidFill>
                <a:latin typeface="Calibri"/>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ubat.jpeg"/>
          <p:cNvPicPr>
            <a:picLocks noChangeAspect="1"/>
          </p:cNvPicPr>
          <p:nvPr/>
        </p:nvPicPr>
        <p:blipFill>
          <a:blip r:embed="rId2"/>
          <a:stretch>
            <a:fillRect/>
          </a:stretch>
        </p:blipFill>
        <p:spPr>
          <a:xfrm>
            <a:off x="50800" y="88900"/>
            <a:ext cx="609600" cy="533400"/>
          </a:xfrm>
          <a:prstGeom prst="rect">
            <a:avLst/>
          </a:prstGeom>
        </p:spPr>
      </p:pic>
      <p:pic>
        <p:nvPicPr>
          <p:cNvPr id="3" name="Picture 2" descr="cse.jpeg"/>
          <p:cNvPicPr>
            <a:picLocks noChangeAspect="1"/>
          </p:cNvPicPr>
          <p:nvPr/>
        </p:nvPicPr>
        <p:blipFill>
          <a:blip r:embed="rId3"/>
          <a:stretch>
            <a:fillRect/>
          </a:stretch>
        </p:blipFill>
        <p:spPr>
          <a:xfrm>
            <a:off x="8534400" y="127000"/>
            <a:ext cx="457200" cy="469900"/>
          </a:xfrm>
          <a:prstGeom prst="rect">
            <a:avLst/>
          </a:prstGeom>
        </p:spPr>
      </p:pic>
      <p:sp>
        <p:nvSpPr>
          <p:cNvPr id="4" name="TextBox 3"/>
          <p:cNvSpPr txBox="1"/>
          <p:nvPr/>
        </p:nvSpPr>
        <p:spPr>
          <a:xfrm>
            <a:off x="762000" y="152400"/>
            <a:ext cx="7620000" cy="558800"/>
          </a:xfrm>
          <a:prstGeom prst="rect">
            <a:avLst/>
          </a:prstGeom>
          <a:noFill/>
        </p:spPr>
        <p:txBody>
          <a:bodyPr wrap="square" lIns="0" rIns="0" tIns="0" bIns="0" anchor="ctr">
            <a:spAutoFit/>
          </a:bodyPr>
          <a:lstStyle/>
          <a:p>
            <a:pPr algn="ctr"/>
            <a:r>
              <a:rPr b="1" sz="3000" i="0">
                <a:solidFill>
                  <a:srgbClr val="000000"/>
                </a:solidFill>
                <a:latin typeface="Times New Roman"/>
              </a:rPr>
              <a:t>Risk Monitoring</a:t>
            </a:r>
          </a:p>
        </p:txBody>
      </p:sp>
      <p:graphicFrame>
        <p:nvGraphicFramePr>
          <p:cNvPr id="5" name="Table 4"/>
          <p:cNvGraphicFramePr>
            <a:graphicFrameLocks noGrp="1"/>
          </p:cNvGraphicFramePr>
          <p:nvPr/>
        </p:nvGraphicFramePr>
        <p:xfrm>
          <a:off x="508000" y="1143000"/>
          <a:ext cx="8127999" cy="3962400"/>
        </p:xfrm>
        <a:graphic>
          <a:graphicData uri="http://schemas.openxmlformats.org/drawingml/2006/table">
            <a:tbl>
              <a:tblPr firstRow="0" bandRow="0">
                <a:tableStyleId>{5940675A-B579-460E-94D1-54222C63F5DA}</a:tableStyleId>
              </a:tblPr>
              <a:tblGrid>
                <a:gridCol w="2709333"/>
                <a:gridCol w="5418666"/>
              </a:tblGrid>
              <a:tr h="660400">
                <a:tc>
                  <a:txBody>
                    <a:bodyPr wrap="square"/>
                    <a:lstStyle/>
                    <a:p>
                      <a:r>
                        <a:rPr b="1" sz="1400" i="0">
                          <a:solidFill>
                            <a:srgbClr val="000000"/>
                          </a:solidFill>
                          <a:latin typeface="Calibri"/>
                        </a:rPr>
                        <a:t>Risk Area</a:t>
                      </a:r>
                    </a:p>
                  </a:txBody>
                  <a:tcPr marL="50800" marR="50800" marT="25400" marB="25400">
                    <a:solidFill>
                      <a:srgbClr val="D9D9D9"/>
                    </a:solidFill>
                  </a:tcPr>
                </a:tc>
                <a:tc>
                  <a:txBody>
                    <a:bodyPr wrap="square"/>
                    <a:lstStyle/>
                    <a:p>
                      <a:r>
                        <a:rPr b="1" sz="1400" i="0">
                          <a:solidFill>
                            <a:srgbClr val="000000"/>
                          </a:solidFill>
                          <a:latin typeface="Calibri"/>
                        </a:rPr>
                        <a:t>Monitoring Indicator</a:t>
                      </a:r>
                    </a:p>
                  </a:txBody>
                  <a:tcPr marL="50800" marR="50800" marT="25400" marB="25400">
                    <a:solidFill>
                      <a:srgbClr val="D9D9D9"/>
                    </a:solidFill>
                  </a:tcPr>
                </a:tc>
              </a:tr>
              <a:tr h="660400">
                <a:tc>
                  <a:txBody>
                    <a:bodyPr wrap="square"/>
                    <a:lstStyle/>
                    <a:p>
                      <a:r>
                        <a:rPr b="0" sz="1400" i="0">
                          <a:solidFill>
                            <a:srgbClr val="000000"/>
                          </a:solidFill>
                          <a:latin typeface="Calibri"/>
                        </a:rPr>
                        <a:t>Security / tenant isolation</a:t>
                      </a:r>
                    </a:p>
                  </a:txBody>
                  <a:tcPr marL="50800" marR="50800" marT="25400" marB="25400"/>
                </a:tc>
                <a:tc>
                  <a:txBody>
                    <a:bodyPr wrap="square"/>
                    <a:lstStyle/>
                    <a:p>
                      <a:r>
                        <a:rPr b="0" sz="1400" i="0">
                          <a:solidFill>
                            <a:srgbClr val="000000"/>
                          </a:solidFill>
                          <a:latin typeface="Calibri"/>
                        </a:rPr>
                        <a:t>Failed login attempts, 401/403 rates, cross-company record leaks in tests</a:t>
                      </a:r>
                    </a:p>
                  </a:txBody>
                  <a:tcPr marL="50800" marR="50800" marT="25400" marB="25400"/>
                </a:tc>
              </a:tr>
              <a:tr h="660400">
                <a:tc>
                  <a:txBody>
                    <a:bodyPr wrap="square"/>
                    <a:lstStyle/>
                    <a:p>
                      <a:r>
                        <a:rPr b="0" sz="1400" i="0">
                          <a:solidFill>
                            <a:srgbClr val="000000"/>
                          </a:solidFill>
                          <a:latin typeface="Calibri"/>
                        </a:rPr>
                        <a:t>Attendance integrity</a:t>
                      </a:r>
                    </a:p>
                  </a:txBody>
                  <a:tcPr marL="50800" marR="50800" marT="25400" marB="25400"/>
                </a:tc>
                <a:tc>
                  <a:txBody>
                    <a:bodyPr wrap="square"/>
                    <a:lstStyle/>
                    <a:p>
                      <a:r>
                        <a:rPr b="0" sz="1400" i="0">
                          <a:solidFill>
                            <a:srgbClr val="000000"/>
                          </a:solidFill>
                          <a:latin typeface="Calibri"/>
                        </a:rPr>
                        <a:t>Absent→Late conversions, days the job did not run, manual corrections per month</a:t>
                      </a:r>
                    </a:p>
                  </a:txBody>
                  <a:tcPr marL="50800" marR="50800" marT="25400" marB="25400"/>
                </a:tc>
              </a:tr>
              <a:tr h="660400">
                <a:tc>
                  <a:txBody>
                    <a:bodyPr wrap="square"/>
                    <a:lstStyle/>
                    <a:p>
                      <a:r>
                        <a:rPr b="0" sz="1400" i="0">
                          <a:solidFill>
                            <a:srgbClr val="000000"/>
                          </a:solidFill>
                          <a:latin typeface="Calibri"/>
                        </a:rPr>
                        <a:t>Payroll integrity</a:t>
                      </a:r>
                    </a:p>
                  </a:txBody>
                  <a:tcPr marL="50800" marR="50800" marT="25400" marB="25400"/>
                </a:tc>
                <a:tc>
                  <a:txBody>
                    <a:bodyPr wrap="square"/>
                    <a:lstStyle/>
                    <a:p>
                      <a:r>
                        <a:rPr b="0" sz="1400" i="0">
                          <a:solidFill>
                            <a:srgbClr val="000000"/>
                          </a:solidFill>
                          <a:latin typeface="Calibri"/>
                        </a:rPr>
                        <a:t>Duplicate rows per employee/month, projection vs generated differences, job errors</a:t>
                      </a:r>
                    </a:p>
                  </a:txBody>
                  <a:tcPr marL="50800" marR="50800" marT="25400" marB="25400"/>
                </a:tc>
              </a:tr>
              <a:tr h="660400">
                <a:tc>
                  <a:txBody>
                    <a:bodyPr wrap="square"/>
                    <a:lstStyle/>
                    <a:p>
                      <a:r>
                        <a:rPr b="0" sz="1400" i="0">
                          <a:solidFill>
                            <a:srgbClr val="000000"/>
                          </a:solidFill>
                          <a:latin typeface="Calibri"/>
                        </a:rPr>
                        <a:t>AI assistant</a:t>
                      </a:r>
                    </a:p>
                  </a:txBody>
                  <a:tcPr marL="50800" marR="50800" marT="25400" marB="25400"/>
                </a:tc>
                <a:tc>
                  <a:txBody>
                    <a:bodyPr wrap="square"/>
                    <a:lstStyle/>
                    <a:p>
                      <a:r>
                        <a:rPr b="0" sz="1400" i="0">
                          <a:solidFill>
                            <a:srgbClr val="000000"/>
                          </a:solidFill>
                          <a:latin typeface="Calibri"/>
                        </a:rPr>
                        <a:t>Provider errors (model_not_found, rate limit), response time, wrong-answer complaints</a:t>
                      </a:r>
                    </a:p>
                  </a:txBody>
                  <a:tcPr marL="50800" marR="50800" marT="25400" marB="25400"/>
                </a:tc>
              </a:tr>
              <a:tr h="660400">
                <a:tc>
                  <a:txBody>
                    <a:bodyPr wrap="square"/>
                    <a:lstStyle/>
                    <a:p>
                      <a:r>
                        <a:rPr b="0" sz="1400" i="0">
                          <a:solidFill>
                            <a:srgbClr val="000000"/>
                          </a:solidFill>
                          <a:latin typeface="Calibri"/>
                        </a:rPr>
                        <a:t>Database / server</a:t>
                      </a:r>
                    </a:p>
                  </a:txBody>
                  <a:tcPr marL="50800" marR="50800" marT="25400" marB="25400"/>
                </a:tc>
                <a:tc>
                  <a:txBody>
                    <a:bodyPr wrap="square"/>
                    <a:lstStyle/>
                    <a:p>
                      <a:r>
                        <a:rPr b="0" sz="1400" i="0">
                          <a:solidFill>
                            <a:srgbClr val="000000"/>
                          </a:solidFill>
                          <a:latin typeface="Calibri"/>
                        </a:rPr>
                        <a:t>Connection errors, 5xx rate, latency, backup status</a:t>
                      </a:r>
                    </a:p>
                  </a:txBody>
                  <a:tcPr marL="50800" marR="50800" marT="25400" marB="25400"/>
                </a:tc>
              </a:tr>
            </a:tbl>
          </a:graphicData>
        </a:graphic>
      </p:graphicFrame>
      <p:sp>
        <p:nvSpPr>
          <p:cNvPr id="6" name="TextBox 5"/>
          <p:cNvSpPr txBox="1"/>
          <p:nvPr/>
        </p:nvSpPr>
        <p:spPr>
          <a:xfrm>
            <a:off x="8382000" y="6578600"/>
            <a:ext cx="635000" cy="228600"/>
          </a:xfrm>
          <a:prstGeom prst="rect">
            <a:avLst/>
          </a:prstGeom>
          <a:noFill/>
        </p:spPr>
        <p:txBody>
          <a:bodyPr wrap="square" lIns="0" rIns="0" tIns="0" bIns="0" anchor="t">
            <a:spAutoFit/>
          </a:bodyPr>
          <a:lstStyle/>
          <a:p>
            <a:pPr algn="r"/>
            <a:r>
              <a:rPr b="0" sz="1200" i="0">
                <a:solidFill>
                  <a:srgbClr val="000000"/>
                </a:solidFill>
                <a:latin typeface="Calibri"/>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ubat.jpeg"/>
          <p:cNvPicPr>
            <a:picLocks noChangeAspect="1"/>
          </p:cNvPicPr>
          <p:nvPr/>
        </p:nvPicPr>
        <p:blipFill>
          <a:blip r:embed="rId2"/>
          <a:stretch>
            <a:fillRect/>
          </a:stretch>
        </p:blipFill>
        <p:spPr>
          <a:xfrm>
            <a:off x="50800" y="88900"/>
            <a:ext cx="609600" cy="533400"/>
          </a:xfrm>
          <a:prstGeom prst="rect">
            <a:avLst/>
          </a:prstGeom>
        </p:spPr>
      </p:pic>
      <p:pic>
        <p:nvPicPr>
          <p:cNvPr id="3" name="Picture 2" descr="cse.jpeg"/>
          <p:cNvPicPr>
            <a:picLocks noChangeAspect="1"/>
          </p:cNvPicPr>
          <p:nvPr/>
        </p:nvPicPr>
        <p:blipFill>
          <a:blip r:embed="rId3"/>
          <a:stretch>
            <a:fillRect/>
          </a:stretch>
        </p:blipFill>
        <p:spPr>
          <a:xfrm>
            <a:off x="8534400" y="127000"/>
            <a:ext cx="457200" cy="469900"/>
          </a:xfrm>
          <a:prstGeom prst="rect">
            <a:avLst/>
          </a:prstGeom>
        </p:spPr>
      </p:pic>
      <p:sp>
        <p:nvSpPr>
          <p:cNvPr id="4" name="TextBox 3"/>
          <p:cNvSpPr txBox="1"/>
          <p:nvPr/>
        </p:nvSpPr>
        <p:spPr>
          <a:xfrm>
            <a:off x="762000" y="152400"/>
            <a:ext cx="7620000" cy="558800"/>
          </a:xfrm>
          <a:prstGeom prst="rect">
            <a:avLst/>
          </a:prstGeom>
          <a:noFill/>
        </p:spPr>
        <p:txBody>
          <a:bodyPr wrap="square" lIns="0" rIns="0" tIns="0" bIns="0" anchor="ctr">
            <a:spAutoFit/>
          </a:bodyPr>
          <a:lstStyle/>
          <a:p>
            <a:pPr algn="ctr"/>
            <a:r>
              <a:rPr b="1" sz="3000" i="0">
                <a:solidFill>
                  <a:srgbClr val="000000"/>
                </a:solidFill>
                <a:latin typeface="Times New Roman"/>
              </a:rPr>
              <a:t>Testing</a:t>
            </a:r>
          </a:p>
        </p:txBody>
      </p:sp>
      <p:graphicFrame>
        <p:nvGraphicFramePr>
          <p:cNvPr id="5" name="Table 4"/>
          <p:cNvGraphicFramePr>
            <a:graphicFrameLocks noGrp="1"/>
          </p:cNvGraphicFramePr>
          <p:nvPr/>
        </p:nvGraphicFramePr>
        <p:xfrm>
          <a:off x="381000" y="812800"/>
          <a:ext cx="8382000" cy="5334000"/>
        </p:xfrm>
        <a:graphic>
          <a:graphicData uri="http://schemas.openxmlformats.org/drawingml/2006/table">
            <a:tbl>
              <a:tblPr firstRow="0" bandRow="0">
                <a:tableStyleId>{5940675A-B579-460E-94D1-54222C63F5DA}</a:tableStyleId>
              </a:tblPr>
              <a:tblGrid>
                <a:gridCol w="2011680"/>
                <a:gridCol w="3017520"/>
                <a:gridCol w="3352800"/>
              </a:tblGrid>
              <a:tr h="762000">
                <a:tc>
                  <a:txBody>
                    <a:bodyPr wrap="square"/>
                    <a:lstStyle/>
                    <a:p>
                      <a:r>
                        <a:rPr b="1" sz="1100" i="0">
                          <a:solidFill>
                            <a:srgbClr val="000000"/>
                          </a:solidFill>
                          <a:latin typeface="Calibri"/>
                        </a:rPr>
                        <a:t>Test Case</a:t>
                      </a:r>
                    </a:p>
                  </a:txBody>
                  <a:tcPr marL="50800" marR="50800" marT="25400" marB="25400">
                    <a:solidFill>
                      <a:srgbClr val="D9D9D9"/>
                    </a:solidFill>
                  </a:tcPr>
                </a:tc>
                <a:tc>
                  <a:txBody>
                    <a:bodyPr wrap="square"/>
                    <a:lstStyle/>
                    <a:p>
                      <a:r>
                        <a:rPr b="1" sz="1100" i="0">
                          <a:solidFill>
                            <a:srgbClr val="000000"/>
                          </a:solidFill>
                          <a:latin typeface="Calibri"/>
                        </a:rPr>
                        <a:t>Test Steps</a:t>
                      </a:r>
                    </a:p>
                  </a:txBody>
                  <a:tcPr marL="50800" marR="50800" marT="25400" marB="25400">
                    <a:solidFill>
                      <a:srgbClr val="D9D9D9"/>
                    </a:solidFill>
                  </a:tcPr>
                </a:tc>
                <a:tc>
                  <a:txBody>
                    <a:bodyPr wrap="square"/>
                    <a:lstStyle/>
                    <a:p>
                      <a:r>
                        <a:rPr b="1" sz="1100" i="0">
                          <a:solidFill>
                            <a:srgbClr val="000000"/>
                          </a:solidFill>
                          <a:latin typeface="Calibri"/>
                        </a:rPr>
                        <a:t>Expected Result</a:t>
                      </a:r>
                    </a:p>
                  </a:txBody>
                  <a:tcPr marL="50800" marR="50800" marT="25400" marB="25400">
                    <a:solidFill>
                      <a:srgbClr val="D9D9D9"/>
                    </a:solidFill>
                  </a:tcPr>
                </a:tc>
              </a:tr>
              <a:tr h="762000">
                <a:tc>
                  <a:txBody>
                    <a:bodyPr wrap="square"/>
                    <a:lstStyle/>
                    <a:p>
                      <a:r>
                        <a:rPr b="0" sz="1100" i="0">
                          <a:solidFill>
                            <a:srgbClr val="000000"/>
                          </a:solidFill>
                          <a:latin typeface="Calibri"/>
                        </a:rPr>
                        <a:t>User Login &amp; Token Refresh</a:t>
                      </a:r>
                    </a:p>
                  </a:txBody>
                  <a:tcPr marL="50800" marR="50800" marT="25400" marB="25400"/>
                </a:tc>
                <a:tc>
                  <a:txBody>
                    <a:bodyPr wrap="square"/>
                    <a:lstStyle/>
                    <a:p>
                      <a:r>
                        <a:rPr b="0" sz="1100" i="0">
                          <a:solidFill>
                            <a:srgbClr val="000000"/>
                          </a:solidFill>
                          <a:latin typeface="Calibri"/>
                        </a:rPr>
                        <a:t>1. Log in with valid / invalid credentials
2. Call refresh with and without cookie</a:t>
                      </a:r>
                    </a:p>
                  </a:txBody>
                  <a:tcPr marL="50800" marR="50800" marT="25400" marB="25400"/>
                </a:tc>
                <a:tc>
                  <a:txBody>
                    <a:bodyPr wrap="square"/>
                    <a:lstStyle/>
                    <a:p>
                      <a:r>
                        <a:rPr b="0" sz="1100" i="0">
                          <a:solidFill>
                            <a:srgbClr val="000000"/>
                          </a:solidFill>
                          <a:latin typeface="Calibri"/>
                        </a:rPr>
                        <a:t>1. Valid login returns token with Role &amp; CompanyId; invalid rejected
2. Refresh works only with a valid cookie</a:t>
                      </a:r>
                    </a:p>
                  </a:txBody>
                  <a:tcPr marL="50800" marR="50800" marT="25400" marB="25400"/>
                </a:tc>
              </a:tr>
              <a:tr h="762000">
                <a:tc>
                  <a:txBody>
                    <a:bodyPr wrap="square"/>
                    <a:lstStyle/>
                    <a:p>
                      <a:r>
                        <a:rPr b="0" sz="1100" i="0">
                          <a:solidFill>
                            <a:srgbClr val="000000"/>
                          </a:solidFill>
                          <a:latin typeface="Calibri"/>
                        </a:rPr>
                        <a:t>Role-Based Access</a:t>
                      </a:r>
                    </a:p>
                  </a:txBody>
                  <a:tcPr marL="50800" marR="50800" marT="25400" marB="25400"/>
                </a:tc>
                <a:tc>
                  <a:txBody>
                    <a:bodyPr wrap="square"/>
                    <a:lstStyle/>
                    <a:p>
                      <a:r>
                        <a:rPr b="0" sz="1100" i="0">
                          <a:solidFill>
                            <a:srgbClr val="000000"/>
                          </a:solidFill>
                          <a:latin typeface="Calibri"/>
                        </a:rPr>
                        <a:t>Call Company Admin endpoints with a Common token and without a token</a:t>
                      </a:r>
                    </a:p>
                  </a:txBody>
                  <a:tcPr marL="50800" marR="50800" marT="25400" marB="25400"/>
                </a:tc>
                <a:tc>
                  <a:txBody>
                    <a:bodyPr wrap="square"/>
                    <a:lstStyle/>
                    <a:p>
                      <a:r>
                        <a:rPr b="0" sz="1100" i="0">
                          <a:solidFill>
                            <a:srgbClr val="000000"/>
                          </a:solidFill>
                          <a:latin typeface="Calibri"/>
                        </a:rPr>
                        <a:t>401 without token; 403 with wrong role; only own company’s data returned</a:t>
                      </a:r>
                    </a:p>
                  </a:txBody>
                  <a:tcPr marL="50800" marR="50800" marT="25400" marB="25400"/>
                </a:tc>
              </a:tr>
              <a:tr h="762000">
                <a:tc>
                  <a:txBody>
                    <a:bodyPr wrap="square"/>
                    <a:lstStyle/>
                    <a:p>
                      <a:r>
                        <a:rPr b="0" sz="1100" i="0">
                          <a:solidFill>
                            <a:srgbClr val="000000"/>
                          </a:solidFill>
                          <a:latin typeface="Calibri"/>
                        </a:rPr>
                        <a:t>Check-In / Check-Out</a:t>
                      </a:r>
                    </a:p>
                  </a:txBody>
                  <a:tcPr marL="50800" marR="50800" marT="25400" marB="25400"/>
                </a:tc>
                <a:tc>
                  <a:txBody>
                    <a:bodyPr wrap="square"/>
                    <a:lstStyle/>
                    <a:p>
                      <a:r>
                        <a:rPr b="0" sz="1100" i="0">
                          <a:solidFill>
                            <a:srgbClr val="000000"/>
                          </a:solidFill>
                          <a:latin typeface="Calibri"/>
                        </a:rPr>
                        <a:t>Check in at 09:20, check out at 17:30, then a third action</a:t>
                      </a:r>
                    </a:p>
                  </a:txBody>
                  <a:tcPr marL="50800" marR="50800" marT="25400" marB="25400"/>
                </a:tc>
                <a:tc>
                  <a:txBody>
                    <a:bodyPr wrap="square"/>
                    <a:lstStyle/>
                    <a:p>
                      <a:r>
                        <a:rPr b="0" sz="1100" i="0">
                          <a:solidFill>
                            <a:srgbClr val="000000"/>
                          </a:solidFill>
                          <a:latin typeface="Calibri"/>
                        </a:rPr>
                        <a:t>Late record with 20 late minutes; early-leave 30 min and hours recorded; third action rejected</a:t>
                      </a:r>
                    </a:p>
                  </a:txBody>
                  <a:tcPr marL="50800" marR="50800" marT="25400" marB="25400"/>
                </a:tc>
              </a:tr>
              <a:tr h="762000">
                <a:tc>
                  <a:txBody>
                    <a:bodyPr wrap="square"/>
                    <a:lstStyle/>
                    <a:p>
                      <a:r>
                        <a:rPr b="0" sz="1100" i="0">
                          <a:solidFill>
                            <a:srgbClr val="000000"/>
                          </a:solidFill>
                          <a:latin typeface="Calibri"/>
                        </a:rPr>
                        <a:t>Check-In after Auto-Absent</a:t>
                      </a:r>
                    </a:p>
                  </a:txBody>
                  <a:tcPr marL="50800" marR="50800" marT="25400" marB="25400"/>
                </a:tc>
                <a:tc>
                  <a:txBody>
                    <a:bodyPr wrap="square"/>
                    <a:lstStyle/>
                    <a:p>
                      <a:r>
                        <a:rPr b="0" sz="1100" i="0">
                          <a:solidFill>
                            <a:srgbClr val="000000"/>
                          </a:solidFill>
                          <a:latin typeface="Calibri"/>
                        </a:rPr>
                        <a:t>Run absent-marking job, then check in as an Absent employee</a:t>
                      </a:r>
                    </a:p>
                  </a:txBody>
                  <a:tcPr marL="50800" marR="50800" marT="25400" marB="25400"/>
                </a:tc>
                <a:tc>
                  <a:txBody>
                    <a:bodyPr wrap="square"/>
                    <a:lstStyle/>
                    <a:p>
                      <a:r>
                        <a:rPr b="0" sz="1100" i="0">
                          <a:solidFill>
                            <a:srgbClr val="000000"/>
                          </a:solidFill>
                          <a:latin typeface="Calibri"/>
                        </a:rPr>
                        <a:t>Absent row converted to Late; no duplicate row</a:t>
                      </a:r>
                    </a:p>
                  </a:txBody>
                  <a:tcPr marL="50800" marR="50800" marT="25400" marB="25400"/>
                </a:tc>
              </a:tr>
              <a:tr h="762000">
                <a:tc>
                  <a:txBody>
                    <a:bodyPr wrap="square"/>
                    <a:lstStyle/>
                    <a:p>
                      <a:r>
                        <a:rPr b="0" sz="1100" i="0">
                          <a:solidFill>
                            <a:srgbClr val="000000"/>
                          </a:solidFill>
                          <a:latin typeface="Calibri"/>
                        </a:rPr>
                        <a:t>Leave Approval &amp; Payroll</a:t>
                      </a:r>
                    </a:p>
                  </a:txBody>
                  <a:tcPr marL="50800" marR="50800" marT="25400" marB="25400"/>
                </a:tc>
                <a:tc>
                  <a:txBody>
                    <a:bodyPr wrap="square"/>
                    <a:lstStyle/>
                    <a:p>
                      <a:r>
                        <a:rPr b="0" sz="1100" i="0">
                          <a:solidFill>
                            <a:srgbClr val="000000"/>
                          </a:solidFill>
                          <a:latin typeface="Calibri"/>
                        </a:rPr>
                        <a:t>Approve a 3-day leave; start the API twice in the same month</a:t>
                      </a:r>
                    </a:p>
                  </a:txBody>
                  <a:tcPr marL="50800" marR="50800" marT="25400" marB="25400"/>
                </a:tc>
                <a:tc>
                  <a:txBody>
                    <a:bodyPr wrap="square"/>
                    <a:lstStyle/>
                    <a:p>
                      <a:r>
                        <a:rPr b="0" sz="1100" i="0">
                          <a:solidFill>
                            <a:srgbClr val="000000"/>
                          </a:solidFill>
                          <a:latin typeface="Calibri"/>
                        </a:rPr>
                        <a:t>Three On-Leave rows; exactly one payroll row per employee for the previous month</a:t>
                      </a:r>
                    </a:p>
                  </a:txBody>
                  <a:tcPr marL="50800" marR="50800" marT="25400" marB="25400"/>
                </a:tc>
              </a:tr>
              <a:tr h="762000">
                <a:tc>
                  <a:txBody>
                    <a:bodyPr wrap="square"/>
                    <a:lstStyle/>
                    <a:p>
                      <a:r>
                        <a:rPr b="0" sz="1100" i="0">
                          <a:solidFill>
                            <a:srgbClr val="000000"/>
                          </a:solidFill>
                          <a:latin typeface="Calibri"/>
                        </a:rPr>
                        <a:t>AI Assistant</a:t>
                      </a:r>
                    </a:p>
                  </a:txBody>
                  <a:tcPr marL="50800" marR="50800" marT="25400" marB="25400"/>
                </a:tc>
                <a:tc>
                  <a:txBody>
                    <a:bodyPr wrap="square"/>
                    <a:lstStyle/>
                    <a:p>
                      <a:r>
                        <a:rPr b="0" sz="1100" i="0">
                          <a:solidFill>
                            <a:srgbClr val="000000"/>
                          </a:solidFill>
                          <a:latin typeface="Calibri"/>
                        </a:rPr>
                        <a:t>Ask “Who was late the most this month?” as Company Admin</a:t>
                      </a:r>
                    </a:p>
                  </a:txBody>
                  <a:tcPr marL="50800" marR="50800" marT="25400" marB="25400"/>
                </a:tc>
                <a:tc>
                  <a:txBody>
                    <a:bodyPr wrap="square"/>
                    <a:lstStyle/>
                    <a:p>
                      <a:r>
                        <a:rPr b="0" sz="1100" i="0">
                          <a:solidFill>
                            <a:srgbClr val="000000"/>
                          </a:solidFill>
                          <a:latin typeface="Calibri"/>
                        </a:rPr>
                        <a:t>Correct name and count; toolsUsed lists the data tool used</a:t>
                      </a:r>
                    </a:p>
                  </a:txBody>
                  <a:tcPr marL="50800" marR="50800" marT="25400" marB="25400"/>
                </a:tc>
              </a:tr>
            </a:tbl>
          </a:graphicData>
        </a:graphic>
      </p:graphicFrame>
      <p:sp>
        <p:nvSpPr>
          <p:cNvPr id="6" name="TextBox 5"/>
          <p:cNvSpPr txBox="1"/>
          <p:nvPr/>
        </p:nvSpPr>
        <p:spPr>
          <a:xfrm>
            <a:off x="8382000" y="6578600"/>
            <a:ext cx="635000" cy="228600"/>
          </a:xfrm>
          <a:prstGeom prst="rect">
            <a:avLst/>
          </a:prstGeom>
          <a:noFill/>
        </p:spPr>
        <p:txBody>
          <a:bodyPr wrap="square" lIns="0" rIns="0" tIns="0" bIns="0" anchor="t">
            <a:spAutoFit/>
          </a:bodyPr>
          <a:lstStyle/>
          <a:p>
            <a:pPr algn="r"/>
            <a:r>
              <a:rPr b="0" sz="1200" i="0">
                <a:solidFill>
                  <a:srgbClr val="000000"/>
                </a:solidFill>
                <a:latin typeface="Calibri"/>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228600"/>
            <a:ext cx="7620000" cy="508000"/>
          </a:xfrm>
          <a:prstGeom prst="rect">
            <a:avLst/>
          </a:prstGeom>
          <a:noFill/>
        </p:spPr>
        <p:txBody>
          <a:bodyPr wrap="square" lIns="0" rIns="0" tIns="0" bIns="0" anchor="ctr">
            <a:spAutoFit/>
          </a:bodyPr>
          <a:lstStyle/>
          <a:p>
            <a:pPr algn="ctr"/>
            <a:r>
              <a:rPr b="0" sz="2800" i="0">
                <a:solidFill>
                  <a:srgbClr val="000000"/>
                </a:solidFill>
                <a:latin typeface="Calibri"/>
              </a:rPr>
              <a:t>DEMONSTRATION</a:t>
            </a:r>
          </a:p>
        </p:txBody>
      </p:sp>
      <p:sp>
        <p:nvSpPr>
          <p:cNvPr id="3" name="Rectangle 2"/>
          <p:cNvSpPr/>
          <p:nvPr/>
        </p:nvSpPr>
        <p:spPr>
          <a:xfrm>
            <a:off x="508000" y="889000"/>
            <a:ext cx="8128000" cy="4953000"/>
          </a:xfrm>
          <a:prstGeom prst="rect">
            <a:avLst/>
          </a:prstGeom>
          <a:solidFill>
            <a:srgbClr val="FAFAFA"/>
          </a:solidFill>
          <a:ln w="12700">
            <a:solidFill>
              <a:srgbClr val="595959"/>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i="1">
                <a:solidFill>
                  <a:srgbClr val="595959"/>
                </a:solidFill>
                <a:latin typeface="Calibri"/>
                <a:highlight>
                  <a:srgbClr val="FFFF00"/>
                </a:highlight>
              </a:rPr>
              <a:t>[Insert image: Login Page]</a:t>
            </a:r>
          </a:p>
        </p:txBody>
      </p:sp>
      <p:sp>
        <p:nvSpPr>
          <p:cNvPr id="4" name="TextBox 3"/>
          <p:cNvSpPr txBox="1"/>
          <p:nvPr/>
        </p:nvSpPr>
        <p:spPr>
          <a:xfrm>
            <a:off x="762000" y="5969000"/>
            <a:ext cx="7620000" cy="330200"/>
          </a:xfrm>
          <a:prstGeom prst="rect">
            <a:avLst/>
          </a:prstGeom>
          <a:noFill/>
        </p:spPr>
        <p:txBody>
          <a:bodyPr wrap="square" lIns="0" rIns="0" tIns="0" bIns="0" anchor="t">
            <a:spAutoFit/>
          </a:bodyPr>
          <a:lstStyle/>
          <a:p>
            <a:pPr algn="ctr"/>
            <a:r>
              <a:rPr b="0" sz="1600" i="0">
                <a:solidFill>
                  <a:srgbClr val="000000"/>
                </a:solidFill>
                <a:latin typeface="Times New Roman"/>
              </a:rPr>
              <a:t>Login Page</a:t>
            </a:r>
          </a:p>
        </p:txBody>
      </p:sp>
      <p:sp>
        <p:nvSpPr>
          <p:cNvPr id="5" name="TextBox 4"/>
          <p:cNvSpPr txBox="1"/>
          <p:nvPr/>
        </p:nvSpPr>
        <p:spPr>
          <a:xfrm>
            <a:off x="762000" y="635000"/>
            <a:ext cx="7620000" cy="279400"/>
          </a:xfrm>
          <a:prstGeom prst="rect">
            <a:avLst/>
          </a:prstGeom>
          <a:noFill/>
        </p:spPr>
        <p:txBody>
          <a:bodyPr wrap="square" lIns="0" rIns="0" tIns="0" bIns="0" anchor="t">
            <a:spAutoFit/>
          </a:bodyPr>
          <a:lstStyle/>
          <a:p>
            <a:pPr algn="ctr"/>
            <a:r>
              <a:rPr b="0" sz="1400" i="0">
                <a:solidFill>
                  <a:srgbClr val="000000"/>
                </a:solidFill>
                <a:latin typeface="Calibri"/>
              </a:rPr>
              <a:t>The following screenshots show the main screens of the implemented system.</a:t>
            </a:r>
          </a:p>
        </p:txBody>
      </p:sp>
      <p:sp>
        <p:nvSpPr>
          <p:cNvPr id="6" name="TextBox 5"/>
          <p:cNvSpPr txBox="1"/>
          <p:nvPr/>
        </p:nvSpPr>
        <p:spPr>
          <a:xfrm>
            <a:off x="8382000" y="6578600"/>
            <a:ext cx="635000" cy="228600"/>
          </a:xfrm>
          <a:prstGeom prst="rect">
            <a:avLst/>
          </a:prstGeom>
          <a:noFill/>
        </p:spPr>
        <p:txBody>
          <a:bodyPr wrap="square" lIns="0" rIns="0" tIns="0" bIns="0" anchor="t">
            <a:spAutoFit/>
          </a:bodyPr>
          <a:lstStyle/>
          <a:p>
            <a:pPr algn="r"/>
            <a:r>
              <a:rPr b="0" sz="1200" i="0">
                <a:solidFill>
                  <a:srgbClr val="000000"/>
                </a:solidFill>
                <a:latin typeface="Calibri"/>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228600"/>
            <a:ext cx="7620000" cy="508000"/>
          </a:xfrm>
          <a:prstGeom prst="rect">
            <a:avLst/>
          </a:prstGeom>
          <a:noFill/>
        </p:spPr>
        <p:txBody>
          <a:bodyPr wrap="square" lIns="0" rIns="0" tIns="0" bIns="0" anchor="ctr">
            <a:spAutoFit/>
          </a:bodyPr>
          <a:lstStyle/>
          <a:p>
            <a:pPr algn="ctr"/>
            <a:r>
              <a:rPr b="0" sz="2800" i="0">
                <a:solidFill>
                  <a:srgbClr val="000000"/>
                </a:solidFill>
                <a:latin typeface="Calibri"/>
              </a:rPr>
              <a:t>DEMONSTRATION</a:t>
            </a:r>
          </a:p>
        </p:txBody>
      </p:sp>
      <p:sp>
        <p:nvSpPr>
          <p:cNvPr id="3" name="Rectangle 2"/>
          <p:cNvSpPr/>
          <p:nvPr/>
        </p:nvSpPr>
        <p:spPr>
          <a:xfrm>
            <a:off x="508000" y="889000"/>
            <a:ext cx="8128000" cy="4953000"/>
          </a:xfrm>
          <a:prstGeom prst="rect">
            <a:avLst/>
          </a:prstGeom>
          <a:solidFill>
            <a:srgbClr val="FAFAFA"/>
          </a:solidFill>
          <a:ln w="12700">
            <a:solidFill>
              <a:srgbClr val="595959"/>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i="1">
                <a:solidFill>
                  <a:srgbClr val="595959"/>
                </a:solidFill>
                <a:latin typeface="Calibri"/>
                <a:highlight>
                  <a:srgbClr val="FFFF00"/>
                </a:highlight>
              </a:rPr>
              <a:t>[Insert image: Super Admin – Company Management]</a:t>
            </a:r>
          </a:p>
        </p:txBody>
      </p:sp>
      <p:sp>
        <p:nvSpPr>
          <p:cNvPr id="4" name="TextBox 3"/>
          <p:cNvSpPr txBox="1"/>
          <p:nvPr/>
        </p:nvSpPr>
        <p:spPr>
          <a:xfrm>
            <a:off x="762000" y="5969000"/>
            <a:ext cx="7620000" cy="330200"/>
          </a:xfrm>
          <a:prstGeom prst="rect">
            <a:avLst/>
          </a:prstGeom>
          <a:noFill/>
        </p:spPr>
        <p:txBody>
          <a:bodyPr wrap="square" lIns="0" rIns="0" tIns="0" bIns="0" anchor="t">
            <a:spAutoFit/>
          </a:bodyPr>
          <a:lstStyle/>
          <a:p>
            <a:pPr algn="ctr"/>
            <a:r>
              <a:rPr b="0" sz="1600" i="0">
                <a:solidFill>
                  <a:srgbClr val="000000"/>
                </a:solidFill>
                <a:latin typeface="Times New Roman"/>
              </a:rPr>
              <a:t>Super Admin – Company Management</a:t>
            </a:r>
          </a:p>
        </p:txBody>
      </p:sp>
      <p:sp>
        <p:nvSpPr>
          <p:cNvPr id="5" name="TextBox 4"/>
          <p:cNvSpPr txBox="1"/>
          <p:nvPr/>
        </p:nvSpPr>
        <p:spPr>
          <a:xfrm>
            <a:off x="8382000" y="6578600"/>
            <a:ext cx="635000" cy="228600"/>
          </a:xfrm>
          <a:prstGeom prst="rect">
            <a:avLst/>
          </a:prstGeom>
          <a:noFill/>
        </p:spPr>
        <p:txBody>
          <a:bodyPr wrap="square" lIns="0" rIns="0" tIns="0" bIns="0" anchor="t">
            <a:spAutoFit/>
          </a:bodyPr>
          <a:lstStyle/>
          <a:p>
            <a:pPr algn="r"/>
            <a:r>
              <a:rPr b="0" sz="1200" i="0">
                <a:solidFill>
                  <a:srgbClr val="000000"/>
                </a:solidFill>
                <a:latin typeface="Calibri"/>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228600"/>
            <a:ext cx="7620000" cy="508000"/>
          </a:xfrm>
          <a:prstGeom prst="rect">
            <a:avLst/>
          </a:prstGeom>
          <a:noFill/>
        </p:spPr>
        <p:txBody>
          <a:bodyPr wrap="square" lIns="0" rIns="0" tIns="0" bIns="0" anchor="ctr">
            <a:spAutoFit/>
          </a:bodyPr>
          <a:lstStyle/>
          <a:p>
            <a:pPr algn="ctr"/>
            <a:r>
              <a:rPr b="0" sz="2800" i="0">
                <a:solidFill>
                  <a:srgbClr val="000000"/>
                </a:solidFill>
                <a:latin typeface="Calibri"/>
              </a:rPr>
              <a:t>DEMONSTRATION</a:t>
            </a:r>
          </a:p>
        </p:txBody>
      </p:sp>
      <p:sp>
        <p:nvSpPr>
          <p:cNvPr id="3" name="Rectangle 2"/>
          <p:cNvSpPr/>
          <p:nvPr/>
        </p:nvSpPr>
        <p:spPr>
          <a:xfrm>
            <a:off x="508000" y="889000"/>
            <a:ext cx="8128000" cy="4953000"/>
          </a:xfrm>
          <a:prstGeom prst="rect">
            <a:avLst/>
          </a:prstGeom>
          <a:solidFill>
            <a:srgbClr val="FAFAFA"/>
          </a:solidFill>
          <a:ln w="12700">
            <a:solidFill>
              <a:srgbClr val="595959"/>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i="1">
                <a:solidFill>
                  <a:srgbClr val="595959"/>
                </a:solidFill>
                <a:latin typeface="Calibri"/>
                <a:highlight>
                  <a:srgbClr val="FFFF00"/>
                </a:highlight>
              </a:rPr>
              <a:t>[Insert image: Company Admin Dashboard]</a:t>
            </a:r>
          </a:p>
        </p:txBody>
      </p:sp>
      <p:sp>
        <p:nvSpPr>
          <p:cNvPr id="4" name="TextBox 3"/>
          <p:cNvSpPr txBox="1"/>
          <p:nvPr/>
        </p:nvSpPr>
        <p:spPr>
          <a:xfrm>
            <a:off x="762000" y="5969000"/>
            <a:ext cx="7620000" cy="330200"/>
          </a:xfrm>
          <a:prstGeom prst="rect">
            <a:avLst/>
          </a:prstGeom>
          <a:noFill/>
        </p:spPr>
        <p:txBody>
          <a:bodyPr wrap="square" lIns="0" rIns="0" tIns="0" bIns="0" anchor="t">
            <a:spAutoFit/>
          </a:bodyPr>
          <a:lstStyle/>
          <a:p>
            <a:pPr algn="ctr"/>
            <a:r>
              <a:rPr b="0" sz="1600" i="0">
                <a:solidFill>
                  <a:srgbClr val="000000"/>
                </a:solidFill>
                <a:latin typeface="Times New Roman"/>
              </a:rPr>
              <a:t>Company Admin Dashboard</a:t>
            </a:r>
          </a:p>
        </p:txBody>
      </p:sp>
      <p:sp>
        <p:nvSpPr>
          <p:cNvPr id="5" name="TextBox 4"/>
          <p:cNvSpPr txBox="1"/>
          <p:nvPr/>
        </p:nvSpPr>
        <p:spPr>
          <a:xfrm>
            <a:off x="8382000" y="6578600"/>
            <a:ext cx="635000" cy="228600"/>
          </a:xfrm>
          <a:prstGeom prst="rect">
            <a:avLst/>
          </a:prstGeom>
          <a:noFill/>
        </p:spPr>
        <p:txBody>
          <a:bodyPr wrap="square" lIns="0" rIns="0" tIns="0" bIns="0" anchor="t">
            <a:spAutoFit/>
          </a:bodyPr>
          <a:lstStyle/>
          <a:p>
            <a:pPr algn="r"/>
            <a:r>
              <a:rPr b="0" sz="1200" i="0">
                <a:solidFill>
                  <a:srgbClr val="000000"/>
                </a:solidFill>
                <a:latin typeface="Calibri"/>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228600"/>
            <a:ext cx="7620000" cy="508000"/>
          </a:xfrm>
          <a:prstGeom prst="rect">
            <a:avLst/>
          </a:prstGeom>
          <a:noFill/>
        </p:spPr>
        <p:txBody>
          <a:bodyPr wrap="square" lIns="0" rIns="0" tIns="0" bIns="0" anchor="ctr">
            <a:spAutoFit/>
          </a:bodyPr>
          <a:lstStyle/>
          <a:p>
            <a:pPr algn="ctr"/>
            <a:r>
              <a:rPr b="0" sz="2800" i="0">
                <a:solidFill>
                  <a:srgbClr val="000000"/>
                </a:solidFill>
                <a:latin typeface="Calibri"/>
              </a:rPr>
              <a:t>DEMONSTRATION</a:t>
            </a:r>
          </a:p>
        </p:txBody>
      </p:sp>
      <p:sp>
        <p:nvSpPr>
          <p:cNvPr id="3" name="Rectangle 2"/>
          <p:cNvSpPr/>
          <p:nvPr/>
        </p:nvSpPr>
        <p:spPr>
          <a:xfrm>
            <a:off x="508000" y="889000"/>
            <a:ext cx="8128000" cy="4953000"/>
          </a:xfrm>
          <a:prstGeom prst="rect">
            <a:avLst/>
          </a:prstGeom>
          <a:solidFill>
            <a:srgbClr val="FAFAFA"/>
          </a:solidFill>
          <a:ln w="12700">
            <a:solidFill>
              <a:srgbClr val="595959"/>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i="1">
                <a:solidFill>
                  <a:srgbClr val="595959"/>
                </a:solidFill>
                <a:latin typeface="Calibri"/>
                <a:highlight>
                  <a:srgbClr val="FFFF00"/>
                </a:highlight>
              </a:rPr>
              <a:t>[Insert image: Employee Management (Paginated)]</a:t>
            </a:r>
          </a:p>
        </p:txBody>
      </p:sp>
      <p:sp>
        <p:nvSpPr>
          <p:cNvPr id="4" name="TextBox 3"/>
          <p:cNvSpPr txBox="1"/>
          <p:nvPr/>
        </p:nvSpPr>
        <p:spPr>
          <a:xfrm>
            <a:off x="762000" y="5969000"/>
            <a:ext cx="7620000" cy="330200"/>
          </a:xfrm>
          <a:prstGeom prst="rect">
            <a:avLst/>
          </a:prstGeom>
          <a:noFill/>
        </p:spPr>
        <p:txBody>
          <a:bodyPr wrap="square" lIns="0" rIns="0" tIns="0" bIns="0" anchor="t">
            <a:spAutoFit/>
          </a:bodyPr>
          <a:lstStyle/>
          <a:p>
            <a:pPr algn="ctr"/>
            <a:r>
              <a:rPr b="0" sz="1600" i="0">
                <a:solidFill>
                  <a:srgbClr val="000000"/>
                </a:solidFill>
                <a:latin typeface="Times New Roman"/>
              </a:rPr>
              <a:t>Employee Management (Paginated)</a:t>
            </a:r>
          </a:p>
        </p:txBody>
      </p:sp>
      <p:sp>
        <p:nvSpPr>
          <p:cNvPr id="5" name="TextBox 4"/>
          <p:cNvSpPr txBox="1"/>
          <p:nvPr/>
        </p:nvSpPr>
        <p:spPr>
          <a:xfrm>
            <a:off x="8382000" y="6578600"/>
            <a:ext cx="635000" cy="228600"/>
          </a:xfrm>
          <a:prstGeom prst="rect">
            <a:avLst/>
          </a:prstGeom>
          <a:noFill/>
        </p:spPr>
        <p:txBody>
          <a:bodyPr wrap="square" lIns="0" rIns="0" tIns="0" bIns="0" anchor="t">
            <a:spAutoFit/>
          </a:bodyPr>
          <a:lstStyle/>
          <a:p>
            <a:pPr algn="r"/>
            <a:r>
              <a:rPr b="0" sz="1200" i="0">
                <a:solidFill>
                  <a:srgbClr val="000000"/>
                </a:solidFill>
                <a:latin typeface="Calibri"/>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228600"/>
            <a:ext cx="7620000" cy="508000"/>
          </a:xfrm>
          <a:prstGeom prst="rect">
            <a:avLst/>
          </a:prstGeom>
          <a:noFill/>
        </p:spPr>
        <p:txBody>
          <a:bodyPr wrap="square" lIns="0" rIns="0" tIns="0" bIns="0" anchor="ctr">
            <a:spAutoFit/>
          </a:bodyPr>
          <a:lstStyle/>
          <a:p>
            <a:pPr algn="ctr"/>
            <a:r>
              <a:rPr b="0" sz="2800" i="0">
                <a:solidFill>
                  <a:srgbClr val="000000"/>
                </a:solidFill>
                <a:latin typeface="Calibri"/>
              </a:rPr>
              <a:t>DEMONSTRATION</a:t>
            </a:r>
          </a:p>
        </p:txBody>
      </p:sp>
      <p:sp>
        <p:nvSpPr>
          <p:cNvPr id="3" name="Rectangle 2"/>
          <p:cNvSpPr/>
          <p:nvPr/>
        </p:nvSpPr>
        <p:spPr>
          <a:xfrm>
            <a:off x="508000" y="889000"/>
            <a:ext cx="8128000" cy="4953000"/>
          </a:xfrm>
          <a:prstGeom prst="rect">
            <a:avLst/>
          </a:prstGeom>
          <a:solidFill>
            <a:srgbClr val="FAFAFA"/>
          </a:solidFill>
          <a:ln w="12700">
            <a:solidFill>
              <a:srgbClr val="595959"/>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i="1">
                <a:solidFill>
                  <a:srgbClr val="595959"/>
                </a:solidFill>
                <a:latin typeface="Calibri"/>
                <a:highlight>
                  <a:srgbClr val="FFFF00"/>
                </a:highlight>
              </a:rPr>
              <a:t>[Insert image: Employee Check-In / Check-Out]</a:t>
            </a:r>
          </a:p>
        </p:txBody>
      </p:sp>
      <p:sp>
        <p:nvSpPr>
          <p:cNvPr id="4" name="TextBox 3"/>
          <p:cNvSpPr txBox="1"/>
          <p:nvPr/>
        </p:nvSpPr>
        <p:spPr>
          <a:xfrm>
            <a:off x="762000" y="5969000"/>
            <a:ext cx="7620000" cy="330200"/>
          </a:xfrm>
          <a:prstGeom prst="rect">
            <a:avLst/>
          </a:prstGeom>
          <a:noFill/>
        </p:spPr>
        <p:txBody>
          <a:bodyPr wrap="square" lIns="0" rIns="0" tIns="0" bIns="0" anchor="t">
            <a:spAutoFit/>
          </a:bodyPr>
          <a:lstStyle/>
          <a:p>
            <a:pPr algn="ctr"/>
            <a:r>
              <a:rPr b="0" sz="1600" i="0">
                <a:solidFill>
                  <a:srgbClr val="000000"/>
                </a:solidFill>
                <a:latin typeface="Times New Roman"/>
              </a:rPr>
              <a:t>Employee Check-In / Check-Out</a:t>
            </a:r>
          </a:p>
        </p:txBody>
      </p:sp>
      <p:sp>
        <p:nvSpPr>
          <p:cNvPr id="5" name="TextBox 4"/>
          <p:cNvSpPr txBox="1"/>
          <p:nvPr/>
        </p:nvSpPr>
        <p:spPr>
          <a:xfrm>
            <a:off x="8382000" y="6578600"/>
            <a:ext cx="635000" cy="228600"/>
          </a:xfrm>
          <a:prstGeom prst="rect">
            <a:avLst/>
          </a:prstGeom>
          <a:noFill/>
        </p:spPr>
        <p:txBody>
          <a:bodyPr wrap="square" lIns="0" rIns="0" tIns="0" bIns="0" anchor="t">
            <a:spAutoFit/>
          </a:bodyPr>
          <a:lstStyle/>
          <a:p>
            <a:pPr algn="r"/>
            <a:r>
              <a:rPr b="0" sz="1200" i="0">
                <a:solidFill>
                  <a:srgbClr val="000000"/>
                </a:solidFill>
                <a:latin typeface="Calibri"/>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228600"/>
            <a:ext cx="7620000" cy="508000"/>
          </a:xfrm>
          <a:prstGeom prst="rect">
            <a:avLst/>
          </a:prstGeom>
          <a:noFill/>
        </p:spPr>
        <p:txBody>
          <a:bodyPr wrap="square" lIns="0" rIns="0" tIns="0" bIns="0" anchor="ctr">
            <a:spAutoFit/>
          </a:bodyPr>
          <a:lstStyle/>
          <a:p>
            <a:pPr algn="ctr"/>
            <a:r>
              <a:rPr b="0" sz="2800" i="0">
                <a:solidFill>
                  <a:srgbClr val="000000"/>
                </a:solidFill>
                <a:latin typeface="Calibri"/>
              </a:rPr>
              <a:t>DEMONSTRATION</a:t>
            </a:r>
          </a:p>
        </p:txBody>
      </p:sp>
      <p:sp>
        <p:nvSpPr>
          <p:cNvPr id="3" name="Rectangle 2"/>
          <p:cNvSpPr/>
          <p:nvPr/>
        </p:nvSpPr>
        <p:spPr>
          <a:xfrm>
            <a:off x="508000" y="889000"/>
            <a:ext cx="8128000" cy="4953000"/>
          </a:xfrm>
          <a:prstGeom prst="rect">
            <a:avLst/>
          </a:prstGeom>
          <a:solidFill>
            <a:srgbClr val="FAFAFA"/>
          </a:solidFill>
          <a:ln w="12700">
            <a:solidFill>
              <a:srgbClr val="595959"/>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i="1">
                <a:solidFill>
                  <a:srgbClr val="595959"/>
                </a:solidFill>
                <a:latin typeface="Calibri"/>
                <a:highlight>
                  <a:srgbClr val="FFFF00"/>
                </a:highlight>
              </a:rPr>
              <a:t>[Insert image: Leave Request and Approval]</a:t>
            </a:r>
          </a:p>
        </p:txBody>
      </p:sp>
      <p:sp>
        <p:nvSpPr>
          <p:cNvPr id="4" name="TextBox 3"/>
          <p:cNvSpPr txBox="1"/>
          <p:nvPr/>
        </p:nvSpPr>
        <p:spPr>
          <a:xfrm>
            <a:off x="762000" y="5969000"/>
            <a:ext cx="7620000" cy="330200"/>
          </a:xfrm>
          <a:prstGeom prst="rect">
            <a:avLst/>
          </a:prstGeom>
          <a:noFill/>
        </p:spPr>
        <p:txBody>
          <a:bodyPr wrap="square" lIns="0" rIns="0" tIns="0" bIns="0" anchor="t">
            <a:spAutoFit/>
          </a:bodyPr>
          <a:lstStyle/>
          <a:p>
            <a:pPr algn="ctr"/>
            <a:r>
              <a:rPr b="0" sz="1600" i="0">
                <a:solidFill>
                  <a:srgbClr val="000000"/>
                </a:solidFill>
                <a:latin typeface="Times New Roman"/>
              </a:rPr>
              <a:t>Leave Request and Approval</a:t>
            </a:r>
          </a:p>
        </p:txBody>
      </p:sp>
      <p:sp>
        <p:nvSpPr>
          <p:cNvPr id="5" name="TextBox 4"/>
          <p:cNvSpPr txBox="1"/>
          <p:nvPr/>
        </p:nvSpPr>
        <p:spPr>
          <a:xfrm>
            <a:off x="8382000" y="6578600"/>
            <a:ext cx="635000" cy="228600"/>
          </a:xfrm>
          <a:prstGeom prst="rect">
            <a:avLst/>
          </a:prstGeom>
          <a:noFill/>
        </p:spPr>
        <p:txBody>
          <a:bodyPr wrap="square" lIns="0" rIns="0" tIns="0" bIns="0" anchor="t">
            <a:spAutoFit/>
          </a:bodyPr>
          <a:lstStyle/>
          <a:p>
            <a:pPr algn="r"/>
            <a:r>
              <a:rPr b="0" sz="1200" i="0">
                <a:solidFill>
                  <a:srgbClr val="000000"/>
                </a:solidFill>
                <a:latin typeface="Calibri"/>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228600"/>
            <a:ext cx="7620000" cy="508000"/>
          </a:xfrm>
          <a:prstGeom prst="rect">
            <a:avLst/>
          </a:prstGeom>
          <a:noFill/>
        </p:spPr>
        <p:txBody>
          <a:bodyPr wrap="square" lIns="0" rIns="0" tIns="0" bIns="0" anchor="ctr">
            <a:spAutoFit/>
          </a:bodyPr>
          <a:lstStyle/>
          <a:p>
            <a:pPr algn="ctr"/>
            <a:r>
              <a:rPr b="0" sz="2800" i="0">
                <a:solidFill>
                  <a:srgbClr val="000000"/>
                </a:solidFill>
                <a:latin typeface="Calibri"/>
              </a:rPr>
              <a:t>DEMONSTRATION</a:t>
            </a:r>
          </a:p>
        </p:txBody>
      </p:sp>
      <p:sp>
        <p:nvSpPr>
          <p:cNvPr id="3" name="Rectangle 2"/>
          <p:cNvSpPr/>
          <p:nvPr/>
        </p:nvSpPr>
        <p:spPr>
          <a:xfrm>
            <a:off x="508000" y="889000"/>
            <a:ext cx="8128000" cy="4953000"/>
          </a:xfrm>
          <a:prstGeom prst="rect">
            <a:avLst/>
          </a:prstGeom>
          <a:solidFill>
            <a:srgbClr val="FAFAFA"/>
          </a:solidFill>
          <a:ln w="12700">
            <a:solidFill>
              <a:srgbClr val="595959"/>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i="1">
                <a:solidFill>
                  <a:srgbClr val="595959"/>
                </a:solidFill>
                <a:latin typeface="Calibri"/>
                <a:highlight>
                  <a:srgbClr val="FFFF00"/>
                </a:highlight>
              </a:rPr>
              <a:t>[Insert image: Attendance – Monthly Summary]</a:t>
            </a:r>
          </a:p>
        </p:txBody>
      </p:sp>
      <p:sp>
        <p:nvSpPr>
          <p:cNvPr id="4" name="TextBox 3"/>
          <p:cNvSpPr txBox="1"/>
          <p:nvPr/>
        </p:nvSpPr>
        <p:spPr>
          <a:xfrm>
            <a:off x="762000" y="5969000"/>
            <a:ext cx="7620000" cy="330200"/>
          </a:xfrm>
          <a:prstGeom prst="rect">
            <a:avLst/>
          </a:prstGeom>
          <a:noFill/>
        </p:spPr>
        <p:txBody>
          <a:bodyPr wrap="square" lIns="0" rIns="0" tIns="0" bIns="0" anchor="t">
            <a:spAutoFit/>
          </a:bodyPr>
          <a:lstStyle/>
          <a:p>
            <a:pPr algn="ctr"/>
            <a:r>
              <a:rPr b="0" sz="1600" i="0">
                <a:solidFill>
                  <a:srgbClr val="000000"/>
                </a:solidFill>
                <a:latin typeface="Times New Roman"/>
              </a:rPr>
              <a:t>Attendance – Monthly Summary</a:t>
            </a:r>
          </a:p>
        </p:txBody>
      </p:sp>
      <p:sp>
        <p:nvSpPr>
          <p:cNvPr id="5" name="TextBox 4"/>
          <p:cNvSpPr txBox="1"/>
          <p:nvPr/>
        </p:nvSpPr>
        <p:spPr>
          <a:xfrm>
            <a:off x="8382000" y="6578600"/>
            <a:ext cx="635000" cy="228600"/>
          </a:xfrm>
          <a:prstGeom prst="rect">
            <a:avLst/>
          </a:prstGeom>
          <a:noFill/>
        </p:spPr>
        <p:txBody>
          <a:bodyPr wrap="square" lIns="0" rIns="0" tIns="0" bIns="0" anchor="t">
            <a:spAutoFit/>
          </a:bodyPr>
          <a:lstStyle/>
          <a:p>
            <a:pPr algn="r"/>
            <a:r>
              <a:rPr b="0" sz="1200" i="0">
                <a:solidFill>
                  <a:srgbClr val="000000"/>
                </a:solidFill>
                <a:latin typeface="Calibri"/>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228600"/>
            <a:ext cx="7620000" cy="508000"/>
          </a:xfrm>
          <a:prstGeom prst="rect">
            <a:avLst/>
          </a:prstGeom>
          <a:noFill/>
        </p:spPr>
        <p:txBody>
          <a:bodyPr wrap="square" lIns="0" rIns="0" tIns="0" bIns="0" anchor="ctr">
            <a:spAutoFit/>
          </a:bodyPr>
          <a:lstStyle/>
          <a:p>
            <a:pPr algn="ctr"/>
            <a:r>
              <a:rPr b="0" sz="2800" i="0">
                <a:solidFill>
                  <a:srgbClr val="000000"/>
                </a:solidFill>
                <a:latin typeface="Calibri"/>
              </a:rPr>
              <a:t>DEMONSTRATION</a:t>
            </a:r>
          </a:p>
        </p:txBody>
      </p:sp>
      <p:sp>
        <p:nvSpPr>
          <p:cNvPr id="3" name="Rectangle 2"/>
          <p:cNvSpPr/>
          <p:nvPr/>
        </p:nvSpPr>
        <p:spPr>
          <a:xfrm>
            <a:off x="508000" y="889000"/>
            <a:ext cx="8128000" cy="4953000"/>
          </a:xfrm>
          <a:prstGeom prst="rect">
            <a:avLst/>
          </a:prstGeom>
          <a:solidFill>
            <a:srgbClr val="FAFAFA"/>
          </a:solidFill>
          <a:ln w="12700">
            <a:solidFill>
              <a:srgbClr val="595959"/>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i="1">
                <a:solidFill>
                  <a:srgbClr val="595959"/>
                </a:solidFill>
                <a:latin typeface="Calibri"/>
                <a:highlight>
                  <a:srgbClr val="FFFF00"/>
                </a:highlight>
              </a:rPr>
              <a:t>[Insert image: Payroll and Live Payroll Status]</a:t>
            </a:r>
          </a:p>
        </p:txBody>
      </p:sp>
      <p:sp>
        <p:nvSpPr>
          <p:cNvPr id="4" name="TextBox 3"/>
          <p:cNvSpPr txBox="1"/>
          <p:nvPr/>
        </p:nvSpPr>
        <p:spPr>
          <a:xfrm>
            <a:off x="762000" y="5969000"/>
            <a:ext cx="7620000" cy="330200"/>
          </a:xfrm>
          <a:prstGeom prst="rect">
            <a:avLst/>
          </a:prstGeom>
          <a:noFill/>
        </p:spPr>
        <p:txBody>
          <a:bodyPr wrap="square" lIns="0" rIns="0" tIns="0" bIns="0" anchor="t">
            <a:spAutoFit/>
          </a:bodyPr>
          <a:lstStyle/>
          <a:p>
            <a:pPr algn="ctr"/>
            <a:r>
              <a:rPr b="0" sz="1600" i="0">
                <a:solidFill>
                  <a:srgbClr val="000000"/>
                </a:solidFill>
                <a:latin typeface="Times New Roman"/>
              </a:rPr>
              <a:t>Payroll and Live Payroll Status</a:t>
            </a:r>
          </a:p>
        </p:txBody>
      </p:sp>
      <p:sp>
        <p:nvSpPr>
          <p:cNvPr id="5" name="TextBox 4"/>
          <p:cNvSpPr txBox="1"/>
          <p:nvPr/>
        </p:nvSpPr>
        <p:spPr>
          <a:xfrm>
            <a:off x="8382000" y="6578600"/>
            <a:ext cx="635000" cy="228600"/>
          </a:xfrm>
          <a:prstGeom prst="rect">
            <a:avLst/>
          </a:prstGeom>
          <a:noFill/>
        </p:spPr>
        <p:txBody>
          <a:bodyPr wrap="square" lIns="0" rIns="0" tIns="0" bIns="0" anchor="t">
            <a:spAutoFit/>
          </a:bodyPr>
          <a:lstStyle/>
          <a:p>
            <a:pPr algn="r"/>
            <a:r>
              <a:rPr b="0" sz="1200" i="0">
                <a:solidFill>
                  <a:srgbClr val="000000"/>
                </a:solidFill>
                <a:latin typeface="Calibri"/>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228600"/>
            <a:ext cx="7620000" cy="508000"/>
          </a:xfrm>
          <a:prstGeom prst="rect">
            <a:avLst/>
          </a:prstGeom>
          <a:noFill/>
        </p:spPr>
        <p:txBody>
          <a:bodyPr wrap="square" lIns="0" rIns="0" tIns="0" bIns="0" anchor="ctr">
            <a:spAutoFit/>
          </a:bodyPr>
          <a:lstStyle/>
          <a:p>
            <a:pPr algn="ctr"/>
            <a:r>
              <a:rPr b="0" sz="2800" i="0">
                <a:solidFill>
                  <a:srgbClr val="000000"/>
                </a:solidFill>
                <a:latin typeface="Calibri"/>
              </a:rPr>
              <a:t>DEMONSTRATION</a:t>
            </a:r>
          </a:p>
        </p:txBody>
      </p:sp>
      <p:sp>
        <p:nvSpPr>
          <p:cNvPr id="3" name="Rectangle 2"/>
          <p:cNvSpPr/>
          <p:nvPr/>
        </p:nvSpPr>
        <p:spPr>
          <a:xfrm>
            <a:off x="508000" y="889000"/>
            <a:ext cx="8128000" cy="4953000"/>
          </a:xfrm>
          <a:prstGeom prst="rect">
            <a:avLst/>
          </a:prstGeom>
          <a:solidFill>
            <a:srgbClr val="FAFAFA"/>
          </a:solidFill>
          <a:ln w="12700">
            <a:solidFill>
              <a:srgbClr val="595959"/>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i="1">
                <a:solidFill>
                  <a:srgbClr val="595959"/>
                </a:solidFill>
                <a:latin typeface="Calibri"/>
                <a:highlight>
                  <a:srgbClr val="FFFF00"/>
                </a:highlight>
              </a:rPr>
              <a:t>[Insert image: HR Assistant Chat]</a:t>
            </a:r>
          </a:p>
        </p:txBody>
      </p:sp>
      <p:sp>
        <p:nvSpPr>
          <p:cNvPr id="4" name="TextBox 3"/>
          <p:cNvSpPr txBox="1"/>
          <p:nvPr/>
        </p:nvSpPr>
        <p:spPr>
          <a:xfrm>
            <a:off x="762000" y="5969000"/>
            <a:ext cx="7620000" cy="330200"/>
          </a:xfrm>
          <a:prstGeom prst="rect">
            <a:avLst/>
          </a:prstGeom>
          <a:noFill/>
        </p:spPr>
        <p:txBody>
          <a:bodyPr wrap="square" lIns="0" rIns="0" tIns="0" bIns="0" anchor="t">
            <a:spAutoFit/>
          </a:bodyPr>
          <a:lstStyle/>
          <a:p>
            <a:pPr algn="ctr"/>
            <a:r>
              <a:rPr b="0" sz="1600" i="0">
                <a:solidFill>
                  <a:srgbClr val="000000"/>
                </a:solidFill>
                <a:latin typeface="Times New Roman"/>
              </a:rPr>
              <a:t>HR Assistant Chat</a:t>
            </a:r>
          </a:p>
        </p:txBody>
      </p:sp>
      <p:sp>
        <p:nvSpPr>
          <p:cNvPr id="5" name="TextBox 4"/>
          <p:cNvSpPr txBox="1"/>
          <p:nvPr/>
        </p:nvSpPr>
        <p:spPr>
          <a:xfrm>
            <a:off x="8382000" y="6578600"/>
            <a:ext cx="635000" cy="228600"/>
          </a:xfrm>
          <a:prstGeom prst="rect">
            <a:avLst/>
          </a:prstGeom>
          <a:noFill/>
        </p:spPr>
        <p:txBody>
          <a:bodyPr wrap="square" lIns="0" rIns="0" tIns="0" bIns="0" anchor="t">
            <a:spAutoFit/>
          </a:bodyPr>
          <a:lstStyle/>
          <a:p>
            <a:pPr algn="r"/>
            <a:r>
              <a:rPr b="0" sz="1200" i="0">
                <a:solidFill>
                  <a:srgbClr val="000000"/>
                </a:solidFill>
                <a:latin typeface="Calibri"/>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ubat.jpeg"/>
          <p:cNvPicPr>
            <a:picLocks noChangeAspect="1"/>
          </p:cNvPicPr>
          <p:nvPr/>
        </p:nvPicPr>
        <p:blipFill>
          <a:blip r:embed="rId2"/>
          <a:stretch>
            <a:fillRect/>
          </a:stretch>
        </p:blipFill>
        <p:spPr>
          <a:xfrm>
            <a:off x="50800" y="88900"/>
            <a:ext cx="609600" cy="533400"/>
          </a:xfrm>
          <a:prstGeom prst="rect">
            <a:avLst/>
          </a:prstGeom>
        </p:spPr>
      </p:pic>
      <p:pic>
        <p:nvPicPr>
          <p:cNvPr id="3" name="Picture 2" descr="cse.jpeg"/>
          <p:cNvPicPr>
            <a:picLocks noChangeAspect="1"/>
          </p:cNvPicPr>
          <p:nvPr/>
        </p:nvPicPr>
        <p:blipFill>
          <a:blip r:embed="rId3"/>
          <a:stretch>
            <a:fillRect/>
          </a:stretch>
        </p:blipFill>
        <p:spPr>
          <a:xfrm>
            <a:off x="8534400" y="127000"/>
            <a:ext cx="457200" cy="469900"/>
          </a:xfrm>
          <a:prstGeom prst="rect">
            <a:avLst/>
          </a:prstGeom>
        </p:spPr>
      </p:pic>
      <p:sp>
        <p:nvSpPr>
          <p:cNvPr id="4" name="TextBox 3"/>
          <p:cNvSpPr txBox="1"/>
          <p:nvPr/>
        </p:nvSpPr>
        <p:spPr>
          <a:xfrm>
            <a:off x="762000" y="152400"/>
            <a:ext cx="7620000" cy="558800"/>
          </a:xfrm>
          <a:prstGeom prst="rect">
            <a:avLst/>
          </a:prstGeom>
          <a:noFill/>
        </p:spPr>
        <p:txBody>
          <a:bodyPr wrap="square" lIns="0" rIns="0" tIns="0" bIns="0" anchor="ctr">
            <a:spAutoFit/>
          </a:bodyPr>
          <a:lstStyle/>
          <a:p>
            <a:pPr algn="ctr"/>
            <a:r>
              <a:rPr b="1" sz="3000" i="0">
                <a:solidFill>
                  <a:srgbClr val="000000"/>
                </a:solidFill>
                <a:latin typeface="Times New Roman"/>
              </a:rPr>
              <a:t>Limitations &amp; Future Work</a:t>
            </a:r>
          </a:p>
        </p:txBody>
      </p:sp>
      <p:sp>
        <p:nvSpPr>
          <p:cNvPr id="5" name="TextBox 4"/>
          <p:cNvSpPr txBox="1"/>
          <p:nvPr/>
        </p:nvSpPr>
        <p:spPr>
          <a:xfrm>
            <a:off x="546100" y="812800"/>
            <a:ext cx="8128000" cy="330200"/>
          </a:xfrm>
          <a:prstGeom prst="rect">
            <a:avLst/>
          </a:prstGeom>
          <a:noFill/>
        </p:spPr>
        <p:txBody>
          <a:bodyPr wrap="square">
            <a:spAutoFit/>
          </a:bodyPr>
          <a:lstStyle/>
          <a:p>
            <a:pPr>
              <a:spcAft>
                <a:spcPts val="800"/>
              </a:spcAft>
            </a:pPr>
            <a:r>
              <a:rPr b="1" sz="1700" i="0">
                <a:solidFill>
                  <a:srgbClr val="000000"/>
                </a:solidFill>
                <a:latin typeface="Times New Roman"/>
              </a:rPr>
              <a:t>Limitations</a:t>
            </a:r>
          </a:p>
        </p:txBody>
      </p:sp>
      <p:sp>
        <p:nvSpPr>
          <p:cNvPr id="6" name="TextBox 5"/>
          <p:cNvSpPr txBox="1"/>
          <p:nvPr/>
        </p:nvSpPr>
        <p:spPr>
          <a:xfrm>
            <a:off x="546100" y="1168400"/>
            <a:ext cx="8128000" cy="2286000"/>
          </a:xfrm>
          <a:prstGeom prst="rect">
            <a:avLst/>
          </a:prstGeom>
          <a:noFill/>
        </p:spPr>
        <p:txBody>
          <a:bodyPr wrap="square" lIns="0" rIns="0">
            <a:spAutoFit/>
          </a:bodyPr>
          <a:lstStyle/>
          <a:p>
            <a:pPr marL="342900" indent="-342900">
              <a:spcAft>
                <a:spcPts val="400"/>
              </a:spcAft>
              <a:buFont typeface="Arial"/>
              <a:buChar char="•"/>
            </a:pPr>
            <a:r>
              <a:rPr b="0" sz="1500" i="0">
                <a:solidFill>
                  <a:srgbClr val="000000"/>
                </a:solidFill>
                <a:latin typeface="Calibri"/>
              </a:rPr>
              <a:t>No dedicated mobile application; the system is accessible only via responsive web browsers.</a:t>
            </a:r>
          </a:p>
          <a:p>
            <a:pPr marL="342900" indent="-342900">
              <a:spcAft>
                <a:spcPts val="400"/>
              </a:spcAft>
              <a:buFont typeface="Arial"/>
              <a:buChar char="•"/>
            </a:pPr>
            <a:r>
              <a:rPr b="0" sz="1500" i="0">
                <a:solidFill>
                  <a:srgbClr val="000000"/>
                </a:solidFill>
                <a:latin typeface="Calibri"/>
              </a:rPr>
              <a:t>Shift times, weekly holidays and the deduction penalty are global constants, not per-company settings.</a:t>
            </a:r>
          </a:p>
          <a:p>
            <a:pPr marL="342900" indent="-342900">
              <a:spcAft>
                <a:spcPts val="400"/>
              </a:spcAft>
              <a:buFont typeface="Arial"/>
              <a:buChar char="•"/>
            </a:pPr>
            <a:r>
              <a:rPr b="0" sz="1500" i="0">
                <a:solidFill>
                  <a:srgbClr val="000000"/>
                </a:solidFill>
                <a:latin typeface="Calibri"/>
              </a:rPr>
              <a:t>Payroll covers basic salary and deductions only; no allowances, tax or bonus.</a:t>
            </a:r>
          </a:p>
          <a:p>
            <a:pPr marL="342900" indent="-342900">
              <a:spcAft>
                <a:spcPts val="400"/>
              </a:spcAft>
              <a:buFont typeface="Arial"/>
              <a:buChar char="•"/>
            </a:pPr>
            <a:r>
              <a:rPr b="0" sz="1500" i="0">
                <a:solidFill>
                  <a:srgbClr val="000000"/>
                </a:solidFill>
                <a:latin typeface="Calibri"/>
              </a:rPr>
              <a:t>The AI assistant covers attendance and leave only, with no conversation memory; no real-time notifications.</a:t>
            </a:r>
          </a:p>
        </p:txBody>
      </p:sp>
      <p:sp>
        <p:nvSpPr>
          <p:cNvPr id="7" name="TextBox 6"/>
          <p:cNvSpPr txBox="1"/>
          <p:nvPr/>
        </p:nvSpPr>
        <p:spPr>
          <a:xfrm>
            <a:off x="546100" y="3632200"/>
            <a:ext cx="8128000" cy="330200"/>
          </a:xfrm>
          <a:prstGeom prst="rect">
            <a:avLst/>
          </a:prstGeom>
          <a:noFill/>
        </p:spPr>
        <p:txBody>
          <a:bodyPr wrap="square">
            <a:spAutoFit/>
          </a:bodyPr>
          <a:lstStyle/>
          <a:p>
            <a:pPr>
              <a:spcAft>
                <a:spcPts val="800"/>
              </a:spcAft>
            </a:pPr>
            <a:r>
              <a:rPr b="1" sz="1700" i="0">
                <a:solidFill>
                  <a:srgbClr val="000000"/>
                </a:solidFill>
                <a:latin typeface="Times New Roman"/>
              </a:rPr>
              <a:t>Future Work</a:t>
            </a:r>
          </a:p>
        </p:txBody>
      </p:sp>
      <p:sp>
        <p:nvSpPr>
          <p:cNvPr id="8" name="TextBox 7"/>
          <p:cNvSpPr txBox="1"/>
          <p:nvPr/>
        </p:nvSpPr>
        <p:spPr>
          <a:xfrm>
            <a:off x="546100" y="3987800"/>
            <a:ext cx="8128000" cy="2286000"/>
          </a:xfrm>
          <a:prstGeom prst="rect">
            <a:avLst/>
          </a:prstGeom>
          <a:noFill/>
        </p:spPr>
        <p:txBody>
          <a:bodyPr wrap="square" lIns="0" rIns="0">
            <a:spAutoFit/>
          </a:bodyPr>
          <a:lstStyle/>
          <a:p>
            <a:pPr marL="342900" indent="-342900">
              <a:spcAft>
                <a:spcPts val="400"/>
              </a:spcAft>
              <a:buFont typeface="Arial"/>
              <a:buChar char="•"/>
            </a:pPr>
            <a:r>
              <a:rPr b="0" sz="1500" i="0">
                <a:solidFill>
                  <a:srgbClr val="000000"/>
                </a:solidFill>
                <a:latin typeface="Calibri"/>
              </a:rPr>
              <a:t>Develop a dedicated mobile application with location/biometric check-in and push notifications.</a:t>
            </a:r>
          </a:p>
          <a:p>
            <a:pPr marL="342900" indent="-342900">
              <a:spcAft>
                <a:spcPts val="400"/>
              </a:spcAft>
              <a:buFont typeface="Arial"/>
              <a:buChar char="•"/>
            </a:pPr>
            <a:r>
              <a:rPr b="0" sz="1500" i="0">
                <a:solidFill>
                  <a:srgbClr val="000000"/>
                </a:solidFill>
                <a:latin typeface="Calibri"/>
              </a:rPr>
              <a:t>Per-company configuration of shifts, holidays, leave balances and deduction policies.</a:t>
            </a:r>
          </a:p>
          <a:p>
            <a:pPr marL="342900" indent="-342900">
              <a:spcAft>
                <a:spcPts val="400"/>
              </a:spcAft>
              <a:buFont typeface="Arial"/>
              <a:buChar char="•"/>
            </a:pPr>
            <a:r>
              <a:rPr b="0" sz="1500" i="0">
                <a:solidFill>
                  <a:srgbClr val="000000"/>
                </a:solidFill>
                <a:latin typeface="Calibri"/>
              </a:rPr>
              <a:t>Payroll enhancements: allowances, tax, bonus and PDF/Excel payslips.</a:t>
            </a:r>
          </a:p>
          <a:p>
            <a:pPr marL="342900" indent="-342900">
              <a:spcAft>
                <a:spcPts val="400"/>
              </a:spcAft>
              <a:buFont typeface="Arial"/>
              <a:buChar char="•"/>
            </a:pPr>
            <a:r>
              <a:rPr b="0" sz="1500" i="0">
                <a:solidFill>
                  <a:srgbClr val="000000"/>
                </a:solidFill>
                <a:latin typeface="Calibri"/>
              </a:rPr>
              <a:t>Extend the AI assistant with payroll tools, conversation memory and proactive monthly reports.</a:t>
            </a:r>
          </a:p>
        </p:txBody>
      </p:sp>
      <p:sp>
        <p:nvSpPr>
          <p:cNvPr id="9" name="TextBox 8"/>
          <p:cNvSpPr txBox="1"/>
          <p:nvPr/>
        </p:nvSpPr>
        <p:spPr>
          <a:xfrm>
            <a:off x="8382000" y="6578600"/>
            <a:ext cx="635000" cy="228600"/>
          </a:xfrm>
          <a:prstGeom prst="rect">
            <a:avLst/>
          </a:prstGeom>
          <a:noFill/>
        </p:spPr>
        <p:txBody>
          <a:bodyPr wrap="square" lIns="0" rIns="0" tIns="0" bIns="0" anchor="t">
            <a:spAutoFit/>
          </a:bodyPr>
          <a:lstStyle/>
          <a:p>
            <a:pPr algn="r"/>
            <a:r>
              <a:rPr b="0" sz="1200" i="0">
                <a:solidFill>
                  <a:srgbClr val="000000"/>
                </a:solidFill>
                <a:latin typeface="Calibri"/>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ubat.jpeg"/>
          <p:cNvPicPr>
            <a:picLocks noChangeAspect="1"/>
          </p:cNvPicPr>
          <p:nvPr/>
        </p:nvPicPr>
        <p:blipFill>
          <a:blip r:embed="rId2"/>
          <a:stretch>
            <a:fillRect/>
          </a:stretch>
        </p:blipFill>
        <p:spPr>
          <a:xfrm>
            <a:off x="50800" y="88900"/>
            <a:ext cx="609600" cy="533400"/>
          </a:xfrm>
          <a:prstGeom prst="rect">
            <a:avLst/>
          </a:prstGeom>
        </p:spPr>
      </p:pic>
      <p:pic>
        <p:nvPicPr>
          <p:cNvPr id="3" name="Picture 2" descr="cse.jpeg"/>
          <p:cNvPicPr>
            <a:picLocks noChangeAspect="1"/>
          </p:cNvPicPr>
          <p:nvPr/>
        </p:nvPicPr>
        <p:blipFill>
          <a:blip r:embed="rId3"/>
          <a:stretch>
            <a:fillRect/>
          </a:stretch>
        </p:blipFill>
        <p:spPr>
          <a:xfrm>
            <a:off x="8534400" y="127000"/>
            <a:ext cx="457200" cy="469900"/>
          </a:xfrm>
          <a:prstGeom prst="rect">
            <a:avLst/>
          </a:prstGeom>
        </p:spPr>
      </p:pic>
      <p:sp>
        <p:nvSpPr>
          <p:cNvPr id="4" name="TextBox 3"/>
          <p:cNvSpPr txBox="1"/>
          <p:nvPr/>
        </p:nvSpPr>
        <p:spPr>
          <a:xfrm>
            <a:off x="762000" y="152400"/>
            <a:ext cx="7620000" cy="558800"/>
          </a:xfrm>
          <a:prstGeom prst="rect">
            <a:avLst/>
          </a:prstGeom>
          <a:noFill/>
        </p:spPr>
        <p:txBody>
          <a:bodyPr wrap="square" lIns="0" rIns="0" tIns="0" bIns="0" anchor="ctr">
            <a:spAutoFit/>
          </a:bodyPr>
          <a:lstStyle/>
          <a:p>
            <a:pPr algn="ctr"/>
            <a:r>
              <a:rPr b="1" sz="3000" i="0">
                <a:solidFill>
                  <a:srgbClr val="000000"/>
                </a:solidFill>
                <a:latin typeface="Times New Roman"/>
              </a:rPr>
              <a:t>Conclusion</a:t>
            </a:r>
          </a:p>
        </p:txBody>
      </p:sp>
      <p:sp>
        <p:nvSpPr>
          <p:cNvPr id="5" name="TextBox 4"/>
          <p:cNvSpPr txBox="1"/>
          <p:nvPr/>
        </p:nvSpPr>
        <p:spPr>
          <a:xfrm>
            <a:off x="546100" y="812800"/>
            <a:ext cx="8128000" cy="889000"/>
          </a:xfrm>
          <a:prstGeom prst="rect">
            <a:avLst/>
          </a:prstGeom>
          <a:noFill/>
        </p:spPr>
        <p:txBody>
          <a:bodyPr wrap="square">
            <a:spAutoFit/>
          </a:bodyPr>
          <a:lstStyle/>
          <a:p>
            <a:pPr>
              <a:spcAft>
                <a:spcPts val="800"/>
              </a:spcAft>
            </a:pPr>
            <a:r>
              <a:rPr b="0" sz="1700" i="0">
                <a:solidFill>
                  <a:srgbClr val="000000"/>
                </a:solidFill>
                <a:latin typeface="Times New Roman"/>
              </a:rPr>
              <a:t>This project successfully developed a web-based, multi-company HRM System that replaces manual, error-prone attendance and payroll administration.</a:t>
            </a:r>
          </a:p>
        </p:txBody>
      </p:sp>
      <p:sp>
        <p:nvSpPr>
          <p:cNvPr id="6" name="TextBox 5"/>
          <p:cNvSpPr txBox="1"/>
          <p:nvPr/>
        </p:nvSpPr>
        <p:spPr>
          <a:xfrm>
            <a:off x="546100" y="1778000"/>
            <a:ext cx="8128000" cy="3556000"/>
          </a:xfrm>
          <a:prstGeom prst="rect">
            <a:avLst/>
          </a:prstGeom>
          <a:noFill/>
        </p:spPr>
        <p:txBody>
          <a:bodyPr wrap="square" lIns="0" rIns="0">
            <a:spAutoFit/>
          </a:bodyPr>
          <a:lstStyle/>
          <a:p>
            <a:pPr marL="342900" indent="-342900">
              <a:spcAft>
                <a:spcPts val="600"/>
              </a:spcAft>
              <a:buFont typeface="Arial"/>
              <a:buChar char="•"/>
            </a:pPr>
            <a:r>
              <a:rPr b="1" sz="1500" i="0">
                <a:solidFill>
                  <a:srgbClr val="000000"/>
                </a:solidFill>
                <a:latin typeface="Calibri"/>
              </a:rPr>
              <a:t>Automated Attendance:</a:t>
            </a:r>
            <a:r>
              <a:rPr b="0" sz="1500" i="0">
                <a:solidFill>
                  <a:srgbClr val="000000"/>
                </a:solidFill>
                <a:latin typeface="Calibri"/>
              </a:rPr>
              <a:t> check-in/check-out with computed late and early-leave minutes, and a daily job that marks absentees.</a:t>
            </a:r>
          </a:p>
          <a:p>
            <a:pPr marL="342900" indent="-342900">
              <a:spcAft>
                <a:spcPts val="600"/>
              </a:spcAft>
              <a:buFont typeface="Arial"/>
              <a:buChar char="•"/>
            </a:pPr>
            <a:r>
              <a:rPr b="1" sz="1500" i="0">
                <a:solidFill>
                  <a:srgbClr val="000000"/>
                </a:solidFill>
                <a:latin typeface="Calibri"/>
              </a:rPr>
              <a:t>Automated Payroll:</a:t>
            </a:r>
            <a:r>
              <a:rPr b="0" sz="1500" i="0">
                <a:solidFill>
                  <a:srgbClr val="000000"/>
                </a:solidFill>
                <a:latin typeface="Calibri"/>
              </a:rPr>
              <a:t> the previous month’s payroll is generated once, consistently, with transparent deduction rules and a live projection.</a:t>
            </a:r>
          </a:p>
          <a:p>
            <a:pPr marL="342900" indent="-342900">
              <a:spcAft>
                <a:spcPts val="600"/>
              </a:spcAft>
              <a:buFont typeface="Arial"/>
              <a:buChar char="•"/>
            </a:pPr>
            <a:r>
              <a:rPr b="1" sz="1500" i="0">
                <a:solidFill>
                  <a:srgbClr val="000000"/>
                </a:solidFill>
                <a:latin typeface="Calibri"/>
              </a:rPr>
              <a:t>Secure Multi-Company Access:</a:t>
            </a:r>
            <a:r>
              <a:rPr b="0" sz="1500" i="0">
                <a:solidFill>
                  <a:srgbClr val="000000"/>
                </a:solidFill>
                <a:latin typeface="Calibri"/>
              </a:rPr>
              <a:t> JWT authentication, refresh-token rotation and role-based authorization scoped to each company.</a:t>
            </a:r>
          </a:p>
          <a:p>
            <a:pPr marL="342900" indent="-342900">
              <a:spcAft>
                <a:spcPts val="600"/>
              </a:spcAft>
              <a:buFont typeface="Arial"/>
              <a:buChar char="•"/>
            </a:pPr>
            <a:r>
              <a:rPr b="1" sz="1500" i="0">
                <a:solidFill>
                  <a:srgbClr val="000000"/>
                </a:solidFill>
                <a:latin typeface="Calibri"/>
              </a:rPr>
              <a:t>AI-Assisted HR:</a:t>
            </a:r>
            <a:r>
              <a:rPr b="0" sz="1500" i="0">
                <a:solidFill>
                  <a:srgbClr val="000000"/>
                </a:solidFill>
                <a:latin typeface="Calibri"/>
              </a:rPr>
              <a:t> natural-language questions answered from live company data with the data tools listed.</a:t>
            </a:r>
          </a:p>
        </p:txBody>
      </p:sp>
      <p:sp>
        <p:nvSpPr>
          <p:cNvPr id="7" name="TextBox 6"/>
          <p:cNvSpPr txBox="1"/>
          <p:nvPr/>
        </p:nvSpPr>
        <p:spPr>
          <a:xfrm>
            <a:off x="546100" y="5461000"/>
            <a:ext cx="8128000" cy="889000"/>
          </a:xfrm>
          <a:prstGeom prst="rect">
            <a:avLst/>
          </a:prstGeom>
          <a:noFill/>
        </p:spPr>
        <p:txBody>
          <a:bodyPr wrap="square">
            <a:spAutoFit/>
          </a:bodyPr>
          <a:lstStyle/>
          <a:p>
            <a:pPr>
              <a:spcAft>
                <a:spcPts val="800"/>
              </a:spcAft>
            </a:pPr>
            <a:r>
              <a:rPr b="0" sz="1600" i="0">
                <a:solidFill>
                  <a:srgbClr val="000000"/>
                </a:solidFill>
                <a:latin typeface="Times New Roman"/>
              </a:rPr>
              <a:t>The system shows that modern web technology can build a secure, transparent and efficient platform for human-resource operations.</a:t>
            </a:r>
          </a:p>
        </p:txBody>
      </p:sp>
      <p:sp>
        <p:nvSpPr>
          <p:cNvPr id="8" name="TextBox 7"/>
          <p:cNvSpPr txBox="1"/>
          <p:nvPr/>
        </p:nvSpPr>
        <p:spPr>
          <a:xfrm>
            <a:off x="8382000" y="6578600"/>
            <a:ext cx="635000" cy="228600"/>
          </a:xfrm>
          <a:prstGeom prst="rect">
            <a:avLst/>
          </a:prstGeom>
          <a:noFill/>
        </p:spPr>
        <p:txBody>
          <a:bodyPr wrap="square" lIns="0" rIns="0" tIns="0" bIns="0" anchor="t">
            <a:spAutoFit/>
          </a:bodyPr>
          <a:lstStyle/>
          <a:p>
            <a:pPr algn="r"/>
            <a:r>
              <a:rPr b="0" sz="1200" i="0">
                <a:solidFill>
                  <a:srgbClr val="000000"/>
                </a:solidFill>
                <a:latin typeface="Calibri"/>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ubat.jpeg"/>
          <p:cNvPicPr>
            <a:picLocks noChangeAspect="1"/>
          </p:cNvPicPr>
          <p:nvPr/>
        </p:nvPicPr>
        <p:blipFill>
          <a:blip r:embed="rId2"/>
          <a:stretch>
            <a:fillRect/>
          </a:stretch>
        </p:blipFill>
        <p:spPr>
          <a:xfrm>
            <a:off x="50800" y="88900"/>
            <a:ext cx="609600" cy="533400"/>
          </a:xfrm>
          <a:prstGeom prst="rect">
            <a:avLst/>
          </a:prstGeom>
        </p:spPr>
      </p:pic>
      <p:pic>
        <p:nvPicPr>
          <p:cNvPr id="3" name="Picture 2" descr="cse.jpeg"/>
          <p:cNvPicPr>
            <a:picLocks noChangeAspect="1"/>
          </p:cNvPicPr>
          <p:nvPr/>
        </p:nvPicPr>
        <p:blipFill>
          <a:blip r:embed="rId3"/>
          <a:stretch>
            <a:fillRect/>
          </a:stretch>
        </p:blipFill>
        <p:spPr>
          <a:xfrm>
            <a:off x="8534400" y="127000"/>
            <a:ext cx="457200" cy="469900"/>
          </a:xfrm>
          <a:prstGeom prst="rect">
            <a:avLst/>
          </a:prstGeom>
        </p:spPr>
      </p:pic>
      <p:sp>
        <p:nvSpPr>
          <p:cNvPr id="4" name="TextBox 3"/>
          <p:cNvSpPr txBox="1"/>
          <p:nvPr/>
        </p:nvSpPr>
        <p:spPr>
          <a:xfrm>
            <a:off x="762000" y="152400"/>
            <a:ext cx="7620000" cy="558800"/>
          </a:xfrm>
          <a:prstGeom prst="rect">
            <a:avLst/>
          </a:prstGeom>
          <a:noFill/>
        </p:spPr>
        <p:txBody>
          <a:bodyPr wrap="square" lIns="0" rIns="0" tIns="0" bIns="0" anchor="ctr">
            <a:spAutoFit/>
          </a:bodyPr>
          <a:lstStyle/>
          <a:p>
            <a:pPr algn="ctr"/>
            <a:r>
              <a:rPr b="1" sz="3000" i="0">
                <a:solidFill>
                  <a:srgbClr val="000000"/>
                </a:solidFill>
                <a:latin typeface="Times New Roman"/>
              </a:rPr>
              <a:t>References</a:t>
            </a:r>
          </a:p>
        </p:txBody>
      </p:sp>
      <p:sp>
        <p:nvSpPr>
          <p:cNvPr id="5" name="TextBox 4"/>
          <p:cNvSpPr txBox="1"/>
          <p:nvPr/>
        </p:nvSpPr>
        <p:spPr>
          <a:xfrm>
            <a:off x="508000" y="838200"/>
            <a:ext cx="8128000" cy="5588000"/>
          </a:xfrm>
          <a:prstGeom prst="rect">
            <a:avLst/>
          </a:prstGeom>
          <a:noFill/>
        </p:spPr>
        <p:txBody>
          <a:bodyPr wrap="square">
            <a:spAutoFit/>
          </a:bodyPr>
          <a:lstStyle/>
          <a:p>
            <a:pPr marL="355600" indent="-355600">
              <a:spcAft>
                <a:spcPts val="700"/>
              </a:spcAft>
            </a:pPr>
            <a:r>
              <a:rPr b="0" sz="1400" i="0">
                <a:solidFill>
                  <a:srgbClr val="000000"/>
                </a:solidFill>
                <a:latin typeface="Arial"/>
              </a:rPr>
              <a:t>[1] L. Bass, P. Clements, and R. Kazman, Software Architecture in Practice, 3rd ed. Boston, MA, USA: Addison-Wesley, 2013.</a:t>
            </a:r>
          </a:p>
          <a:p>
            <a:pPr marL="355600" indent="-355600">
              <a:spcAft>
                <a:spcPts val="700"/>
              </a:spcAft>
            </a:pPr>
            <a:r>
              <a:rPr b="0" sz="1400" i="0">
                <a:solidFill>
                  <a:srgbClr val="000000"/>
                </a:solidFill>
                <a:latin typeface="Arial"/>
              </a:rPr>
              <a:t>[2] R. C. Martin, Clean Architecture: A Craftsman’s Guide to Software Structure and Design. Boston, MA, USA: Prentice Hall, 2017.</a:t>
            </a:r>
          </a:p>
          <a:p>
            <a:pPr marL="355600" indent="-355600">
              <a:spcAft>
                <a:spcPts val="700"/>
              </a:spcAft>
            </a:pPr>
            <a:r>
              <a:rPr b="0" sz="1400" i="0">
                <a:solidFill>
                  <a:srgbClr val="000000"/>
                </a:solidFill>
                <a:latin typeface="Arial"/>
              </a:rPr>
              <a:t>[3] C. J. Date, An Introduction to Database Systems, 8th ed. New Delhi, India: Pearson Education, 2019.</a:t>
            </a:r>
          </a:p>
          <a:p>
            <a:pPr marL="355600" indent="-355600">
              <a:spcAft>
                <a:spcPts val="700"/>
              </a:spcAft>
            </a:pPr>
            <a:r>
              <a:rPr b="0" sz="1400" i="0">
                <a:solidFill>
                  <a:srgbClr val="000000"/>
                </a:solidFill>
                <a:latin typeface="Arial"/>
              </a:rPr>
              <a:t>[4] Microsoft. (2025). ASP.NET Core Documentation. Retrieved from https://learn.microsoft.com/aspnet/core</a:t>
            </a:r>
          </a:p>
          <a:p>
            <a:pPr marL="355600" indent="-355600">
              <a:spcAft>
                <a:spcPts val="700"/>
              </a:spcAft>
            </a:pPr>
            <a:r>
              <a:rPr b="0" sz="1400" i="0">
                <a:solidFill>
                  <a:srgbClr val="000000"/>
                </a:solidFill>
                <a:latin typeface="Arial"/>
              </a:rPr>
              <a:t>[5] Microsoft. (2025). Entity Framework Core Documentation. Retrieved from https://learn.microsoft.com/ef/core</a:t>
            </a:r>
          </a:p>
          <a:p>
            <a:pPr marL="355600" indent="-355600">
              <a:spcAft>
                <a:spcPts val="700"/>
              </a:spcAft>
            </a:pPr>
            <a:r>
              <a:rPr b="0" sz="1400" i="0">
                <a:solidFill>
                  <a:srgbClr val="000000"/>
                </a:solidFill>
                <a:latin typeface="Arial"/>
              </a:rPr>
              <a:t>[6] Microsoft. (2025). Microsoft.Extensions.AI Libraries. Retrieved from https://learn.microsoft.com/dotnet/ai/microsoft-extensions-ai</a:t>
            </a:r>
          </a:p>
          <a:p>
            <a:pPr marL="355600" indent="-355600">
              <a:spcAft>
                <a:spcPts val="700"/>
              </a:spcAft>
            </a:pPr>
            <a:r>
              <a:rPr b="0" sz="1400" i="0">
                <a:solidFill>
                  <a:srgbClr val="000000"/>
                </a:solidFill>
                <a:latin typeface="Arial"/>
              </a:rPr>
              <a:t>[7] M. Jones, J. Bradley, and N. Sakimura, “JSON Web Token (JWT),” RFC 7519, IETF, 2015.</a:t>
            </a:r>
          </a:p>
          <a:p>
            <a:pPr marL="355600" indent="-355600">
              <a:spcAft>
                <a:spcPts val="700"/>
              </a:spcAft>
            </a:pPr>
            <a:r>
              <a:rPr b="0" sz="1400" i="0">
                <a:solidFill>
                  <a:srgbClr val="000000"/>
                </a:solidFill>
                <a:latin typeface="Arial"/>
              </a:rPr>
              <a:t>[8] Angular Documentation. (2025). Angular – The web development framework. Retrieved from https://angular.dev</a:t>
            </a:r>
          </a:p>
          <a:p>
            <a:pPr marL="355600" indent="-355600">
              <a:spcAft>
                <a:spcPts val="700"/>
              </a:spcAft>
            </a:pPr>
            <a:r>
              <a:rPr b="0" sz="1400" i="0">
                <a:solidFill>
                  <a:srgbClr val="000000"/>
                </a:solidFill>
                <a:latin typeface="Arial"/>
              </a:rPr>
              <a:t>[9] R. S. Pressman and B. R. Maxim, Software Engineering: A Practitioner’s Approach, 9th ed. New York, NY, USA: McGraw-Hill, 2020.</a:t>
            </a:r>
          </a:p>
        </p:txBody>
      </p:sp>
      <p:sp>
        <p:nvSpPr>
          <p:cNvPr id="6" name="TextBox 5"/>
          <p:cNvSpPr txBox="1"/>
          <p:nvPr/>
        </p:nvSpPr>
        <p:spPr>
          <a:xfrm>
            <a:off x="8382000" y="6578600"/>
            <a:ext cx="635000" cy="228600"/>
          </a:xfrm>
          <a:prstGeom prst="rect">
            <a:avLst/>
          </a:prstGeom>
          <a:noFill/>
        </p:spPr>
        <p:txBody>
          <a:bodyPr wrap="square" lIns="0" rIns="0" tIns="0" bIns="0" anchor="t">
            <a:spAutoFit/>
          </a:bodyPr>
          <a:lstStyle/>
          <a:p>
            <a:pPr algn="r"/>
            <a:r>
              <a:rPr b="0" sz="1200" i="0">
                <a:solidFill>
                  <a:srgbClr val="000000"/>
                </a:solidFill>
                <a:latin typeface="Calibri"/>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2921000"/>
            <a:ext cx="7620000" cy="762000"/>
          </a:xfrm>
          <a:prstGeom prst="rect">
            <a:avLst/>
          </a:prstGeom>
          <a:noFill/>
        </p:spPr>
        <p:txBody>
          <a:bodyPr wrap="square" lIns="0" rIns="0" tIns="0" bIns="0" anchor="t">
            <a:spAutoFit/>
          </a:bodyPr>
          <a:lstStyle/>
          <a:p>
            <a:pPr algn="ctr"/>
            <a:r>
              <a:rPr b="0" sz="4000" i="0">
                <a:solidFill>
                  <a:srgbClr val="000000"/>
                </a:solidFill>
                <a:latin typeface="Arial"/>
              </a:rPr>
              <a:t>Any Questions ?</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2000" y="3048000"/>
            <a:ext cx="7620000" cy="762000"/>
          </a:xfrm>
          <a:prstGeom prst="rect">
            <a:avLst/>
          </a:prstGeom>
          <a:noFill/>
        </p:spPr>
        <p:txBody>
          <a:bodyPr wrap="square" lIns="0" rIns="0" tIns="0" bIns="0" anchor="t">
            <a:spAutoFit/>
          </a:bodyPr>
          <a:lstStyle/>
          <a:p>
            <a:pPr algn="ctr"/>
            <a:r>
              <a:rPr b="0" sz="3600" i="0">
                <a:solidFill>
                  <a:srgbClr val="000000"/>
                </a:solidFill>
                <a:latin typeface="Arial"/>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